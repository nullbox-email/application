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Stephan, and this is Nullbox. The simplest way to describe it: Nullbox gives you a unique email address for every service you sign up to, and quietly forwards the good mail to the inbox you already use. The part I care most about is on the right of this slide — we decide what reaches you based on metadata alone. We never open your mail. So as we go through this, hold onto two words: aliases, and trust. Everything else follows from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the problem, because it's one we all live with. Your email address is basically a permanent, public identifier. You hand the same one to every shop, every newsletter, every app. There are 376 billion emails sent a day now, and just under half of them are spam. Phishing alone is around three and a half billion a day, and thanks to AI it's grammatically perfect. Here's the kicker: once your address leaks, it leaks forever. You can filter, but you can't take it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doesn't blocking fix this? Because blocking is broken by design. When you block a sender, you only stop that one domain — the next spammer walks right through. And you can't rotate your real inbox; it's the one everything is tied to. So the exposure is permanent. The honest conclusion is that the answer isn't a smarter filter. It's never handing out your real address in the first place. That's the door Nullbox walks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Nullbox actually is. Every service gets its own fresh alias on your private domain. Nullbox sits in the middle and forwards, quarantines, or drops — per alias, on your terms. And on the right: your real inbox, completely unchanged. Gmail, Outlook, Proton, whatever you use. Nothing to migrate. The line I'd underline is at the bottom: Nullbox doesn't replace your inbox, it sits in front of it. If one alias starts getting spam, you disable or rotate it and nothing else is 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part that makes us different — trust. Most relays forward everything and ask you to trust them with it. We built Nullbox so there's far less to trust in the first place. Three things. One: we never open your mail — routing uses a limited set of headers, including the sender, and the body is never read. Two: decide, then trust — unknown senders are quarantined, not delivered. Three: minimal by default — no long-term content storage, and we delete routing logs every ninety days. Less data held means less that can ever go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Quickly, how it works — in plain terms. When a message comes in to one of your aliases, the first thing Nullbox does is look at who actually sent it. Then one of three things happens: if it's someone you trust, it's forwarded straight to your normal inbox; if it's someone new, it's held for you to review; if it's someone you've refused, it's blocked. The thing I want you to take away is that nothing reaches your inbox until that check has happened. An email is never just dumped into your mailbox unscreened — every single one is a deliberate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favourite slide, because it's where trust becomes something you can feel — so let me tell it as a story. A stranger emails you for the first time. Instead of landing in your inbox, the message is held to one side, locked away, and — this matters — we genuinely can't read it. When you're ready, only you can open it, privately, right in your browser. And then you make one decision: trust this sender, and their mail flows through from now on, or block them, and you never hear from them again. It's a single choice per sender, and we keep no lasting record of it — the whole trust history is wiped every ninety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the model pays off in ways a spam filter never can — it designs out whole classes of attack. First, phishing. Look at the example: paypal.com versus a second address where one letter has been swapped for a look-alike from another alphabet — to your eye they're identical. That's how a lot of phishing works. Nullbox spots that trickery and stops it before it can fool your eye, because it checks who you've actually trusted, not how the address looks. Second, data brokers: if a company sells your details, the buyer's mail simply never reaches your inbox — and because that company had its own unique alias, you know exactly who sold you out. Third, breaches: a unique address per site means a login leaked in one breach can't be reused to break into your accounts everywhere else. And for organisations, point a custom domain at us and you get that phishing protection on ordinary business email — no aliasing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Three forces are lining up. First, AI has made phishing explode — reports were up over four hundred percent in early 2025, and you can't spot it by bad grammar anymore. Second, regulation and sovereignty — GDPR, NIS2, data-residency rules are pushing organisations toward minimal-data, privacy-first tools, which is exactly what we are. Third, plain fatigue — four point six billion people have an inbox, and they're each losing about three hours a week to spam. People want control back, and the tools to give it to them are finally mature.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Aliasing itself isn't new — Apple, Firefox, SimpleLogin, DuckDuckGo all do a version of it, and credit to them for normalising it. But look across the columns. They forward and trust. None of them combine never reading content, quarantine-and-trust, and automatic phishing defense. That row at the bottom is the gap we sit in. We decide first, we process the least, and we run wherever you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question investors always ask — what's the moat, and doesn't open source give it away? Our answer is that we're open-core. The personal, lite version of Nullbox is open source and self-hostable under the Elastic License, so anyone can audit exactly how we treat their mail — and in a privacy product, that verifiability is how you earn trust. But the part that creates the value stays commercial: the trusted-sender intelligence, the quarantine service, the team and admin tools, and our managed cloud. That gives us three ways to make money — managed-cloud subscriptions for the ninety-odd percent who'd rather we run it, commercial licences for businesses and government running it in production, and support and deployment contracts on top. The transparency builds the trust; the licence and the hosting capture the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market — let me be clear about what these numbers are. The big one on the left: four point six billion people use email, so the base of people with this problem is basically everyone. On the right is the market we actually sell into — what the world spends every year on email-security products. That's about six billion US dollars today, forecast to roughly double to fourteen billion over the next decade, growing around ten percent a year. To be clear, that's spending on protection, not losses to fraud. These are third-party estimates and I've labelled them as such. Our wedge is to start with privacy-first consumers, where we already have pull, and grow into organisations and government.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what have we actually done — and I want to be completely honest here. We've done essentially no marketing: about ten comments on a few privacy subreddits last December. That's it. From just that, we have twenty-three active users, sixty-two aliases, and five hundred and fifty-one real emails relayed through the system. Of those, five hundred and seventeen were forwarded from trusted senders, sixteen quarantined, eighteen dropped — which is the trust model working exactly as designed, in the wild. These are small, early-beta numbers and I won't dress them up. The point is the ratio: this is what organic pull looks like before we've spent a single cent on acquisition.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freemium with three tiers, and the prices are real. Free keeps you protected — one mailbox, ten aliases, a hundred megabytes a month — enough to leave your real address behind. Plus, at three dollars a month, gives you five mailboxes, fifty aliases and a gigabyte; it's the plan most people land on. Pro, at five dollars, is unlimited mailboxes and aliases with ten gigs and faster support. And for organisations there's Team, at eight dollars a seat, with self-hosting available for sovereign deployments. Free drives adoption and trust; the paid tiers fund the relay.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word on the economics, because they're genuinely good. The entire platform runs today on one small Azure Kubernetes cluster — two nodes — plus Mailgun for delivery. That's about two hundred and eighty US dollars a month, all in. Quarantine storage is Azure Blob, the database is Cosmos serverless, and we're still under Cloudflare's billing threshold, so those barely register. The important part is the shape of it: infrastructure scales in steps, not per user. The same base that serves twenty-three people serves thousands — so cost per user collapses as we grow, and the marginal cost of an extra email is a fraction of a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why the model works so well. A free account costs us about five cents a month to run — basically nothing — so every paying user carries a whole crowd of free ones. One Plus subscriber covers around sixty free accounts; a single Team seat covers over a hundred and fifty. Almost the entire subscription price is contribution. I've put a max-CAC column up there on purpose: even a Plus user could justify spending thirty-something dollars to acquire on a twelve-month payback. But as you'll see on the next slide, we intend to acquire for a small fraction of that. Free stays tightly capped, Plus is the default upgrade, and Team is our path into organisations.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that's the discipline on growth. At a few dollars a month, broad paid advertising simply doesn't pay back, so I'm not going to stand here and tell you we'll buy our way to a hundred thousand users. Instead it's low-CAC and trust-led, and we only spend where the payback is inside six to twelve months. The first hundred customers are founder- and community-led, to prove willingness to pay. From a hundred to a thousand we add only high-intent acquisition — search, comparison pages against SimpleLogin and the rest, retargeting — plus pilots with the champions in this room. From a thousand to ten thousand it compounds through SEO, referrals and partnerships. Only at real scale do we layer in selective paid, always capped by payback. That discipline is exactly what this raise buys time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make that growth durable. First, retention: alias services are naturally sticky. Once you've registered aliases across dozens of services, leaving means changing your address everywhere — so switching cost is high, churn is low, and the revenue is genuinely recurring. Second, a referral loop built into the product. Refer someone who pays for a year and you earn a free month of Pro — even if you're on Free or Plus — and the rewards stack: refer twelve annual payers and you've banked a year. Here's the clever part, the hook: when a Free or Plus user is gifted Pro, they get a taste of the full product, and when it drops back they feel the gap. That's what drives the upgrade. Our cheapest, highest-trust channel — word of mouth — wired straight into billing.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word on who's building this. It's me — Stephan Johnson — and I'll tell you the moment this became personal. I've been building software for thirty years; from twenty-fifteen to twenty-nineteen I was the only developer behind Makro dot co dot za, one of South Africa's largest retailers. And there I watched the company quietly send customers' in-store purchases — tied to the loyalty card you need just to walk in the door — straight to Facebook and Google. Nobody had knowingly agreed to that. You might accept you have no privacy online, but you'd never expect a physical shop to leak your real-world life to ad platforms. That breach — the digital world reaching into the physical one — is why I walked away, and why I built Nullbox. Privacy isn't a feature to me, it's a right. I built it alone, end to end; the first thing this raise does is bring on a developer and a support lead so it can grow beyond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ask. I'm raising five hundred thousand New Zealand dollars at pre-seed, for around eighteen months of runway. The team is based in South Africa, which is deliberate — the same money buys far more engineering and support time, so this stretches further than it would anywhere else. Just over forty percent goes to the team, a developer and a support lead. About a fifth lets me work on this full-time. A quarter goes to a focused, payback-disciplined marketing push, and the rest to infrastructure and a small contingency. This isn't a number to make a splash; it's sized to reach real, fundable growth without me back here raising in six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leave you with the picture of where this goes. An inbox you actually control, and an address you never have to hand out. Spam stops being your problem. Trust becomes a decision you make once, deliberately. And your real address simply stays yours. And this isn't a someday — Nullbox is live right now at nullbox dot email; you could create your first alias before you leave the room. If you can help — by backing us, or by opening doors inside the privacy and government world — let's protect the next million inboxes together. Thank you. My contact's on the screen, and I'd love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3000" y="1090613"/>
            <a:ext cx="1455688" cy="400050"/>
          </a:xfrm>
          <a:prstGeom prst="rect">
            <a:avLst/>
          </a:prstGeom>
        </p:spPr>
      </p:pic>
      <p:sp>
        <p:nvSpPr>
          <p:cNvPr id="3" name="Shape 0"/>
          <p:cNvSpPr/>
          <p:nvPr/>
        </p:nvSpPr>
        <p:spPr>
          <a:xfrm rot="2700000">
            <a:off x="13797111" y="1243013"/>
            <a:ext cx="95250" cy="95250"/>
          </a:xfrm>
          <a:prstGeom prst="rect">
            <a:avLst/>
          </a:prstGeom>
          <a:solidFill>
            <a:srgbClr val="135BFD"/>
          </a:solidFill>
          <a:ln/>
        </p:spPr>
      </p:sp>
      <p:sp>
        <p:nvSpPr>
          <p:cNvPr id="4" name="Text 1"/>
          <p:cNvSpPr/>
          <p:nvPr/>
        </p:nvSpPr>
        <p:spPr>
          <a:xfrm>
            <a:off x="13987611" y="1143000"/>
            <a:ext cx="3065706" cy="333375"/>
          </a:xfrm>
          <a:prstGeom prst="rect">
            <a:avLst/>
          </a:prstGeom>
          <a:noFill/>
          <a:ln/>
        </p:spPr>
        <p:txBody>
          <a:bodyPr wrap="square" lIns="0" tIns="0" rIns="0" bIns="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Investor brief · 2026</a:t>
            </a:r>
            <a:endParaRPr lang="en-US" sz="1800" dirty="0"/>
          </a:p>
        </p:txBody>
      </p:sp>
      <p:sp>
        <p:nvSpPr>
          <p:cNvPr id="5" name="Text 2"/>
          <p:cNvSpPr/>
          <p:nvPr/>
        </p:nvSpPr>
        <p:spPr>
          <a:xfrm>
            <a:off x="1143000" y="2824163"/>
            <a:ext cx="9025890"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EMAIL PRIVACY, BUILT ON TRUST</a:t>
            </a:r>
            <a:endParaRPr lang="en-US" sz="1800" dirty="0"/>
          </a:p>
        </p:txBody>
      </p:sp>
      <p:sp>
        <p:nvSpPr>
          <p:cNvPr id="6" name="Text 3"/>
          <p:cNvSpPr/>
          <p:nvPr/>
        </p:nvSpPr>
        <p:spPr>
          <a:xfrm>
            <a:off x="1143000" y="3195638"/>
            <a:ext cx="9025890" cy="2671465"/>
          </a:xfrm>
          <a:prstGeom prst="rect">
            <a:avLst/>
          </a:prstGeom>
          <a:noFill/>
          <a:ln/>
        </p:spPr>
        <p:txBody>
          <a:bodyPr wrap="square" lIns="25400" tIns="25400" rIns="25400" bIns="25400" rtlCol="0" anchor="t">
            <a:normAutofit/>
          </a:bodyPr>
          <a:lstStyle/>
          <a:p>
            <a:pPr algn="l" indent="0" marL="0">
              <a:lnSpc>
                <a:spcPct val="96000"/>
              </a:lnSpc>
              <a:buNone/>
            </a:pPr>
            <a:r>
              <a:rPr lang="en-US" sz="7200" b="1" spc="-216" kern="0" dirty="0">
                <a:solidFill>
                  <a:srgbClr val="000000"/>
                </a:solidFill>
                <a:latin typeface="Hanken Grotesk" pitchFamily="34" charset="0"/>
                <a:ea typeface="Hanken Grotesk" pitchFamily="34" charset="-122"/>
                <a:cs typeface="Hanken Grotesk" pitchFamily="34" charset="-120"/>
              </a:rPr>
              <a:t>Aliases that protect your inbox </a:t>
            </a:r>
            <a:pPr algn="l" indent="0" marL="0">
              <a:lnSpc>
                <a:spcPct val="96000"/>
              </a:lnSpc>
              <a:buNone/>
            </a:pPr>
            <a:r>
              <a:rPr lang="en-US" sz="7200" b="1" spc="-216" kern="0" dirty="0">
                <a:solidFill>
                  <a:srgbClr val="135BFD"/>
                </a:solidFill>
                <a:latin typeface="Hanken Grotesk" pitchFamily="34" charset="0"/>
                <a:ea typeface="Hanken Grotesk" pitchFamily="34" charset="-122"/>
                <a:cs typeface="Hanken Grotesk" pitchFamily="34" charset="-120"/>
              </a:rPr>
              <a:t>without replacing it.</a:t>
            </a:r>
            <a:endParaRPr lang="en-US" sz="7200" dirty="0"/>
          </a:p>
        </p:txBody>
      </p:sp>
      <p:sp>
        <p:nvSpPr>
          <p:cNvPr id="7" name="Text 4"/>
          <p:cNvSpPr/>
          <p:nvPr/>
        </p:nvSpPr>
        <p:spPr>
          <a:xfrm>
            <a:off x="1143000" y="6152852"/>
            <a:ext cx="5933511" cy="1395859"/>
          </a:xfrm>
          <a:prstGeom prst="rect">
            <a:avLst/>
          </a:prstGeom>
          <a:noFill/>
          <a:ln/>
        </p:spPr>
        <p:txBody>
          <a:bodyPr wrap="square" lIns="25400" tIns="25400" rIns="25400" bIns="25400" rtlCol="0" anchor="t">
            <a:normAutofit/>
          </a:bodyPr>
          <a:lstStyle/>
          <a:p>
            <a:pPr algn="l" indent="0" marL="0">
              <a:lnSpc>
                <a:spcPct val="132000"/>
              </a:lnSpc>
              <a:buNone/>
            </a:pPr>
            <a:r>
              <a:rPr lang="en-US" sz="2700" dirty="0">
                <a:solidFill>
                  <a:srgbClr val="000000"/>
                </a:solidFill>
                <a:latin typeface="Hanken Grotesk" pitchFamily="34" charset="0"/>
                <a:ea typeface="Hanken Grotesk" pitchFamily="34" charset="-122"/>
                <a:cs typeface="Hanken Grotesk" pitchFamily="34" charset="-120"/>
              </a:rPr>
              <a:t>A unique address for every service. We route on metadata alone — and never open your mail.</a:t>
            </a:r>
            <a:endParaRPr lang="en-US" sz="2700" dirty="0"/>
          </a:p>
        </p:txBody>
      </p:sp>
      <p:sp>
        <p:nvSpPr>
          <p:cNvPr id="8" name="Text 5"/>
          <p:cNvSpPr/>
          <p:nvPr/>
        </p:nvSpPr>
        <p:spPr>
          <a:xfrm>
            <a:off x="10944225" y="3262313"/>
            <a:ext cx="3108168"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shop@m3k.nullbox.email</a:t>
            </a:r>
            <a:endParaRPr lang="en-US" sz="1800" dirty="0"/>
          </a:p>
        </p:txBody>
      </p:sp>
      <p:sp>
        <p:nvSpPr>
          <p:cNvPr id="9" name="Text 6"/>
          <p:cNvSpPr/>
          <p:nvPr/>
        </p:nvSpPr>
        <p:spPr>
          <a:xfrm>
            <a:off x="14811226" y="3252788"/>
            <a:ext cx="2133749" cy="352425"/>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 you@proton.me</a:t>
            </a:r>
            <a:endParaRPr lang="en-US" sz="1800" dirty="0"/>
          </a:p>
        </p:txBody>
      </p:sp>
      <p:sp>
        <p:nvSpPr>
          <p:cNvPr id="10" name="Text 7"/>
          <p:cNvSpPr/>
          <p:nvPr/>
        </p:nvSpPr>
        <p:spPr>
          <a:xfrm>
            <a:off x="10944225" y="3919537"/>
            <a:ext cx="6118289" cy="333375"/>
          </a:xfrm>
          <a:prstGeom prst="rect">
            <a:avLst/>
          </a:prstGeom>
          <a:noFill/>
          <a:ln/>
        </p:spPr>
        <p:txBody>
          <a:bodyPr wrap="square" lIns="25400" tIns="25400" rIns="25400" bIns="25400" rtlCol="0" anchor="t">
            <a:normAutofit/>
          </a:bodyPr>
          <a:lstStyle/>
          <a:p>
            <a:pPr algn="l" indent="0" marL="0">
              <a:buNone/>
            </a:pPr>
            <a:r>
              <a:rPr lang="en-US" sz="1800" spc="54" kern="0" dirty="0">
                <a:solidFill>
                  <a:srgbClr val="000000"/>
                </a:solidFill>
                <a:latin typeface="JetBrains Mono" pitchFamily="34" charset="0"/>
                <a:ea typeface="JetBrains Mono" pitchFamily="34" charset="-122"/>
                <a:cs typeface="JetBrains Mono" pitchFamily="34" charset="-120"/>
              </a:rPr>
              <a:t>senders to this alias</a:t>
            </a:r>
            <a:endParaRPr lang="en-US" sz="1800" dirty="0"/>
          </a:p>
        </p:txBody>
      </p:sp>
      <p:sp>
        <p:nvSpPr>
          <p:cNvPr id="11" name="Text 8"/>
          <p:cNvSpPr/>
          <p:nvPr/>
        </p:nvSpPr>
        <p:spPr>
          <a:xfrm>
            <a:off x="10944225" y="4633913"/>
            <a:ext cx="25451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orders@shopify.com</a:t>
            </a:r>
            <a:endParaRPr lang="en-US" sz="1800" dirty="0"/>
          </a:p>
        </p:txBody>
      </p:sp>
      <p:sp>
        <p:nvSpPr>
          <p:cNvPr id="12" name="Shape 9"/>
          <p:cNvSpPr/>
          <p:nvPr/>
        </p:nvSpPr>
        <p:spPr>
          <a:xfrm>
            <a:off x="15269319" y="4738688"/>
            <a:ext cx="85725" cy="85725"/>
          </a:xfrm>
          <a:prstGeom prst="ellipse">
            <a:avLst/>
          </a:prstGeom>
          <a:solidFill>
            <a:srgbClr val="135BFD"/>
          </a:solidFill>
          <a:ln/>
        </p:spPr>
      </p:sp>
      <p:sp>
        <p:nvSpPr>
          <p:cNvPr id="13" name="Text 10"/>
          <p:cNvSpPr/>
          <p:nvPr/>
        </p:nvSpPr>
        <p:spPr>
          <a:xfrm>
            <a:off x="15450294" y="4633913"/>
            <a:ext cx="1351806" cy="333375"/>
          </a:xfrm>
          <a:prstGeom prst="rect">
            <a:avLst/>
          </a:prstGeom>
          <a:noFill/>
          <a:ln/>
        </p:spPr>
        <p:txBody>
          <a:bodyPr wrap="square" lIns="0" tIns="0" rIns="0" bIns="0" rtlCol="0" anchor="t">
            <a:normAutofit/>
          </a:bodyPr>
          <a:lstStyle/>
          <a:p>
            <a:pPr algn="l" indent="0" marL="0">
              <a:buNone/>
            </a:pPr>
            <a:r>
              <a:rPr lang="en-US" sz="1800" spc="36" kern="0" dirty="0">
                <a:solidFill>
                  <a:srgbClr val="135BFD"/>
                </a:solidFill>
                <a:latin typeface="JetBrains Mono" pitchFamily="34" charset="0"/>
                <a:ea typeface="JetBrains Mono" pitchFamily="34" charset="-122"/>
                <a:cs typeface="JetBrains Mono" pitchFamily="34" charset="-120"/>
              </a:rPr>
              <a:t>forwarded</a:t>
            </a:r>
            <a:endParaRPr lang="en-US" sz="1800" dirty="0"/>
          </a:p>
        </p:txBody>
      </p:sp>
      <p:sp>
        <p:nvSpPr>
          <p:cNvPr id="14" name="Text 11"/>
          <p:cNvSpPr/>
          <p:nvPr/>
        </p:nvSpPr>
        <p:spPr>
          <a:xfrm>
            <a:off x="10944225" y="5491163"/>
            <a:ext cx="25451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orders@shopify.com</a:t>
            </a:r>
            <a:endParaRPr lang="en-US" sz="1800" dirty="0"/>
          </a:p>
        </p:txBody>
      </p:sp>
      <p:sp>
        <p:nvSpPr>
          <p:cNvPr id="15" name="Shape 12"/>
          <p:cNvSpPr/>
          <p:nvPr/>
        </p:nvSpPr>
        <p:spPr>
          <a:xfrm>
            <a:off x="15269319" y="5595938"/>
            <a:ext cx="85725" cy="85725"/>
          </a:xfrm>
          <a:prstGeom prst="ellipse">
            <a:avLst/>
          </a:prstGeom>
          <a:solidFill>
            <a:srgbClr val="135BFD"/>
          </a:solidFill>
          <a:ln/>
        </p:spPr>
      </p:sp>
      <p:sp>
        <p:nvSpPr>
          <p:cNvPr id="16" name="Text 13"/>
          <p:cNvSpPr/>
          <p:nvPr/>
        </p:nvSpPr>
        <p:spPr>
          <a:xfrm>
            <a:off x="15450294" y="5491163"/>
            <a:ext cx="1351806" cy="333375"/>
          </a:xfrm>
          <a:prstGeom prst="rect">
            <a:avLst/>
          </a:prstGeom>
          <a:noFill/>
          <a:ln/>
        </p:spPr>
        <p:txBody>
          <a:bodyPr wrap="square" lIns="0" tIns="0" rIns="0" bIns="0" rtlCol="0" anchor="t">
            <a:normAutofit/>
          </a:bodyPr>
          <a:lstStyle/>
          <a:p>
            <a:pPr algn="l" indent="0" marL="0">
              <a:buNone/>
            </a:pPr>
            <a:r>
              <a:rPr lang="en-US" sz="1800" spc="36" kern="0" dirty="0">
                <a:solidFill>
                  <a:srgbClr val="135BFD"/>
                </a:solidFill>
                <a:latin typeface="JetBrains Mono" pitchFamily="34" charset="0"/>
                <a:ea typeface="JetBrains Mono" pitchFamily="34" charset="-122"/>
                <a:cs typeface="JetBrains Mono" pitchFamily="34" charset="-120"/>
              </a:rPr>
              <a:t>forwarded</a:t>
            </a:r>
            <a:endParaRPr lang="en-US" sz="1800" dirty="0"/>
          </a:p>
        </p:txBody>
      </p:sp>
      <p:sp>
        <p:nvSpPr>
          <p:cNvPr id="17" name="Text 14"/>
          <p:cNvSpPr/>
          <p:nvPr/>
        </p:nvSpPr>
        <p:spPr>
          <a:xfrm>
            <a:off x="10944225" y="6281738"/>
            <a:ext cx="4005852" cy="628650"/>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verify@shopify-secure-billing.net</a:t>
            </a:r>
            <a:endParaRPr lang="en-US" sz="1800" dirty="0"/>
          </a:p>
        </p:txBody>
      </p:sp>
      <p:sp>
        <p:nvSpPr>
          <p:cNvPr id="18" name="Shape 15"/>
          <p:cNvSpPr/>
          <p:nvPr/>
        </p:nvSpPr>
        <p:spPr>
          <a:xfrm rot="2700000">
            <a:off x="14976277" y="6529388"/>
            <a:ext cx="95250" cy="95250"/>
          </a:xfrm>
          <a:prstGeom prst="rect">
            <a:avLst/>
          </a:prstGeom>
          <a:solidFill>
            <a:srgbClr val="135BFD"/>
          </a:solidFill>
          <a:ln/>
        </p:spPr>
      </p:sp>
      <p:sp>
        <p:nvSpPr>
          <p:cNvPr id="19" name="Text 16"/>
          <p:cNvSpPr/>
          <p:nvPr/>
        </p:nvSpPr>
        <p:spPr>
          <a:xfrm>
            <a:off x="15166777" y="6429375"/>
            <a:ext cx="1635323" cy="333375"/>
          </a:xfrm>
          <a:prstGeom prst="rect">
            <a:avLst/>
          </a:prstGeom>
          <a:noFill/>
          <a:ln/>
        </p:spPr>
        <p:txBody>
          <a:bodyPr wrap="square" lIns="0" tIns="0" rIns="0" bIns="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quarantined</a:t>
            </a:r>
            <a:endParaRPr lang="en-US" sz="1800" dirty="0"/>
          </a:p>
        </p:txBody>
      </p:sp>
      <p:sp>
        <p:nvSpPr>
          <p:cNvPr id="20" name="Text 17"/>
          <p:cNvSpPr/>
          <p:nvPr/>
        </p:nvSpPr>
        <p:spPr>
          <a:xfrm>
            <a:off x="1143000" y="8801100"/>
            <a:ext cx="6715305"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Built on Cloudflare + .NET · Privacy by design</a:t>
            </a:r>
            <a:endParaRPr lang="en-US" sz="1800" dirty="0"/>
          </a:p>
        </p:txBody>
      </p:sp>
      <p:sp>
        <p:nvSpPr>
          <p:cNvPr id="21" name="Text 18"/>
          <p:cNvSpPr/>
          <p:nvPr/>
        </p:nvSpPr>
        <p:spPr>
          <a:xfrm>
            <a:off x="1143000" y="9153525"/>
            <a:ext cx="3503664"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github.com/nullbox-email</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143000" y="1047750"/>
            <a:ext cx="2417118"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01 — THE PROBLEM</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8790279" cy="2278112"/>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Your email address is a permanent, public identifier.</a:t>
            </a:r>
            <a:endParaRPr lang="en-US" sz="6000" dirty="0"/>
          </a:p>
        </p:txBody>
      </p:sp>
      <p:sp>
        <p:nvSpPr>
          <p:cNvPr id="5" name="Text 3"/>
          <p:cNvSpPr/>
          <p:nvPr/>
        </p:nvSpPr>
        <p:spPr>
          <a:xfrm>
            <a:off x="1143000" y="5448598"/>
            <a:ext cx="5140833"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000000"/>
                </a:solidFill>
                <a:latin typeface="Hanken Grotesk" pitchFamily="34" charset="0"/>
                <a:ea typeface="Hanken Grotesk" pitchFamily="34" charset="-122"/>
                <a:cs typeface="Hanken Grotesk" pitchFamily="34" charset="-120"/>
              </a:rPr>
              <a:t>376</a:t>
            </a:r>
            <a:pPr algn="l" indent="0" marL="0">
              <a:lnSpc>
                <a:spcPct val="90000"/>
              </a:lnSpc>
              <a:buNone/>
            </a:pPr>
            <a:r>
              <a:rPr lang="en-US" sz="3900" b="1" spc="-273" kern="0" dirty="0">
                <a:solidFill>
                  <a:srgbClr val="000000"/>
                </a:solidFill>
                <a:latin typeface="Hanken Grotesk" pitchFamily="34" charset="0"/>
                <a:ea typeface="Hanken Grotesk" pitchFamily="34" charset="-122"/>
                <a:cs typeface="Hanken Grotesk" pitchFamily="34" charset="-120"/>
              </a:rPr>
              <a:t>B</a:t>
            </a:r>
            <a:endParaRPr lang="en-US" sz="7800" dirty="0"/>
          </a:p>
        </p:txBody>
      </p:sp>
      <p:sp>
        <p:nvSpPr>
          <p:cNvPr id="6" name="Text 4"/>
          <p:cNvSpPr/>
          <p:nvPr/>
        </p:nvSpPr>
        <p:spPr>
          <a:xfrm>
            <a:off x="6648450" y="5448598"/>
            <a:ext cx="5140833"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135BFD"/>
                </a:solidFill>
                <a:latin typeface="Hanken Grotesk" pitchFamily="34" charset="0"/>
                <a:ea typeface="Hanken Grotesk" pitchFamily="34" charset="-122"/>
                <a:cs typeface="Hanken Grotesk" pitchFamily="34" charset="-120"/>
              </a:rPr>
              <a:t>~45</a:t>
            </a:r>
            <a:pPr algn="l" indent="0" marL="0">
              <a:lnSpc>
                <a:spcPct val="90000"/>
              </a:lnSpc>
              <a:buNone/>
            </a:pPr>
            <a:r>
              <a:rPr lang="en-US" sz="3900" b="1" spc="-273" kern="0" dirty="0">
                <a:solidFill>
                  <a:srgbClr val="135BFD"/>
                </a:solidFill>
                <a:latin typeface="Hanken Grotesk" pitchFamily="34" charset="0"/>
                <a:ea typeface="Hanken Grotesk" pitchFamily="34" charset="-122"/>
                <a:cs typeface="Hanken Grotesk" pitchFamily="34" charset="-120"/>
              </a:rPr>
              <a:t>%</a:t>
            </a:r>
            <a:endParaRPr lang="en-US" sz="7800" dirty="0"/>
          </a:p>
        </p:txBody>
      </p:sp>
      <p:sp>
        <p:nvSpPr>
          <p:cNvPr id="7" name="Text 5"/>
          <p:cNvSpPr/>
          <p:nvPr/>
        </p:nvSpPr>
        <p:spPr>
          <a:xfrm>
            <a:off x="12153900" y="5448598"/>
            <a:ext cx="5140833"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000000"/>
                </a:solidFill>
                <a:latin typeface="Hanken Grotesk" pitchFamily="34" charset="0"/>
                <a:ea typeface="Hanken Grotesk" pitchFamily="34" charset="-122"/>
                <a:cs typeface="Hanken Grotesk" pitchFamily="34" charset="-120"/>
              </a:rPr>
              <a:t>3.4</a:t>
            </a:r>
            <a:pPr algn="l" indent="0" marL="0">
              <a:lnSpc>
                <a:spcPct val="90000"/>
              </a:lnSpc>
              <a:buNone/>
            </a:pPr>
            <a:r>
              <a:rPr lang="en-US" sz="3900" b="1" spc="-273" kern="0" dirty="0">
                <a:solidFill>
                  <a:srgbClr val="000000"/>
                </a:solidFill>
                <a:latin typeface="Hanken Grotesk" pitchFamily="34" charset="0"/>
                <a:ea typeface="Hanken Grotesk" pitchFamily="34" charset="-122"/>
                <a:cs typeface="Hanken Grotesk" pitchFamily="34" charset="-120"/>
              </a:rPr>
              <a:t>B</a:t>
            </a:r>
            <a:endParaRPr lang="en-US" sz="7800" dirty="0"/>
          </a:p>
        </p:txBody>
      </p:sp>
      <p:sp>
        <p:nvSpPr>
          <p:cNvPr id="8" name="Text 6"/>
          <p:cNvSpPr/>
          <p:nvPr/>
        </p:nvSpPr>
        <p:spPr>
          <a:xfrm>
            <a:off x="1143000" y="6831509"/>
            <a:ext cx="2380357" cy="99804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emails sent every day — and the volume keeps climbing.</a:t>
            </a:r>
            <a:endParaRPr lang="en-US" sz="1800" dirty="0"/>
          </a:p>
        </p:txBody>
      </p:sp>
      <p:sp>
        <p:nvSpPr>
          <p:cNvPr id="9" name="Text 7"/>
          <p:cNvSpPr/>
          <p:nvPr/>
        </p:nvSpPr>
        <p:spPr>
          <a:xfrm>
            <a:off x="6648450" y="6511528"/>
            <a:ext cx="2380357" cy="1318022"/>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of all email traffic is spam: roughly 176B unwanted messages a day.</a:t>
            </a:r>
            <a:endParaRPr lang="en-US" sz="1800" dirty="0"/>
          </a:p>
        </p:txBody>
      </p:sp>
      <p:sp>
        <p:nvSpPr>
          <p:cNvPr id="10" name="Text 8"/>
          <p:cNvSpPr/>
          <p:nvPr/>
        </p:nvSpPr>
        <p:spPr>
          <a:xfrm>
            <a:off x="12153900" y="6831509"/>
            <a:ext cx="2380357" cy="99804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phishing emails a day — now AI-written and near flawless.</a:t>
            </a:r>
            <a:endParaRPr lang="en-US" sz="1800" dirty="0"/>
          </a:p>
        </p:txBody>
      </p:sp>
      <p:sp>
        <p:nvSpPr>
          <p:cNvPr id="11" name="Text 9"/>
          <p:cNvSpPr/>
          <p:nvPr/>
        </p:nvSpPr>
        <p:spPr>
          <a:xfrm>
            <a:off x="1143000" y="8267700"/>
            <a:ext cx="12116736"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Once your address leaks, it leaks forever. You can filter — you can't take it back.</a:t>
            </a:r>
            <a:endParaRPr lang="en-US" sz="1800" dirty="0"/>
          </a:p>
        </p:txBody>
      </p:sp>
      <p:sp>
        <p:nvSpPr>
          <p:cNvPr id="12" name="Text 10"/>
          <p:cNvSpPr/>
          <p:nvPr/>
        </p:nvSpPr>
        <p:spPr>
          <a:xfrm>
            <a:off x="1143000" y="8620125"/>
            <a:ext cx="4817538"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Kaspersky 2025 · emailwarmup 2025</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143000" y="1047750"/>
            <a:ext cx="2863206"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02 — THE STATUS QUO</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3844677"/>
            <a:ext cx="7799546" cy="1307306"/>
          </a:xfrm>
          <a:prstGeom prst="rect">
            <a:avLst/>
          </a:prstGeom>
          <a:noFill/>
          <a:ln/>
        </p:spPr>
        <p:txBody>
          <a:bodyPr wrap="square" lIns="25400" tIns="25400" rIns="25400" bIns="25400" rtlCol="0" anchor="t">
            <a:normAutofit/>
          </a:bodyPr>
          <a:lstStyle/>
          <a:p>
            <a:pPr algn="l" indent="0" marL="0">
              <a:lnSpc>
                <a:spcPct val="98000"/>
              </a:lnSpc>
              <a:buNone/>
            </a:pPr>
            <a:r>
              <a:rPr lang="en-US" sz="5100" b="1" spc="-127" kern="0" dirty="0">
                <a:solidFill>
                  <a:srgbClr val="000000"/>
                </a:solidFill>
                <a:latin typeface="Hanken Grotesk" pitchFamily="34" charset="0"/>
                <a:ea typeface="Hanken Grotesk" pitchFamily="34" charset="-122"/>
                <a:cs typeface="Hanken Grotesk" pitchFamily="34" charset="-120"/>
              </a:rPr>
              <a:t>Blocking is broken by design.</a:t>
            </a:r>
            <a:endParaRPr lang="en-US" sz="5100" dirty="0"/>
          </a:p>
        </p:txBody>
      </p:sp>
      <p:sp>
        <p:nvSpPr>
          <p:cNvPr id="5" name="Text 3"/>
          <p:cNvSpPr/>
          <p:nvPr/>
        </p:nvSpPr>
        <p:spPr>
          <a:xfrm>
            <a:off x="1143000" y="5190083"/>
            <a:ext cx="5428104" cy="1471315"/>
          </a:xfrm>
          <a:prstGeom prst="rect">
            <a:avLst/>
          </a:prstGeom>
          <a:noFill/>
          <a:ln/>
        </p:spPr>
        <p:txBody>
          <a:bodyPr wrap="square" lIns="25400" tIns="25400" rIns="25400" bIns="25400" rtlCol="0" anchor="t">
            <a:normAutofit/>
          </a:bodyPr>
          <a:lstStyle/>
          <a:p>
            <a:pPr algn="l" indent="0" marL="0">
              <a:lnSpc>
                <a:spcPct val="132000"/>
              </a:lnSpc>
              <a:buNone/>
            </a:pPr>
            <a:r>
              <a:rPr lang="en-US" sz="2850" dirty="0">
                <a:solidFill>
                  <a:srgbClr val="000000"/>
                </a:solidFill>
                <a:latin typeface="Hanken Grotesk" pitchFamily="34" charset="0"/>
                <a:ea typeface="Hanken Grotesk" pitchFamily="34" charset="-122"/>
                <a:cs typeface="Hanken Grotesk" pitchFamily="34" charset="-120"/>
              </a:rPr>
              <a:t>Every site asks for the same address you use for everything. So when one leaks, they all do.</a:t>
            </a:r>
            <a:endParaRPr lang="en-US" sz="2850" dirty="0"/>
          </a:p>
        </p:txBody>
      </p:sp>
      <p:sp>
        <p:nvSpPr>
          <p:cNvPr id="6" name="Text 4"/>
          <p:cNvSpPr/>
          <p:nvPr/>
        </p:nvSpPr>
        <p:spPr>
          <a:xfrm>
            <a:off x="9877425" y="3309938"/>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35BFD"/>
                </a:solidFill>
                <a:latin typeface="JetBrains Mono" pitchFamily="34" charset="0"/>
                <a:ea typeface="JetBrains Mono" pitchFamily="34" charset="-122"/>
                <a:cs typeface="JetBrains Mono" pitchFamily="34" charset="-120"/>
              </a:rPr>
              <a:t>1</a:t>
            </a:r>
            <a:endParaRPr lang="en-US" sz="1800" dirty="0"/>
          </a:p>
        </p:txBody>
      </p:sp>
      <p:sp>
        <p:nvSpPr>
          <p:cNvPr id="7" name="Text 5"/>
          <p:cNvSpPr/>
          <p:nvPr/>
        </p:nvSpPr>
        <p:spPr>
          <a:xfrm>
            <a:off x="10591800" y="3128963"/>
            <a:ext cx="6406420"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One address sits behind dozens of accounts, newsletters and logins.</a:t>
            </a:r>
            <a:endParaRPr lang="en-US" sz="2250" dirty="0"/>
          </a:p>
        </p:txBody>
      </p:sp>
      <p:sp>
        <p:nvSpPr>
          <p:cNvPr id="8" name="Text 6"/>
          <p:cNvSpPr/>
          <p:nvPr/>
        </p:nvSpPr>
        <p:spPr>
          <a:xfrm>
            <a:off x="9877425" y="4910138"/>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35BFD"/>
                </a:solidFill>
                <a:latin typeface="JetBrains Mono" pitchFamily="34" charset="0"/>
                <a:ea typeface="JetBrains Mono" pitchFamily="34" charset="-122"/>
                <a:cs typeface="JetBrains Mono" pitchFamily="34" charset="-120"/>
              </a:rPr>
              <a:t>2</a:t>
            </a:r>
            <a:endParaRPr lang="en-US" sz="1800" dirty="0"/>
          </a:p>
        </p:txBody>
      </p:sp>
      <p:sp>
        <p:nvSpPr>
          <p:cNvPr id="9" name="Text 7"/>
          <p:cNvSpPr/>
          <p:nvPr/>
        </p:nvSpPr>
        <p:spPr>
          <a:xfrm>
            <a:off x="10591800" y="4729163"/>
            <a:ext cx="6406420"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Blocking a sender only stops </a:t>
            </a:r>
            <a:pPr algn="l" indent="0" marL="0">
              <a:lnSpc>
                <a:spcPct val="140000"/>
              </a:lnSpc>
              <a:buNone/>
            </a:pPr>
            <a:r>
              <a:rPr lang="en-US" sz="2250" b="1" dirty="0">
                <a:solidFill>
                  <a:srgbClr val="135BFD"/>
                </a:solidFill>
                <a:latin typeface="Hanken Grotesk" pitchFamily="34" charset="0"/>
                <a:ea typeface="Hanken Grotesk" pitchFamily="34" charset="-122"/>
                <a:cs typeface="Hanken Grotesk" pitchFamily="34" charset="-120"/>
              </a:rPr>
              <a:t>that one domain </a:t>
            </a:r>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 the next spammer gets through.</a:t>
            </a:r>
            <a:endParaRPr lang="en-US" sz="2250" dirty="0"/>
          </a:p>
        </p:txBody>
      </p:sp>
      <p:sp>
        <p:nvSpPr>
          <p:cNvPr id="10" name="Text 8"/>
          <p:cNvSpPr/>
          <p:nvPr/>
        </p:nvSpPr>
        <p:spPr>
          <a:xfrm>
            <a:off x="9877425" y="6510338"/>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35BFD"/>
                </a:solidFill>
                <a:latin typeface="JetBrains Mono" pitchFamily="34" charset="0"/>
                <a:ea typeface="JetBrains Mono" pitchFamily="34" charset="-122"/>
                <a:cs typeface="JetBrains Mono" pitchFamily="34" charset="-120"/>
              </a:rPr>
              <a:t>3</a:t>
            </a:r>
            <a:endParaRPr lang="en-US" sz="1800" dirty="0"/>
          </a:p>
        </p:txBody>
      </p:sp>
      <p:sp>
        <p:nvSpPr>
          <p:cNvPr id="11" name="Text 9"/>
          <p:cNvSpPr/>
          <p:nvPr/>
        </p:nvSpPr>
        <p:spPr>
          <a:xfrm>
            <a:off x="10591800" y="6329363"/>
            <a:ext cx="6406420"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You can't rotate your real inbox. The exposure is permanent.</a:t>
            </a:r>
            <a:endParaRPr lang="en-US" sz="2250" dirty="0"/>
          </a:p>
        </p:txBody>
      </p:sp>
      <p:sp>
        <p:nvSpPr>
          <p:cNvPr id="12" name="Text 10"/>
          <p:cNvSpPr/>
          <p:nvPr/>
        </p:nvSpPr>
        <p:spPr>
          <a:xfrm>
            <a:off x="1143000" y="8620125"/>
            <a:ext cx="13430610"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The fix isn't a smarter filter. It's never handing out your real address in the first place.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143000" y="1047750"/>
            <a:ext cx="3013893"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03 — WHAT NULLBOX IS</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0548396" cy="2278112"/>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A unique address per service, forwarding to the inbox you already use.</a:t>
            </a:r>
            <a:endParaRPr lang="en-US" sz="6000" dirty="0"/>
          </a:p>
        </p:txBody>
      </p:sp>
      <p:sp>
        <p:nvSpPr>
          <p:cNvPr id="5" name="Text 3"/>
          <p:cNvSpPr/>
          <p:nvPr/>
        </p:nvSpPr>
        <p:spPr>
          <a:xfrm>
            <a:off x="1438275" y="5799088"/>
            <a:ext cx="4467110" cy="333375"/>
          </a:xfrm>
          <a:prstGeom prst="rect">
            <a:avLst/>
          </a:prstGeom>
          <a:noFill/>
          <a:ln/>
        </p:spPr>
        <p:txBody>
          <a:bodyPr wrap="square" lIns="25400" tIns="25400" rIns="25400" bIns="25400" rtlCol="0" anchor="t">
            <a:normAutofit/>
          </a:bodyPr>
          <a:lstStyle/>
          <a:p>
            <a:pPr algn="l" indent="0" marL="0">
              <a:buNone/>
            </a:pPr>
            <a:r>
              <a:rPr lang="en-US" sz="1800" spc="90" kern="0" dirty="0">
                <a:solidFill>
                  <a:srgbClr val="000000"/>
                </a:solidFill>
                <a:latin typeface="JetBrains Mono" pitchFamily="34" charset="0"/>
                <a:ea typeface="JetBrains Mono" pitchFamily="34" charset="-122"/>
                <a:cs typeface="JetBrains Mono" pitchFamily="34" charset="-120"/>
              </a:rPr>
              <a:t>EVERY SERVICE</a:t>
            </a:r>
            <a:endParaRPr lang="en-US" sz="1800" dirty="0"/>
          </a:p>
        </p:txBody>
      </p:sp>
      <p:sp>
        <p:nvSpPr>
          <p:cNvPr id="6" name="Text 4"/>
          <p:cNvSpPr/>
          <p:nvPr/>
        </p:nvSpPr>
        <p:spPr>
          <a:xfrm>
            <a:off x="1438275" y="6227713"/>
            <a:ext cx="4467110" cy="409575"/>
          </a:xfrm>
          <a:prstGeom prst="rect">
            <a:avLst/>
          </a:prstGeom>
          <a:noFill/>
          <a:ln/>
        </p:spPr>
        <p:txBody>
          <a:bodyPr wrap="square" lIns="25400" tIns="25400" rIns="25400" bIns="25400" rtlCol="0" anchor="t">
            <a:normAutofit/>
          </a:bodyPr>
          <a:lstStyle/>
          <a:p>
            <a:pPr algn="l" indent="0" marL="0">
              <a:buNone/>
            </a:pPr>
            <a:r>
              <a:rPr lang="en-US" sz="2250" b="1" spc="-22" kern="0" dirty="0">
                <a:solidFill>
                  <a:srgbClr val="000000"/>
                </a:solidFill>
                <a:latin typeface="Hanken Grotesk" pitchFamily="34" charset="0"/>
                <a:ea typeface="Hanken Grotesk" pitchFamily="34" charset="-122"/>
                <a:cs typeface="Hanken Grotesk" pitchFamily="34" charset="-120"/>
              </a:rPr>
              <a:t>A fresh alias</a:t>
            </a:r>
            <a:endParaRPr lang="en-US" sz="2250" dirty="0"/>
          </a:p>
        </p:txBody>
      </p:sp>
      <p:sp>
        <p:nvSpPr>
          <p:cNvPr id="7" name="Text 5"/>
          <p:cNvSpPr/>
          <p:nvPr/>
        </p:nvSpPr>
        <p:spPr>
          <a:xfrm>
            <a:off x="1438275" y="6732538"/>
            <a:ext cx="4467110" cy="1033314"/>
          </a:xfrm>
          <a:prstGeom prst="rect">
            <a:avLst/>
          </a:prstGeom>
          <a:noFill/>
          <a:ln/>
        </p:spPr>
        <p:txBody>
          <a:bodyPr wrap="square" lIns="25400" tIns="25400" rIns="25400" bIns="25400" rtlCol="0" anchor="t">
            <a:normAutofit/>
          </a:bodyPr>
          <a:lstStyle/>
          <a:p>
            <a:pPr algn="l" indent="0" marL="0">
              <a:lnSpc>
                <a:spcPct val="134000"/>
              </a:lnSpc>
              <a:buNone/>
            </a:pPr>
            <a:r>
              <a:rPr lang="en-US" sz="1950" dirty="0">
                <a:solidFill>
                  <a:srgbClr val="000000"/>
                </a:solidFill>
                <a:latin typeface="Hanken Grotesk" pitchFamily="34" charset="0"/>
                <a:ea typeface="Hanken Grotesk" pitchFamily="34" charset="-122"/>
                <a:cs typeface="Hanken Grotesk" pitchFamily="34" charset="-120"/>
              </a:rPr>
              <a:t>Shopping, newsletters, trials, forums — each gets its own address on your private domain.</a:t>
            </a:r>
            <a:endParaRPr lang="en-US" sz="1950" dirty="0"/>
          </a:p>
        </p:txBody>
      </p:sp>
      <p:sp>
        <p:nvSpPr>
          <p:cNvPr id="8" name="Text 6"/>
          <p:cNvSpPr/>
          <p:nvPr/>
        </p:nvSpPr>
        <p:spPr>
          <a:xfrm>
            <a:off x="6032450" y="5484763"/>
            <a:ext cx="685800" cy="2595414"/>
          </a:xfrm>
          <a:prstGeom prst="rect">
            <a:avLst/>
          </a:prstGeom>
          <a:noFill/>
          <a:ln/>
        </p:spPr>
        <p:txBody>
          <a:bodyPr wrap="square" lIns="25400" tIns="25400" rIns="25400" bIns="25400" rtlCol="0" anchor="ctr">
            <a:normAutofit/>
          </a:bodyPr>
          <a:lstStyle/>
          <a:p>
            <a:pPr algn="ctr" indent="0" marL="0">
              <a:buNone/>
            </a:pPr>
            <a:r>
              <a:rPr lang="en-US" sz="2550" dirty="0">
                <a:solidFill>
                  <a:srgbClr val="135BFD"/>
                </a:solidFill>
                <a:latin typeface="Hanken Grotesk" pitchFamily="34" charset="0"/>
                <a:ea typeface="Hanken Grotesk" pitchFamily="34" charset="-122"/>
                <a:cs typeface="Hanken Grotesk" pitchFamily="34" charset="-120"/>
              </a:rPr>
              <a:t>→</a:t>
            </a:r>
            <a:endParaRPr lang="en-US" sz="2550" dirty="0"/>
          </a:p>
        </p:txBody>
      </p:sp>
      <p:sp>
        <p:nvSpPr>
          <p:cNvPr id="9" name="Text 7"/>
          <p:cNvSpPr/>
          <p:nvPr/>
        </p:nvSpPr>
        <p:spPr>
          <a:xfrm>
            <a:off x="6975425" y="5799088"/>
            <a:ext cx="4467264" cy="333375"/>
          </a:xfrm>
          <a:prstGeom prst="rect">
            <a:avLst/>
          </a:prstGeom>
          <a:noFill/>
          <a:ln/>
        </p:spPr>
        <p:txBody>
          <a:bodyPr wrap="square" lIns="25400" tIns="25400" rIns="25400" bIns="25400" rtlCol="0" anchor="t">
            <a:normAutofit/>
          </a:bodyPr>
          <a:lstStyle/>
          <a:p>
            <a:pPr algn="l" indent="0" marL="0">
              <a:buNone/>
            </a:pPr>
            <a:r>
              <a:rPr lang="en-US" sz="1800" spc="90" kern="0" dirty="0">
                <a:solidFill>
                  <a:srgbClr val="135BFD"/>
                </a:solidFill>
                <a:latin typeface="JetBrains Mono" pitchFamily="34" charset="0"/>
                <a:ea typeface="JetBrains Mono" pitchFamily="34" charset="-122"/>
                <a:cs typeface="JetBrains Mono" pitchFamily="34" charset="-120"/>
              </a:rPr>
              <a:t>NULLBOX</a:t>
            </a:r>
            <a:endParaRPr lang="en-US" sz="1800" dirty="0"/>
          </a:p>
        </p:txBody>
      </p:sp>
      <p:sp>
        <p:nvSpPr>
          <p:cNvPr id="10" name="Text 8"/>
          <p:cNvSpPr/>
          <p:nvPr/>
        </p:nvSpPr>
        <p:spPr>
          <a:xfrm>
            <a:off x="6975425" y="6227713"/>
            <a:ext cx="4467264" cy="409575"/>
          </a:xfrm>
          <a:prstGeom prst="rect">
            <a:avLst/>
          </a:prstGeom>
          <a:noFill/>
          <a:ln/>
        </p:spPr>
        <p:txBody>
          <a:bodyPr wrap="square" lIns="25400" tIns="25400" rIns="25400" bIns="25400" rtlCol="0" anchor="t">
            <a:normAutofit/>
          </a:bodyPr>
          <a:lstStyle/>
          <a:p>
            <a:pPr algn="l" indent="0" marL="0">
              <a:buNone/>
            </a:pPr>
            <a:r>
              <a:rPr lang="en-US" sz="2250" b="1" spc="-22" kern="0" dirty="0">
                <a:solidFill>
                  <a:srgbClr val="000000"/>
                </a:solidFill>
                <a:latin typeface="Hanken Grotesk" pitchFamily="34" charset="0"/>
                <a:ea typeface="Hanken Grotesk" pitchFamily="34" charset="-122"/>
                <a:cs typeface="Hanken Grotesk" pitchFamily="34" charset="-120"/>
              </a:rPr>
              <a:t>Sits in front</a:t>
            </a:r>
            <a:endParaRPr lang="en-US" sz="2250" dirty="0"/>
          </a:p>
        </p:txBody>
      </p:sp>
      <p:sp>
        <p:nvSpPr>
          <p:cNvPr id="11" name="Text 9"/>
          <p:cNvSpPr/>
          <p:nvPr/>
        </p:nvSpPr>
        <p:spPr>
          <a:xfrm>
            <a:off x="6975425" y="6732538"/>
            <a:ext cx="4467264" cy="701576"/>
          </a:xfrm>
          <a:prstGeom prst="rect">
            <a:avLst/>
          </a:prstGeom>
          <a:noFill/>
          <a:ln/>
        </p:spPr>
        <p:txBody>
          <a:bodyPr wrap="square" lIns="25400" tIns="25400" rIns="25400" bIns="25400" rtlCol="0" anchor="t">
            <a:normAutofit/>
          </a:bodyPr>
          <a:lstStyle/>
          <a:p>
            <a:pPr algn="l" indent="0" marL="0">
              <a:lnSpc>
                <a:spcPct val="134000"/>
              </a:lnSpc>
              <a:buNone/>
            </a:pPr>
            <a:r>
              <a:rPr lang="en-US" sz="1950" dirty="0">
                <a:solidFill>
                  <a:srgbClr val="000000"/>
                </a:solidFill>
                <a:latin typeface="Hanken Grotesk" pitchFamily="34" charset="0"/>
                <a:ea typeface="Hanken Grotesk" pitchFamily="34" charset="-122"/>
                <a:cs typeface="Hanken Grotesk" pitchFamily="34" charset="-120"/>
              </a:rPr>
              <a:t>Forwards, quarantines, or drops — per alias, on your terms.</a:t>
            </a:r>
            <a:endParaRPr lang="en-US" sz="1950" dirty="0"/>
          </a:p>
        </p:txBody>
      </p:sp>
      <p:sp>
        <p:nvSpPr>
          <p:cNvPr id="12" name="Text 10"/>
          <p:cNvSpPr/>
          <p:nvPr/>
        </p:nvSpPr>
        <p:spPr>
          <a:xfrm>
            <a:off x="11569750" y="5484763"/>
            <a:ext cx="685800" cy="2595414"/>
          </a:xfrm>
          <a:prstGeom prst="rect">
            <a:avLst/>
          </a:prstGeom>
          <a:noFill/>
          <a:ln/>
        </p:spPr>
        <p:txBody>
          <a:bodyPr wrap="square" lIns="25400" tIns="25400" rIns="25400" bIns="25400" rtlCol="0" anchor="ctr">
            <a:normAutofit/>
          </a:bodyPr>
          <a:lstStyle/>
          <a:p>
            <a:pPr algn="ctr" indent="0" marL="0">
              <a:buNone/>
            </a:pPr>
            <a:r>
              <a:rPr lang="en-US" sz="2550" dirty="0">
                <a:solidFill>
                  <a:srgbClr val="135BFD"/>
                </a:solidFill>
                <a:latin typeface="Hanken Grotesk" pitchFamily="34" charset="0"/>
                <a:ea typeface="Hanken Grotesk" pitchFamily="34" charset="-122"/>
                <a:cs typeface="Hanken Grotesk" pitchFamily="34" charset="-120"/>
              </a:rPr>
              <a:t>→</a:t>
            </a:r>
            <a:endParaRPr lang="en-US" sz="2550" dirty="0"/>
          </a:p>
        </p:txBody>
      </p:sp>
      <p:sp>
        <p:nvSpPr>
          <p:cNvPr id="13" name="Text 11"/>
          <p:cNvSpPr/>
          <p:nvPr/>
        </p:nvSpPr>
        <p:spPr>
          <a:xfrm>
            <a:off x="12512725" y="5799088"/>
            <a:ext cx="4467110" cy="333375"/>
          </a:xfrm>
          <a:prstGeom prst="rect">
            <a:avLst/>
          </a:prstGeom>
          <a:noFill/>
          <a:ln/>
        </p:spPr>
        <p:txBody>
          <a:bodyPr wrap="square" lIns="25400" tIns="25400" rIns="25400" bIns="25400" rtlCol="0" anchor="t">
            <a:normAutofit/>
          </a:bodyPr>
          <a:lstStyle/>
          <a:p>
            <a:pPr algn="l" indent="0" marL="0">
              <a:buNone/>
            </a:pPr>
            <a:r>
              <a:rPr lang="en-US" sz="1800" spc="90" kern="0" dirty="0">
                <a:solidFill>
                  <a:srgbClr val="000000"/>
                </a:solidFill>
                <a:latin typeface="JetBrains Mono" pitchFamily="34" charset="0"/>
                <a:ea typeface="JetBrains Mono" pitchFamily="34" charset="-122"/>
                <a:cs typeface="JetBrains Mono" pitchFamily="34" charset="-120"/>
              </a:rPr>
              <a:t>UNCHANGED</a:t>
            </a:r>
            <a:endParaRPr lang="en-US" sz="1800" dirty="0"/>
          </a:p>
        </p:txBody>
      </p:sp>
      <p:sp>
        <p:nvSpPr>
          <p:cNvPr id="14" name="Text 12"/>
          <p:cNvSpPr/>
          <p:nvPr/>
        </p:nvSpPr>
        <p:spPr>
          <a:xfrm>
            <a:off x="12512725" y="6227713"/>
            <a:ext cx="4467110" cy="409575"/>
          </a:xfrm>
          <a:prstGeom prst="rect">
            <a:avLst/>
          </a:prstGeom>
          <a:noFill/>
          <a:ln/>
        </p:spPr>
        <p:txBody>
          <a:bodyPr wrap="square" lIns="25400" tIns="25400" rIns="25400" bIns="25400" rtlCol="0" anchor="t">
            <a:normAutofit/>
          </a:bodyPr>
          <a:lstStyle/>
          <a:p>
            <a:pPr algn="l" indent="0" marL="0">
              <a:buNone/>
            </a:pPr>
            <a:r>
              <a:rPr lang="en-US" sz="2250" b="1" spc="-22" kern="0" dirty="0">
                <a:solidFill>
                  <a:srgbClr val="000000"/>
                </a:solidFill>
                <a:latin typeface="Hanken Grotesk" pitchFamily="34" charset="0"/>
                <a:ea typeface="Hanken Grotesk" pitchFamily="34" charset="-122"/>
                <a:cs typeface="Hanken Grotesk" pitchFamily="34" charset="-120"/>
              </a:rPr>
              <a:t>Your real inbox</a:t>
            </a:r>
            <a:endParaRPr lang="en-US" sz="2250" dirty="0"/>
          </a:p>
        </p:txBody>
      </p:sp>
      <p:sp>
        <p:nvSpPr>
          <p:cNvPr id="15" name="Text 13"/>
          <p:cNvSpPr/>
          <p:nvPr/>
        </p:nvSpPr>
        <p:spPr>
          <a:xfrm>
            <a:off x="12512725" y="6732538"/>
            <a:ext cx="4467110" cy="701576"/>
          </a:xfrm>
          <a:prstGeom prst="rect">
            <a:avLst/>
          </a:prstGeom>
          <a:noFill/>
          <a:ln/>
        </p:spPr>
        <p:txBody>
          <a:bodyPr wrap="square" lIns="25400" tIns="25400" rIns="25400" bIns="25400" rtlCol="0" anchor="t">
            <a:normAutofit/>
          </a:bodyPr>
          <a:lstStyle/>
          <a:p>
            <a:pPr algn="l" indent="0" marL="0">
              <a:lnSpc>
                <a:spcPct val="134000"/>
              </a:lnSpc>
              <a:buNone/>
            </a:pPr>
            <a:r>
              <a:rPr lang="en-US" sz="1950" dirty="0">
                <a:solidFill>
                  <a:srgbClr val="000000"/>
                </a:solidFill>
                <a:latin typeface="Hanken Grotesk" pitchFamily="34" charset="0"/>
                <a:ea typeface="Hanken Grotesk" pitchFamily="34" charset="-122"/>
                <a:cs typeface="Hanken Grotesk" pitchFamily="34" charset="-120"/>
              </a:rPr>
              <a:t>Gmail, Outlook, Proton — whatever you use today. Nothing to migrate.</a:t>
            </a:r>
            <a:endParaRPr lang="en-US" sz="1950" dirty="0"/>
          </a:p>
        </p:txBody>
      </p:sp>
      <p:sp>
        <p:nvSpPr>
          <p:cNvPr id="16" name="Text 14"/>
          <p:cNvSpPr/>
          <p:nvPr/>
        </p:nvSpPr>
        <p:spPr>
          <a:xfrm>
            <a:off x="1143000" y="8575477"/>
            <a:ext cx="7947014" cy="378023"/>
          </a:xfrm>
          <a:prstGeom prst="rect">
            <a:avLst/>
          </a:prstGeom>
          <a:noFill/>
          <a:ln/>
        </p:spPr>
        <p:txBody>
          <a:bodyPr wrap="square" lIns="25400" tIns="25400" rIns="25400" bIns="25400" rtlCol="0" anchor="t">
            <a:normAutofit/>
          </a:bodyPr>
          <a:lstStyle/>
          <a:p>
            <a:pPr algn="l" indent="0" marL="0">
              <a:lnSpc>
                <a:spcPct val="105000"/>
              </a:lnSpc>
              <a:buNone/>
            </a:pPr>
            <a:r>
              <a:rPr lang="en-US" sz="2550" b="1" spc="-25" kern="0" dirty="0">
                <a:solidFill>
                  <a:srgbClr val="000000"/>
                </a:solidFill>
                <a:latin typeface="Hanken Grotesk" pitchFamily="34" charset="0"/>
                <a:ea typeface="Hanken Grotesk" pitchFamily="34" charset="-122"/>
                <a:cs typeface="Hanken Grotesk" pitchFamily="34" charset="-120"/>
              </a:rPr>
              <a:t>Nullbox doesn't replace your inbox. It sits in front of it.</a:t>
            </a:r>
            <a:endParaRPr lang="en-US" sz="2550" dirty="0"/>
          </a:p>
        </p:txBody>
      </p:sp>
      <p:sp>
        <p:nvSpPr>
          <p:cNvPr id="17" name="Text 15"/>
          <p:cNvSpPr/>
          <p:nvPr/>
        </p:nvSpPr>
        <p:spPr>
          <a:xfrm>
            <a:off x="9491365" y="8597801"/>
            <a:ext cx="7883244"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Disable or rotate any alias without touching the rest.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143000" y="1047750"/>
            <a:ext cx="3616641"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04 — WHY WE'RE DIFFERENT</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78477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Trust by design, not by promise.</a:t>
            </a:r>
            <a:endParaRPr lang="en-US" sz="6000" dirty="0"/>
          </a:p>
        </p:txBody>
      </p:sp>
      <p:sp>
        <p:nvSpPr>
          <p:cNvPr id="5" name="Text 3"/>
          <p:cNvSpPr/>
          <p:nvPr/>
        </p:nvSpPr>
        <p:spPr>
          <a:xfrm>
            <a:off x="1143000" y="2804071"/>
            <a:ext cx="7581717"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Most relays forward everything and ask you to trust them. Nullbox is built so there's far less to trust.</a:t>
            </a:r>
            <a:endParaRPr lang="en-US" sz="2250" dirty="0"/>
          </a:p>
        </p:txBody>
      </p:sp>
      <p:sp>
        <p:nvSpPr>
          <p:cNvPr id="6" name="Text 4"/>
          <p:cNvSpPr/>
          <p:nvPr/>
        </p:nvSpPr>
        <p:spPr>
          <a:xfrm>
            <a:off x="1514475" y="4451896"/>
            <a:ext cx="4532567"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We never open your mail</a:t>
            </a:r>
            <a:endParaRPr lang="en-US" sz="3000" dirty="0"/>
          </a:p>
        </p:txBody>
      </p:sp>
      <p:sp>
        <p:nvSpPr>
          <p:cNvPr id="7" name="Text 5"/>
          <p:cNvSpPr/>
          <p:nvPr/>
        </p:nvSpPr>
        <p:spPr>
          <a:xfrm>
            <a:off x="1514475" y="5004346"/>
            <a:ext cx="4532567" cy="20383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Nullbox decides what to do using only the envelope — who it's from and which alias it's for. The message itself is never opened or read.</a:t>
            </a:r>
            <a:endParaRPr lang="en-US" sz="2250" dirty="0"/>
          </a:p>
        </p:txBody>
      </p:sp>
      <p:sp>
        <p:nvSpPr>
          <p:cNvPr id="8" name="Text 6"/>
          <p:cNvSpPr/>
          <p:nvPr/>
        </p:nvSpPr>
        <p:spPr>
          <a:xfrm>
            <a:off x="1514475" y="8782050"/>
            <a:ext cx="4532567"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we never read your mail</a:t>
            </a:r>
            <a:endParaRPr lang="en-US" sz="1800" dirty="0"/>
          </a:p>
        </p:txBody>
      </p:sp>
      <p:sp>
        <p:nvSpPr>
          <p:cNvPr id="9" name="Text 7"/>
          <p:cNvSpPr/>
          <p:nvPr/>
        </p:nvSpPr>
        <p:spPr>
          <a:xfrm>
            <a:off x="6943725" y="4451896"/>
            <a:ext cx="4532567"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Decide, then trust</a:t>
            </a:r>
            <a:endParaRPr lang="en-US" sz="3000" dirty="0"/>
          </a:p>
        </p:txBody>
      </p:sp>
      <p:sp>
        <p:nvSpPr>
          <p:cNvPr id="10" name="Text 8"/>
          <p:cNvSpPr/>
          <p:nvPr/>
        </p:nvSpPr>
        <p:spPr>
          <a:xfrm>
            <a:off x="6943725" y="5004346"/>
            <a:ext cx="4532567" cy="16383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Unknown senders are quarantined, not delivered. You choose who earns a place in your inbox — once.</a:t>
            </a:r>
            <a:endParaRPr lang="en-US" sz="2250" dirty="0"/>
          </a:p>
        </p:txBody>
      </p:sp>
      <p:sp>
        <p:nvSpPr>
          <p:cNvPr id="11" name="Text 9"/>
          <p:cNvSpPr/>
          <p:nvPr/>
        </p:nvSpPr>
        <p:spPr>
          <a:xfrm>
            <a:off x="6943725" y="8782050"/>
            <a:ext cx="4532567"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quarantine by default</a:t>
            </a:r>
            <a:endParaRPr lang="en-US" sz="1800" dirty="0"/>
          </a:p>
        </p:txBody>
      </p:sp>
      <p:sp>
        <p:nvSpPr>
          <p:cNvPr id="12" name="Text 10"/>
          <p:cNvSpPr/>
          <p:nvPr/>
        </p:nvSpPr>
        <p:spPr>
          <a:xfrm>
            <a:off x="12372975" y="4451896"/>
            <a:ext cx="4532567"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Minimal by default</a:t>
            </a:r>
            <a:endParaRPr lang="en-US" sz="3000" dirty="0"/>
          </a:p>
        </p:txBody>
      </p:sp>
      <p:sp>
        <p:nvSpPr>
          <p:cNvPr id="13" name="Text 11"/>
          <p:cNvSpPr/>
          <p:nvPr/>
        </p:nvSpPr>
        <p:spPr>
          <a:xfrm>
            <a:off x="12372975" y="5004346"/>
            <a:ext cx="4532567" cy="16383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We keep as little as possible, store no copies of your mail, and wipe our routing history every 90 days.</a:t>
            </a:r>
            <a:endParaRPr lang="en-US" sz="2250" dirty="0"/>
          </a:p>
        </p:txBody>
      </p:sp>
      <p:sp>
        <p:nvSpPr>
          <p:cNvPr id="14" name="Text 12"/>
          <p:cNvSpPr/>
          <p:nvPr/>
        </p:nvSpPr>
        <p:spPr>
          <a:xfrm>
            <a:off x="12372975" y="8782050"/>
            <a:ext cx="4532567"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90-day log deletion</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143000" y="1047750"/>
            <a:ext cx="2563416"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05 — HOW IT WORKS</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654100"/>
          </a:xfrm>
          <a:prstGeom prst="rect">
            <a:avLst/>
          </a:prstGeom>
          <a:noFill/>
          <a:ln/>
        </p:spPr>
        <p:txBody>
          <a:bodyPr wrap="square" lIns="25400" tIns="25400" rIns="25400" bIns="25400" rtlCol="0" anchor="t">
            <a:normAutofit/>
          </a:bodyPr>
          <a:lstStyle/>
          <a:p>
            <a:pPr algn="l" indent="0" marL="0">
              <a:lnSpc>
                <a:spcPct val="98000"/>
              </a:lnSpc>
              <a:buNone/>
            </a:pPr>
            <a:r>
              <a:rPr lang="en-US" sz="4950" b="1" spc="-124" kern="0" dirty="0">
                <a:solidFill>
                  <a:srgbClr val="000000"/>
                </a:solidFill>
                <a:latin typeface="Hanken Grotesk" pitchFamily="34" charset="0"/>
                <a:ea typeface="Hanken Grotesk" pitchFamily="34" charset="-122"/>
                <a:cs typeface="Hanken Grotesk" pitchFamily="34" charset="-120"/>
              </a:rPr>
              <a:t>Every email is checked before it reaches you.</a:t>
            </a:r>
            <a:endParaRPr lang="en-US" sz="4950" dirty="0"/>
          </a:p>
        </p:txBody>
      </p:sp>
      <p:sp>
        <p:nvSpPr>
          <p:cNvPr id="5" name="Text 3"/>
          <p:cNvSpPr/>
          <p:nvPr/>
        </p:nvSpPr>
        <p:spPr>
          <a:xfrm>
            <a:off x="1143000" y="2616250"/>
            <a:ext cx="8570610"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Nothing lands in your inbox until Nullbox has looked at who sent it — and decided what to do.</a:t>
            </a:r>
            <a:endParaRPr lang="en-US" sz="2250" dirty="0"/>
          </a:p>
        </p:txBody>
      </p:sp>
      <p:sp>
        <p:nvSpPr>
          <p:cNvPr id="6" name="Text 4"/>
          <p:cNvSpPr/>
          <p:nvPr/>
        </p:nvSpPr>
        <p:spPr>
          <a:xfrm>
            <a:off x="1438275" y="5853261"/>
            <a:ext cx="3041332" cy="333375"/>
          </a:xfrm>
          <a:prstGeom prst="rect">
            <a:avLst/>
          </a:prstGeom>
          <a:noFill/>
          <a:ln/>
        </p:spPr>
        <p:txBody>
          <a:bodyPr wrap="square" lIns="25400" tIns="25400" rIns="25400" bIns="25400" rtlCol="0" anchor="t">
            <a:normAutofit/>
          </a:bodyPr>
          <a:lstStyle/>
          <a:p>
            <a:pPr algn="l" indent="0" marL="0">
              <a:buNone/>
            </a:pPr>
            <a:r>
              <a:rPr lang="en-US" sz="1800" spc="90" kern="0" dirty="0">
                <a:solidFill>
                  <a:srgbClr val="000000"/>
                </a:solidFill>
                <a:latin typeface="JetBrains Mono" pitchFamily="34" charset="0"/>
                <a:ea typeface="JetBrains Mono" pitchFamily="34" charset="-122"/>
                <a:cs typeface="JetBrains Mono" pitchFamily="34" charset="-120"/>
              </a:rPr>
              <a:t>STEP 1</a:t>
            </a:r>
            <a:endParaRPr lang="en-US" sz="1800" dirty="0"/>
          </a:p>
        </p:txBody>
      </p:sp>
      <p:sp>
        <p:nvSpPr>
          <p:cNvPr id="7" name="Text 5"/>
          <p:cNvSpPr/>
          <p:nvPr/>
        </p:nvSpPr>
        <p:spPr>
          <a:xfrm>
            <a:off x="1438275" y="6281886"/>
            <a:ext cx="3041332" cy="409575"/>
          </a:xfrm>
          <a:prstGeom prst="rect">
            <a:avLst/>
          </a:prstGeom>
          <a:noFill/>
          <a:ln/>
        </p:spPr>
        <p:txBody>
          <a:bodyPr wrap="square" lIns="25400" tIns="25400" rIns="25400" bIns="25400" rtlCol="0" anchor="t">
            <a:normAutofit/>
          </a:bodyPr>
          <a:lstStyle/>
          <a:p>
            <a:pPr algn="l" indent="0" marL="0">
              <a:buNone/>
            </a:pPr>
            <a:r>
              <a:rPr lang="en-US" sz="2250" b="1" spc="-22" kern="0" dirty="0">
                <a:solidFill>
                  <a:srgbClr val="000000"/>
                </a:solidFill>
                <a:latin typeface="Hanken Grotesk" pitchFamily="34" charset="0"/>
                <a:ea typeface="Hanken Grotesk" pitchFamily="34" charset="-122"/>
                <a:cs typeface="Hanken Grotesk" pitchFamily="34" charset="-120"/>
              </a:rPr>
              <a:t>A message arrives</a:t>
            </a:r>
            <a:endParaRPr lang="en-US" sz="2250" dirty="0"/>
          </a:p>
        </p:txBody>
      </p:sp>
      <p:sp>
        <p:nvSpPr>
          <p:cNvPr id="8" name="Text 6"/>
          <p:cNvSpPr/>
          <p:nvPr/>
        </p:nvSpPr>
        <p:spPr>
          <a:xfrm>
            <a:off x="1438275" y="6786711"/>
            <a:ext cx="3041332" cy="701576"/>
          </a:xfrm>
          <a:prstGeom prst="rect">
            <a:avLst/>
          </a:prstGeom>
          <a:noFill/>
          <a:ln/>
        </p:spPr>
        <p:txBody>
          <a:bodyPr wrap="square" lIns="25400" tIns="25400" rIns="25400" bIns="25400" rtlCol="0" anchor="t">
            <a:normAutofit/>
          </a:bodyPr>
          <a:lstStyle/>
          <a:p>
            <a:pPr algn="l" indent="0" marL="0">
              <a:lnSpc>
                <a:spcPct val="134000"/>
              </a:lnSpc>
              <a:buNone/>
            </a:pPr>
            <a:r>
              <a:rPr lang="en-US" sz="1950" dirty="0">
                <a:solidFill>
                  <a:srgbClr val="000000"/>
                </a:solidFill>
                <a:latin typeface="Hanken Grotesk" pitchFamily="34" charset="0"/>
                <a:ea typeface="Hanken Grotesk" pitchFamily="34" charset="-122"/>
                <a:cs typeface="Hanken Grotesk" pitchFamily="34" charset="-120"/>
              </a:rPr>
              <a:t>Someone sends mail to one of your aliases.</a:t>
            </a:r>
            <a:endParaRPr lang="en-US" sz="1950" dirty="0"/>
          </a:p>
        </p:txBody>
      </p:sp>
      <p:sp>
        <p:nvSpPr>
          <p:cNvPr id="9" name="Text 7"/>
          <p:cNvSpPr/>
          <p:nvPr/>
        </p:nvSpPr>
        <p:spPr>
          <a:xfrm>
            <a:off x="4648200" y="5538936"/>
            <a:ext cx="685800" cy="2890689"/>
          </a:xfrm>
          <a:prstGeom prst="rect">
            <a:avLst/>
          </a:prstGeom>
          <a:noFill/>
          <a:ln/>
        </p:spPr>
        <p:txBody>
          <a:bodyPr wrap="square" lIns="25400" tIns="25400" rIns="25400" bIns="25400" rtlCol="0" anchor="ctr">
            <a:normAutofit/>
          </a:bodyPr>
          <a:lstStyle/>
          <a:p>
            <a:pPr algn="ctr" indent="0" marL="0">
              <a:buNone/>
            </a:pPr>
            <a:r>
              <a:rPr lang="en-US" sz="2550" dirty="0">
                <a:solidFill>
                  <a:srgbClr val="135BFD"/>
                </a:solidFill>
                <a:latin typeface="Hanken Grotesk" pitchFamily="34" charset="0"/>
                <a:ea typeface="Hanken Grotesk" pitchFamily="34" charset="-122"/>
                <a:cs typeface="Hanken Grotesk" pitchFamily="34" charset="-120"/>
              </a:rPr>
              <a:t>→</a:t>
            </a:r>
            <a:endParaRPr lang="en-US" sz="2550" dirty="0"/>
          </a:p>
        </p:txBody>
      </p:sp>
      <p:sp>
        <p:nvSpPr>
          <p:cNvPr id="10" name="Text 8"/>
          <p:cNvSpPr/>
          <p:nvPr/>
        </p:nvSpPr>
        <p:spPr>
          <a:xfrm>
            <a:off x="5591175" y="5853261"/>
            <a:ext cx="3041332" cy="333375"/>
          </a:xfrm>
          <a:prstGeom prst="rect">
            <a:avLst/>
          </a:prstGeom>
          <a:noFill/>
          <a:ln/>
        </p:spPr>
        <p:txBody>
          <a:bodyPr wrap="square" lIns="25400" tIns="25400" rIns="25400" bIns="25400" rtlCol="0" anchor="t">
            <a:normAutofit/>
          </a:bodyPr>
          <a:lstStyle/>
          <a:p>
            <a:pPr algn="l" indent="0" marL="0">
              <a:buNone/>
            </a:pPr>
            <a:r>
              <a:rPr lang="en-US" sz="1800" spc="90" kern="0" dirty="0">
                <a:solidFill>
                  <a:srgbClr val="000000"/>
                </a:solidFill>
                <a:latin typeface="JetBrains Mono" pitchFamily="34" charset="0"/>
                <a:ea typeface="JetBrains Mono" pitchFamily="34" charset="-122"/>
                <a:cs typeface="JetBrains Mono" pitchFamily="34" charset="-120"/>
              </a:rPr>
              <a:t>STEP 2</a:t>
            </a:r>
            <a:endParaRPr lang="en-US" sz="1800" dirty="0"/>
          </a:p>
        </p:txBody>
      </p:sp>
      <p:sp>
        <p:nvSpPr>
          <p:cNvPr id="11" name="Text 9"/>
          <p:cNvSpPr/>
          <p:nvPr/>
        </p:nvSpPr>
        <p:spPr>
          <a:xfrm>
            <a:off x="5591175" y="6281886"/>
            <a:ext cx="3041332" cy="409575"/>
          </a:xfrm>
          <a:prstGeom prst="rect">
            <a:avLst/>
          </a:prstGeom>
          <a:noFill/>
          <a:ln/>
        </p:spPr>
        <p:txBody>
          <a:bodyPr wrap="square" lIns="25400" tIns="25400" rIns="25400" bIns="25400" rtlCol="0" anchor="t">
            <a:normAutofit/>
          </a:bodyPr>
          <a:lstStyle/>
          <a:p>
            <a:pPr algn="l" indent="0" marL="0">
              <a:buNone/>
            </a:pPr>
            <a:r>
              <a:rPr lang="en-US" sz="2250" b="1" spc="-22" kern="0" dirty="0">
                <a:solidFill>
                  <a:srgbClr val="000000"/>
                </a:solidFill>
                <a:latin typeface="Hanken Grotesk" pitchFamily="34" charset="0"/>
                <a:ea typeface="Hanken Grotesk" pitchFamily="34" charset="-122"/>
                <a:cs typeface="Hanken Grotesk" pitchFamily="34" charset="-120"/>
              </a:rPr>
              <a:t>We check the sender</a:t>
            </a:r>
            <a:endParaRPr lang="en-US" sz="2250" dirty="0"/>
          </a:p>
        </p:txBody>
      </p:sp>
      <p:sp>
        <p:nvSpPr>
          <p:cNvPr id="12" name="Text 10"/>
          <p:cNvSpPr/>
          <p:nvPr/>
        </p:nvSpPr>
        <p:spPr>
          <a:xfrm>
            <a:off x="5591175" y="6786711"/>
            <a:ext cx="3041332" cy="1033314"/>
          </a:xfrm>
          <a:prstGeom prst="rect">
            <a:avLst/>
          </a:prstGeom>
          <a:noFill/>
          <a:ln/>
        </p:spPr>
        <p:txBody>
          <a:bodyPr wrap="square" lIns="25400" tIns="25400" rIns="25400" bIns="25400" rtlCol="0" anchor="t">
            <a:normAutofit/>
          </a:bodyPr>
          <a:lstStyle/>
          <a:p>
            <a:pPr algn="l" indent="0" marL="0">
              <a:lnSpc>
                <a:spcPct val="134000"/>
              </a:lnSpc>
              <a:buNone/>
            </a:pPr>
            <a:r>
              <a:rPr lang="en-US" sz="1950" dirty="0">
                <a:solidFill>
                  <a:srgbClr val="000000"/>
                </a:solidFill>
                <a:latin typeface="Hanken Grotesk" pitchFamily="34" charset="0"/>
                <a:ea typeface="Hanken Grotesk" pitchFamily="34" charset="-122"/>
                <a:cs typeface="Hanken Grotesk" pitchFamily="34" charset="-120"/>
              </a:rPr>
              <a:t>Before anything else, Nullbox looks at who it's really from.</a:t>
            </a:r>
            <a:endParaRPr lang="en-US" sz="1950" dirty="0"/>
          </a:p>
        </p:txBody>
      </p:sp>
      <p:sp>
        <p:nvSpPr>
          <p:cNvPr id="13" name="Text 11"/>
          <p:cNvSpPr/>
          <p:nvPr/>
        </p:nvSpPr>
        <p:spPr>
          <a:xfrm>
            <a:off x="8801100" y="5538936"/>
            <a:ext cx="685800" cy="2890689"/>
          </a:xfrm>
          <a:prstGeom prst="rect">
            <a:avLst/>
          </a:prstGeom>
          <a:noFill/>
          <a:ln/>
        </p:spPr>
        <p:txBody>
          <a:bodyPr wrap="square" lIns="25400" tIns="25400" rIns="25400" bIns="25400" rtlCol="0" anchor="ctr">
            <a:normAutofit/>
          </a:bodyPr>
          <a:lstStyle/>
          <a:p>
            <a:pPr algn="ctr" indent="0" marL="0">
              <a:buNone/>
            </a:pPr>
            <a:r>
              <a:rPr lang="en-US" sz="2550" dirty="0">
                <a:solidFill>
                  <a:srgbClr val="135BFD"/>
                </a:solidFill>
                <a:latin typeface="Hanken Grotesk" pitchFamily="34" charset="0"/>
                <a:ea typeface="Hanken Grotesk" pitchFamily="34" charset="-122"/>
                <a:cs typeface="Hanken Grotesk" pitchFamily="34" charset="-120"/>
              </a:rPr>
              <a:t>→</a:t>
            </a:r>
            <a:endParaRPr lang="en-US" sz="2550" dirty="0"/>
          </a:p>
        </p:txBody>
      </p:sp>
      <p:sp>
        <p:nvSpPr>
          <p:cNvPr id="14" name="Text 12"/>
          <p:cNvSpPr/>
          <p:nvPr/>
        </p:nvSpPr>
        <p:spPr>
          <a:xfrm>
            <a:off x="9744075" y="5853261"/>
            <a:ext cx="3041332" cy="628650"/>
          </a:xfrm>
          <a:prstGeom prst="rect">
            <a:avLst/>
          </a:prstGeom>
          <a:noFill/>
          <a:ln/>
        </p:spPr>
        <p:txBody>
          <a:bodyPr wrap="square" lIns="25400" tIns="25400" rIns="25400" bIns="25400" rtlCol="0" anchor="t">
            <a:normAutofit/>
          </a:bodyPr>
          <a:lstStyle/>
          <a:p>
            <a:pPr algn="l" indent="0" marL="0">
              <a:buNone/>
            </a:pPr>
            <a:r>
              <a:rPr lang="en-US" sz="1800" spc="90" kern="0" dirty="0">
                <a:solidFill>
                  <a:srgbClr val="135BFD"/>
                </a:solidFill>
                <a:latin typeface="JetBrains Mono" pitchFamily="34" charset="0"/>
                <a:ea typeface="JetBrains Mono" pitchFamily="34" charset="-122"/>
                <a:cs typeface="JetBrains Mono" pitchFamily="34" charset="-120"/>
              </a:rPr>
              <a:t>STEP 3 · THE DECISION</a:t>
            </a:r>
            <a:endParaRPr lang="en-US" sz="1800" dirty="0"/>
          </a:p>
        </p:txBody>
      </p:sp>
      <p:sp>
        <p:nvSpPr>
          <p:cNvPr id="15" name="Text 13"/>
          <p:cNvSpPr/>
          <p:nvPr/>
        </p:nvSpPr>
        <p:spPr>
          <a:xfrm>
            <a:off x="9744075" y="6577161"/>
            <a:ext cx="3041332" cy="409575"/>
          </a:xfrm>
          <a:prstGeom prst="rect">
            <a:avLst/>
          </a:prstGeom>
          <a:noFill/>
          <a:ln/>
        </p:spPr>
        <p:txBody>
          <a:bodyPr wrap="square" lIns="25400" tIns="25400" rIns="25400" bIns="25400" rtlCol="0" anchor="t">
            <a:normAutofit/>
          </a:bodyPr>
          <a:lstStyle/>
          <a:p>
            <a:pPr algn="l" indent="0" marL="0">
              <a:buNone/>
            </a:pPr>
            <a:r>
              <a:rPr lang="en-US" sz="2250" b="1" spc="-22" kern="0" dirty="0">
                <a:solidFill>
                  <a:srgbClr val="000000"/>
                </a:solidFill>
                <a:latin typeface="Hanken Grotesk" pitchFamily="34" charset="0"/>
                <a:ea typeface="Hanken Grotesk" pitchFamily="34" charset="-122"/>
                <a:cs typeface="Hanken Grotesk" pitchFamily="34" charset="-120"/>
              </a:rPr>
              <a:t>Forward, hold or block</a:t>
            </a:r>
            <a:endParaRPr lang="en-US" sz="2250" dirty="0"/>
          </a:p>
        </p:txBody>
      </p:sp>
      <p:sp>
        <p:nvSpPr>
          <p:cNvPr id="16" name="Text 14"/>
          <p:cNvSpPr/>
          <p:nvPr/>
        </p:nvSpPr>
        <p:spPr>
          <a:xfrm>
            <a:off x="9744075" y="7081986"/>
            <a:ext cx="3041332" cy="1033314"/>
          </a:xfrm>
          <a:prstGeom prst="rect">
            <a:avLst/>
          </a:prstGeom>
          <a:noFill/>
          <a:ln/>
        </p:spPr>
        <p:txBody>
          <a:bodyPr wrap="square" lIns="25400" tIns="25400" rIns="25400" bIns="25400" rtlCol="0" anchor="t">
            <a:normAutofit/>
          </a:bodyPr>
          <a:lstStyle/>
          <a:p>
            <a:pPr algn="l" indent="0" marL="0">
              <a:lnSpc>
                <a:spcPct val="134000"/>
              </a:lnSpc>
              <a:buNone/>
            </a:pPr>
            <a:r>
              <a:rPr lang="en-US" sz="1950" dirty="0">
                <a:solidFill>
                  <a:srgbClr val="000000"/>
                </a:solidFill>
                <a:latin typeface="Hanken Grotesk" pitchFamily="34" charset="0"/>
                <a:ea typeface="Hanken Grotesk" pitchFamily="34" charset="-122"/>
                <a:cs typeface="Hanken Grotesk" pitchFamily="34" charset="-120"/>
              </a:rPr>
              <a:t>One of three things happens — based on whether you trust them.</a:t>
            </a:r>
            <a:endParaRPr lang="en-US" sz="1950" dirty="0"/>
          </a:p>
        </p:txBody>
      </p:sp>
      <p:sp>
        <p:nvSpPr>
          <p:cNvPr id="17" name="Text 15"/>
          <p:cNvSpPr/>
          <p:nvPr/>
        </p:nvSpPr>
        <p:spPr>
          <a:xfrm>
            <a:off x="12954000" y="5538936"/>
            <a:ext cx="685800" cy="2890689"/>
          </a:xfrm>
          <a:prstGeom prst="rect">
            <a:avLst/>
          </a:prstGeom>
          <a:noFill/>
          <a:ln/>
        </p:spPr>
        <p:txBody>
          <a:bodyPr wrap="square" lIns="25400" tIns="25400" rIns="25400" bIns="25400" rtlCol="0" anchor="ctr">
            <a:normAutofit/>
          </a:bodyPr>
          <a:lstStyle/>
          <a:p>
            <a:pPr algn="ctr" indent="0" marL="0">
              <a:buNone/>
            </a:pPr>
            <a:r>
              <a:rPr lang="en-US" sz="2550" dirty="0">
                <a:solidFill>
                  <a:srgbClr val="135BFD"/>
                </a:solidFill>
                <a:latin typeface="Hanken Grotesk" pitchFamily="34" charset="0"/>
                <a:ea typeface="Hanken Grotesk" pitchFamily="34" charset="-122"/>
                <a:cs typeface="Hanken Grotesk" pitchFamily="34" charset="-120"/>
              </a:rPr>
              <a:t>→</a:t>
            </a:r>
            <a:endParaRPr lang="en-US" sz="2550" dirty="0"/>
          </a:p>
        </p:txBody>
      </p:sp>
      <p:sp>
        <p:nvSpPr>
          <p:cNvPr id="18" name="Text 16"/>
          <p:cNvSpPr/>
          <p:nvPr/>
        </p:nvSpPr>
        <p:spPr>
          <a:xfrm>
            <a:off x="13896975" y="5853261"/>
            <a:ext cx="3041332" cy="333375"/>
          </a:xfrm>
          <a:prstGeom prst="rect">
            <a:avLst/>
          </a:prstGeom>
          <a:noFill/>
          <a:ln/>
        </p:spPr>
        <p:txBody>
          <a:bodyPr wrap="square" lIns="25400" tIns="25400" rIns="25400" bIns="25400" rtlCol="0" anchor="t">
            <a:normAutofit/>
          </a:bodyPr>
          <a:lstStyle/>
          <a:p>
            <a:pPr algn="l" indent="0" marL="0">
              <a:buNone/>
            </a:pPr>
            <a:r>
              <a:rPr lang="en-US" sz="1800" spc="90" kern="0" dirty="0">
                <a:solidFill>
                  <a:srgbClr val="000000"/>
                </a:solidFill>
                <a:latin typeface="JetBrains Mono" pitchFamily="34" charset="0"/>
                <a:ea typeface="JetBrains Mono" pitchFamily="34" charset="-122"/>
                <a:cs typeface="JetBrains Mono" pitchFamily="34" charset="-120"/>
              </a:rPr>
              <a:t>STEP 4</a:t>
            </a:r>
            <a:endParaRPr lang="en-US" sz="1800" dirty="0"/>
          </a:p>
        </p:txBody>
      </p:sp>
      <p:sp>
        <p:nvSpPr>
          <p:cNvPr id="19" name="Text 17"/>
          <p:cNvSpPr/>
          <p:nvPr/>
        </p:nvSpPr>
        <p:spPr>
          <a:xfrm>
            <a:off x="13896975" y="6281886"/>
            <a:ext cx="3041332" cy="409575"/>
          </a:xfrm>
          <a:prstGeom prst="rect">
            <a:avLst/>
          </a:prstGeom>
          <a:noFill/>
          <a:ln/>
        </p:spPr>
        <p:txBody>
          <a:bodyPr wrap="square" lIns="25400" tIns="25400" rIns="25400" bIns="25400" rtlCol="0" anchor="t">
            <a:normAutofit/>
          </a:bodyPr>
          <a:lstStyle/>
          <a:p>
            <a:pPr algn="l" indent="0" marL="0">
              <a:buNone/>
            </a:pPr>
            <a:r>
              <a:rPr lang="en-US" sz="2250" b="1" spc="-22" kern="0" dirty="0">
                <a:solidFill>
                  <a:srgbClr val="000000"/>
                </a:solidFill>
                <a:latin typeface="Hanken Grotesk" pitchFamily="34" charset="0"/>
                <a:ea typeface="Hanken Grotesk" pitchFamily="34" charset="-122"/>
                <a:cs typeface="Hanken Grotesk" pitchFamily="34" charset="-120"/>
              </a:rPr>
              <a:t>Your inbox</a:t>
            </a:r>
            <a:endParaRPr lang="en-US" sz="2250" dirty="0"/>
          </a:p>
        </p:txBody>
      </p:sp>
      <p:sp>
        <p:nvSpPr>
          <p:cNvPr id="20" name="Text 18"/>
          <p:cNvSpPr/>
          <p:nvPr/>
        </p:nvSpPr>
        <p:spPr>
          <a:xfrm>
            <a:off x="13896975" y="6786711"/>
            <a:ext cx="3041332" cy="1033314"/>
          </a:xfrm>
          <a:prstGeom prst="rect">
            <a:avLst/>
          </a:prstGeom>
          <a:noFill/>
          <a:ln/>
        </p:spPr>
        <p:txBody>
          <a:bodyPr wrap="square" lIns="25400" tIns="25400" rIns="25400" bIns="25400" rtlCol="0" anchor="t">
            <a:normAutofit/>
          </a:bodyPr>
          <a:lstStyle/>
          <a:p>
            <a:pPr algn="l" indent="0" marL="0">
              <a:lnSpc>
                <a:spcPct val="134000"/>
              </a:lnSpc>
              <a:buNone/>
            </a:pPr>
            <a:r>
              <a:rPr lang="en-US" sz="1950" dirty="0">
                <a:solidFill>
                  <a:srgbClr val="000000"/>
                </a:solidFill>
                <a:latin typeface="Hanken Grotesk" pitchFamily="34" charset="0"/>
                <a:ea typeface="Hanken Grotesk" pitchFamily="34" charset="-122"/>
                <a:cs typeface="Hanken Grotesk" pitchFamily="34" charset="-120"/>
              </a:rPr>
              <a:t>Mail from people you trust arrives as normal. You never see the rest.</a:t>
            </a:r>
            <a:endParaRPr lang="en-US" sz="1950" dirty="0"/>
          </a:p>
        </p:txBody>
      </p:sp>
      <p:sp>
        <p:nvSpPr>
          <p:cNvPr id="21" name="Shape 19"/>
          <p:cNvSpPr/>
          <p:nvPr/>
        </p:nvSpPr>
        <p:spPr>
          <a:xfrm>
            <a:off x="1323975" y="9163050"/>
            <a:ext cx="85725" cy="85725"/>
          </a:xfrm>
          <a:prstGeom prst="ellipse">
            <a:avLst/>
          </a:prstGeom>
          <a:solidFill>
            <a:srgbClr val="135BFD"/>
          </a:solidFill>
          <a:ln/>
        </p:spPr>
      </p:sp>
      <p:sp>
        <p:nvSpPr>
          <p:cNvPr id="22" name="Text 20"/>
          <p:cNvSpPr/>
          <p:nvPr/>
        </p:nvSpPr>
        <p:spPr>
          <a:xfrm>
            <a:off x="1504950" y="9058275"/>
            <a:ext cx="3941622" cy="333375"/>
          </a:xfrm>
          <a:prstGeom prst="rect">
            <a:avLst/>
          </a:prstGeom>
          <a:noFill/>
          <a:ln/>
        </p:spPr>
        <p:txBody>
          <a:bodyPr wrap="square" lIns="0" tIns="0" rIns="0" bIns="0" rtlCol="0" anchor="t">
            <a:normAutofit/>
          </a:bodyPr>
          <a:lstStyle/>
          <a:p>
            <a:pPr algn="l" indent="0" marL="0">
              <a:buNone/>
            </a:pPr>
            <a:r>
              <a:rPr lang="en-US" sz="1800" spc="36" kern="0" dirty="0">
                <a:solidFill>
                  <a:srgbClr val="135BFD"/>
                </a:solidFill>
                <a:latin typeface="JetBrains Mono" pitchFamily="34" charset="0"/>
                <a:ea typeface="JetBrains Mono" pitchFamily="34" charset="-122"/>
                <a:cs typeface="JetBrains Mono" pitchFamily="34" charset="-120"/>
              </a:rPr>
              <a:t>Forward — someone you trust</a:t>
            </a:r>
            <a:endParaRPr lang="en-US" sz="1800" dirty="0"/>
          </a:p>
        </p:txBody>
      </p:sp>
      <p:sp>
        <p:nvSpPr>
          <p:cNvPr id="23" name="Shape 21"/>
          <p:cNvSpPr/>
          <p:nvPr/>
        </p:nvSpPr>
        <p:spPr>
          <a:xfrm rot="2700000">
            <a:off x="5865168" y="9158288"/>
            <a:ext cx="95250" cy="95250"/>
          </a:xfrm>
          <a:prstGeom prst="rect">
            <a:avLst/>
          </a:prstGeom>
          <a:solidFill>
            <a:srgbClr val="135BFD"/>
          </a:solidFill>
          <a:ln/>
        </p:spPr>
      </p:sp>
      <p:sp>
        <p:nvSpPr>
          <p:cNvPr id="24" name="Text 22"/>
          <p:cNvSpPr/>
          <p:nvPr/>
        </p:nvSpPr>
        <p:spPr>
          <a:xfrm>
            <a:off x="6055668" y="9058275"/>
            <a:ext cx="2627748" cy="333375"/>
          </a:xfrm>
          <a:prstGeom prst="rect">
            <a:avLst/>
          </a:prstGeom>
          <a:noFill/>
          <a:ln/>
        </p:spPr>
        <p:txBody>
          <a:bodyPr wrap="square" lIns="0" tIns="0" rIns="0" bIns="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Hold — someone new</a:t>
            </a:r>
            <a:endParaRPr lang="en-US" sz="1800" dirty="0"/>
          </a:p>
        </p:txBody>
      </p:sp>
      <p:sp>
        <p:nvSpPr>
          <p:cNvPr id="25" name="Shape 23"/>
          <p:cNvSpPr/>
          <p:nvPr/>
        </p:nvSpPr>
        <p:spPr>
          <a:xfrm rot="2700000">
            <a:off x="9140279" y="9158288"/>
            <a:ext cx="95250" cy="95250"/>
          </a:xfrm>
          <a:prstGeom prst="rect">
            <a:avLst/>
          </a:prstGeom>
          <a:solidFill>
            <a:srgbClr val="135BFD"/>
          </a:solidFill>
          <a:ln/>
        </p:spPr>
      </p:sp>
      <p:sp>
        <p:nvSpPr>
          <p:cNvPr id="26" name="Text 24"/>
          <p:cNvSpPr/>
          <p:nvPr/>
        </p:nvSpPr>
        <p:spPr>
          <a:xfrm>
            <a:off x="9330779" y="9058275"/>
            <a:ext cx="4379580" cy="333375"/>
          </a:xfrm>
          <a:prstGeom prst="rect">
            <a:avLst/>
          </a:prstGeom>
          <a:noFill/>
          <a:ln/>
        </p:spPr>
        <p:txBody>
          <a:bodyPr wrap="square" lIns="0" tIns="0" rIns="0" bIns="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Block — someone you've refused</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143000" y="1047750"/>
            <a:ext cx="3918015"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06 — THE QUARANTINE MOMENT</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153144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Someone new? You decide before they ever reach you.</a:t>
            </a:r>
            <a:endParaRPr lang="en-US" sz="6000" dirty="0"/>
          </a:p>
        </p:txBody>
      </p:sp>
      <p:sp>
        <p:nvSpPr>
          <p:cNvPr id="5" name="Text 3"/>
          <p:cNvSpPr/>
          <p:nvPr/>
        </p:nvSpPr>
        <p:spPr>
          <a:xfrm>
            <a:off x="1114425" y="3941266"/>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35BFD"/>
                </a:solidFill>
                <a:latin typeface="JetBrains Mono" pitchFamily="34" charset="0"/>
                <a:ea typeface="JetBrains Mono" pitchFamily="34" charset="-122"/>
                <a:cs typeface="JetBrains Mono" pitchFamily="34" charset="-120"/>
              </a:rPr>
              <a:t>1</a:t>
            </a:r>
            <a:endParaRPr lang="en-US" sz="1800" dirty="0"/>
          </a:p>
        </p:txBody>
      </p:sp>
      <p:sp>
        <p:nvSpPr>
          <p:cNvPr id="6" name="Text 4"/>
          <p:cNvSpPr/>
          <p:nvPr/>
        </p:nvSpPr>
        <p:spPr>
          <a:xfrm>
            <a:off x="1143000" y="4598491"/>
            <a:ext cx="3757517" cy="378023"/>
          </a:xfrm>
          <a:prstGeom prst="rect">
            <a:avLst/>
          </a:prstGeom>
          <a:noFill/>
          <a:ln/>
        </p:spPr>
        <p:txBody>
          <a:bodyPr wrap="square" lIns="25400" tIns="25400" rIns="25400" bIns="25400" rtlCol="0" anchor="t">
            <a:normAutofit/>
          </a:bodyPr>
          <a:lstStyle/>
          <a:p>
            <a:pPr algn="l" indent="0" marL="0">
              <a:lnSpc>
                <a:spcPct val="105000"/>
              </a:lnSpc>
              <a:buNone/>
            </a:pPr>
            <a:r>
              <a:rPr lang="en-US" sz="2550" b="1" spc="-25" kern="0" dirty="0">
                <a:solidFill>
                  <a:srgbClr val="000000"/>
                </a:solidFill>
                <a:latin typeface="Hanken Grotesk" pitchFamily="34" charset="0"/>
                <a:ea typeface="Hanken Grotesk" pitchFamily="34" charset="-122"/>
                <a:cs typeface="Hanken Grotesk" pitchFamily="34" charset="-120"/>
              </a:rPr>
              <a:t>A stranger emails you</a:t>
            </a:r>
            <a:endParaRPr lang="en-US" sz="2550" dirty="0"/>
          </a:p>
        </p:txBody>
      </p:sp>
      <p:sp>
        <p:nvSpPr>
          <p:cNvPr id="7" name="Text 5"/>
          <p:cNvSpPr/>
          <p:nvPr/>
        </p:nvSpPr>
        <p:spPr>
          <a:xfrm>
            <a:off x="1143000" y="5147965"/>
            <a:ext cx="3757517"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000000"/>
                </a:solidFill>
                <a:latin typeface="Hanken Grotesk" pitchFamily="34" charset="0"/>
                <a:ea typeface="Hanken Grotesk" pitchFamily="34" charset="-122"/>
                <a:cs typeface="Hanken Grotesk" pitchFamily="34" charset="-120"/>
              </a:rPr>
              <a:t>Nullbox doesn't just wave them through to your inbox.</a:t>
            </a:r>
            <a:endParaRPr lang="en-US" sz="1950" dirty="0"/>
          </a:p>
        </p:txBody>
      </p:sp>
      <p:sp>
        <p:nvSpPr>
          <p:cNvPr id="8" name="Text 6"/>
          <p:cNvSpPr/>
          <p:nvPr/>
        </p:nvSpPr>
        <p:spPr>
          <a:xfrm>
            <a:off x="5457825" y="3941266"/>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35BFD"/>
                </a:solidFill>
                <a:latin typeface="JetBrains Mono" pitchFamily="34" charset="0"/>
                <a:ea typeface="JetBrains Mono" pitchFamily="34" charset="-122"/>
                <a:cs typeface="JetBrains Mono" pitchFamily="34" charset="-120"/>
              </a:rPr>
              <a:t>2</a:t>
            </a:r>
            <a:endParaRPr lang="en-US" sz="1800" dirty="0"/>
          </a:p>
        </p:txBody>
      </p:sp>
      <p:sp>
        <p:nvSpPr>
          <p:cNvPr id="9" name="Text 7"/>
          <p:cNvSpPr/>
          <p:nvPr/>
        </p:nvSpPr>
        <p:spPr>
          <a:xfrm>
            <a:off x="5486400" y="4598491"/>
            <a:ext cx="3404330" cy="378023"/>
          </a:xfrm>
          <a:prstGeom prst="rect">
            <a:avLst/>
          </a:prstGeom>
          <a:noFill/>
          <a:ln/>
        </p:spPr>
        <p:txBody>
          <a:bodyPr wrap="square" lIns="25400" tIns="25400" rIns="25400" bIns="25400" rtlCol="0" anchor="t">
            <a:normAutofit/>
          </a:bodyPr>
          <a:lstStyle/>
          <a:p>
            <a:pPr algn="l" indent="0" marL="0">
              <a:lnSpc>
                <a:spcPct val="105000"/>
              </a:lnSpc>
              <a:buNone/>
            </a:pPr>
            <a:r>
              <a:rPr lang="en-US" sz="2550" b="1" spc="-25" kern="0" dirty="0">
                <a:solidFill>
                  <a:srgbClr val="000000"/>
                </a:solidFill>
                <a:latin typeface="Hanken Grotesk" pitchFamily="34" charset="0"/>
                <a:ea typeface="Hanken Grotesk" pitchFamily="34" charset="-122"/>
                <a:cs typeface="Hanken Grotesk" pitchFamily="34" charset="-120"/>
              </a:rPr>
              <a:t>It's held, safely</a:t>
            </a:r>
            <a:endParaRPr lang="en-US" sz="2550" dirty="0"/>
          </a:p>
        </p:txBody>
      </p:sp>
      <p:sp>
        <p:nvSpPr>
          <p:cNvPr id="10" name="Text 8"/>
          <p:cNvSpPr/>
          <p:nvPr/>
        </p:nvSpPr>
        <p:spPr>
          <a:xfrm>
            <a:off x="5486400" y="5147965"/>
            <a:ext cx="3404330"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000000"/>
                </a:solidFill>
                <a:latin typeface="Hanken Grotesk" pitchFamily="34" charset="0"/>
                <a:ea typeface="Hanken Grotesk" pitchFamily="34" charset="-122"/>
                <a:cs typeface="Hanken Grotesk" pitchFamily="34" charset="-120"/>
              </a:rPr>
              <a:t>The message waits, locked away — and we can't read it.</a:t>
            </a:r>
            <a:endParaRPr lang="en-US" sz="1950" dirty="0"/>
          </a:p>
        </p:txBody>
      </p:sp>
      <p:sp>
        <p:nvSpPr>
          <p:cNvPr id="11" name="Text 9"/>
          <p:cNvSpPr/>
          <p:nvPr/>
        </p:nvSpPr>
        <p:spPr>
          <a:xfrm>
            <a:off x="9458325" y="3941266"/>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35BFD"/>
                </a:solidFill>
                <a:latin typeface="JetBrains Mono" pitchFamily="34" charset="0"/>
                <a:ea typeface="JetBrains Mono" pitchFamily="34" charset="-122"/>
                <a:cs typeface="JetBrains Mono" pitchFamily="34" charset="-120"/>
              </a:rPr>
              <a:t>3</a:t>
            </a:r>
            <a:endParaRPr lang="en-US" sz="1800" dirty="0"/>
          </a:p>
        </p:txBody>
      </p:sp>
      <p:sp>
        <p:nvSpPr>
          <p:cNvPr id="12" name="Text 10"/>
          <p:cNvSpPr/>
          <p:nvPr/>
        </p:nvSpPr>
        <p:spPr>
          <a:xfrm>
            <a:off x="9486900" y="4598491"/>
            <a:ext cx="3404330" cy="378023"/>
          </a:xfrm>
          <a:prstGeom prst="rect">
            <a:avLst/>
          </a:prstGeom>
          <a:noFill/>
          <a:ln/>
        </p:spPr>
        <p:txBody>
          <a:bodyPr wrap="square" lIns="25400" tIns="25400" rIns="25400" bIns="25400" rtlCol="0" anchor="t">
            <a:normAutofit/>
          </a:bodyPr>
          <a:lstStyle/>
          <a:p>
            <a:pPr algn="l" indent="0" marL="0">
              <a:lnSpc>
                <a:spcPct val="105000"/>
              </a:lnSpc>
              <a:buNone/>
            </a:pPr>
            <a:r>
              <a:rPr lang="en-US" sz="2550" b="1" spc="-25" kern="0" dirty="0">
                <a:solidFill>
                  <a:srgbClr val="000000"/>
                </a:solidFill>
                <a:latin typeface="Hanken Grotesk" pitchFamily="34" charset="0"/>
                <a:ea typeface="Hanken Grotesk" pitchFamily="34" charset="-122"/>
                <a:cs typeface="Hanken Grotesk" pitchFamily="34" charset="-120"/>
              </a:rPr>
              <a:t>You take a look</a:t>
            </a:r>
            <a:endParaRPr lang="en-US" sz="2550" dirty="0"/>
          </a:p>
        </p:txBody>
      </p:sp>
      <p:sp>
        <p:nvSpPr>
          <p:cNvPr id="13" name="Text 11"/>
          <p:cNvSpPr/>
          <p:nvPr/>
        </p:nvSpPr>
        <p:spPr>
          <a:xfrm>
            <a:off x="9486900" y="5147965"/>
            <a:ext cx="3404330" cy="1077962"/>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000000"/>
                </a:solidFill>
                <a:latin typeface="Hanken Grotesk" pitchFamily="34" charset="0"/>
                <a:ea typeface="Hanken Grotesk" pitchFamily="34" charset="-122"/>
                <a:cs typeface="Hanken Grotesk" pitchFamily="34" charset="-120"/>
              </a:rPr>
              <a:t>Only you can open it — privately, right in your browser.</a:t>
            </a:r>
            <a:endParaRPr lang="en-US" sz="1950" dirty="0"/>
          </a:p>
        </p:txBody>
      </p:sp>
      <p:sp>
        <p:nvSpPr>
          <p:cNvPr id="14" name="Text 12"/>
          <p:cNvSpPr/>
          <p:nvPr/>
        </p:nvSpPr>
        <p:spPr>
          <a:xfrm>
            <a:off x="13458825" y="3941266"/>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35BFD"/>
                </a:solidFill>
                <a:latin typeface="JetBrains Mono" pitchFamily="34" charset="0"/>
                <a:ea typeface="JetBrains Mono" pitchFamily="34" charset="-122"/>
                <a:cs typeface="JetBrains Mono" pitchFamily="34" charset="-120"/>
              </a:rPr>
              <a:t>4</a:t>
            </a:r>
            <a:endParaRPr lang="en-US" sz="1800" dirty="0"/>
          </a:p>
        </p:txBody>
      </p:sp>
      <p:sp>
        <p:nvSpPr>
          <p:cNvPr id="15" name="Text 13"/>
          <p:cNvSpPr/>
          <p:nvPr/>
        </p:nvSpPr>
        <p:spPr>
          <a:xfrm>
            <a:off x="13487400" y="4598491"/>
            <a:ext cx="3767328" cy="378023"/>
          </a:xfrm>
          <a:prstGeom prst="rect">
            <a:avLst/>
          </a:prstGeom>
          <a:noFill/>
          <a:ln/>
        </p:spPr>
        <p:txBody>
          <a:bodyPr wrap="square" lIns="25400" tIns="25400" rIns="25400" bIns="25400" rtlCol="0" anchor="t">
            <a:normAutofit/>
          </a:bodyPr>
          <a:lstStyle/>
          <a:p>
            <a:pPr algn="l" indent="0" marL="0">
              <a:lnSpc>
                <a:spcPct val="105000"/>
              </a:lnSpc>
              <a:buNone/>
            </a:pPr>
            <a:r>
              <a:rPr lang="en-US" sz="2550" b="1" spc="-25" kern="0" dirty="0">
                <a:solidFill>
                  <a:srgbClr val="000000"/>
                </a:solidFill>
                <a:latin typeface="Hanken Grotesk" pitchFamily="34" charset="0"/>
                <a:ea typeface="Hanken Grotesk" pitchFamily="34" charset="-122"/>
                <a:cs typeface="Hanken Grotesk" pitchFamily="34" charset="-120"/>
              </a:rPr>
              <a:t>You decide, once</a:t>
            </a:r>
            <a:endParaRPr lang="en-US" sz="2550" dirty="0"/>
          </a:p>
        </p:txBody>
      </p:sp>
      <p:sp>
        <p:nvSpPr>
          <p:cNvPr id="16" name="Text 14"/>
          <p:cNvSpPr/>
          <p:nvPr/>
        </p:nvSpPr>
        <p:spPr>
          <a:xfrm>
            <a:off x="13487400" y="5147965"/>
            <a:ext cx="3767328" cy="1077962"/>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35BFD"/>
                </a:solidFill>
                <a:latin typeface="Hanken Grotesk" pitchFamily="34" charset="0"/>
                <a:ea typeface="Hanken Grotesk" pitchFamily="34" charset="-122"/>
                <a:cs typeface="Hanken Grotesk" pitchFamily="34" charset="-120"/>
              </a:rPr>
              <a:t>Trust </a:t>
            </a:r>
            <a:pPr algn="l" indent="0" marL="0">
              <a:lnSpc>
                <a:spcPct val="140000"/>
              </a:lnSpc>
              <a:buNone/>
            </a:pPr>
            <a:r>
              <a:rPr lang="en-US" sz="1950" dirty="0">
                <a:solidFill>
                  <a:srgbClr val="000000"/>
                </a:solidFill>
                <a:latin typeface="Hanken Grotesk" pitchFamily="34" charset="0"/>
                <a:ea typeface="Hanken Grotesk" pitchFamily="34" charset="-122"/>
                <a:cs typeface="Hanken Grotesk" pitchFamily="34" charset="-120"/>
              </a:rPr>
              <a:t>them and their mail flows through from now on — or </a:t>
            </a:r>
            <a:pPr algn="l" indent="0" marL="0">
              <a:lnSpc>
                <a:spcPct val="140000"/>
              </a:lnSpc>
              <a:buNone/>
            </a:pPr>
            <a:r>
              <a:rPr lang="en-US" sz="1950" b="1" dirty="0">
                <a:solidFill>
                  <a:srgbClr val="000000"/>
                </a:solidFill>
                <a:latin typeface="Hanken Grotesk" pitchFamily="34" charset="0"/>
                <a:ea typeface="Hanken Grotesk" pitchFamily="34" charset="-122"/>
                <a:cs typeface="Hanken Grotesk" pitchFamily="34" charset="-120"/>
              </a:rPr>
              <a:t>block </a:t>
            </a:r>
            <a:pPr algn="l" indent="0" marL="0">
              <a:lnSpc>
                <a:spcPct val="140000"/>
              </a:lnSpc>
              <a:buNone/>
            </a:pPr>
            <a:r>
              <a:rPr lang="en-US" sz="1950" dirty="0">
                <a:solidFill>
                  <a:srgbClr val="000000"/>
                </a:solidFill>
                <a:latin typeface="Hanken Grotesk" pitchFamily="34" charset="0"/>
                <a:ea typeface="Hanken Grotesk" pitchFamily="34" charset="-122"/>
                <a:cs typeface="Hanken Grotesk" pitchFamily="34" charset="-120"/>
              </a:rPr>
              <a:t>them for good.</a:t>
            </a:r>
            <a:endParaRPr lang="en-US" sz="1950" dirty="0"/>
          </a:p>
        </p:txBody>
      </p:sp>
      <p:sp>
        <p:nvSpPr>
          <p:cNvPr id="17" name="Text 15"/>
          <p:cNvSpPr/>
          <p:nvPr/>
        </p:nvSpPr>
        <p:spPr>
          <a:xfrm>
            <a:off x="1143000" y="8620125"/>
            <a:ext cx="13722480"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One decision per sender — and we keep no lasting record. Trust history is wiped every 90 days.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143000" y="1047750"/>
            <a:ext cx="3164580"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07 — BUILT-IN DEFENSE</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616744"/>
          </a:xfrm>
          <a:prstGeom prst="rect">
            <a:avLst/>
          </a:prstGeom>
          <a:noFill/>
          <a:ln/>
        </p:spPr>
        <p:txBody>
          <a:bodyPr wrap="square" lIns="25400" tIns="25400" rIns="25400" bIns="25400" rtlCol="0" anchor="t">
            <a:normAutofit/>
          </a:bodyPr>
          <a:lstStyle/>
          <a:p>
            <a:pPr algn="l" indent="0" marL="0">
              <a:lnSpc>
                <a:spcPct val="98000"/>
              </a:lnSpc>
              <a:buNone/>
            </a:pPr>
            <a:r>
              <a:rPr lang="en-US" sz="4650" b="1" spc="-116" kern="0" dirty="0">
                <a:solidFill>
                  <a:srgbClr val="000000"/>
                </a:solidFill>
                <a:latin typeface="Hanken Grotesk" pitchFamily="34" charset="0"/>
                <a:ea typeface="Hanken Grotesk" pitchFamily="34" charset="-122"/>
                <a:cs typeface="Hanken Grotesk" pitchFamily="34" charset="-120"/>
              </a:rPr>
              <a:t>Whole classes of attack, designed out.</a:t>
            </a:r>
            <a:endParaRPr lang="en-US" sz="4650" dirty="0"/>
          </a:p>
        </p:txBody>
      </p:sp>
      <p:sp>
        <p:nvSpPr>
          <p:cNvPr id="5" name="Text 3"/>
          <p:cNvSpPr/>
          <p:nvPr/>
        </p:nvSpPr>
        <p:spPr>
          <a:xfrm>
            <a:off x="1143000" y="2578894"/>
            <a:ext cx="9559503"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A unique address per service, plus trust-by-default, quietly neutralises threats that filters can't touch.</a:t>
            </a:r>
            <a:endParaRPr lang="en-US" sz="2250" dirty="0"/>
          </a:p>
        </p:txBody>
      </p:sp>
      <p:sp>
        <p:nvSpPr>
          <p:cNvPr id="6" name="Text 4"/>
          <p:cNvSpPr/>
          <p:nvPr/>
        </p:nvSpPr>
        <p:spPr>
          <a:xfrm>
            <a:off x="1457325" y="3960019"/>
            <a:ext cx="7496379"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the same name, a different sender</a:t>
            </a:r>
            <a:endParaRPr lang="en-US" sz="1800" dirty="0"/>
          </a:p>
        </p:txBody>
      </p:sp>
      <p:sp>
        <p:nvSpPr>
          <p:cNvPr id="7" name="Text 5"/>
          <p:cNvSpPr/>
          <p:nvPr/>
        </p:nvSpPr>
        <p:spPr>
          <a:xfrm>
            <a:off x="1457325" y="4750594"/>
            <a:ext cx="2754981" cy="371475"/>
          </a:xfrm>
          <a:prstGeom prst="rect">
            <a:avLst/>
          </a:prstGeom>
          <a:noFill/>
          <a:ln/>
        </p:spPr>
        <p:txBody>
          <a:bodyPr wrap="square" lIns="25400" tIns="25400" rIns="25400" bIns="25400" rtlCol="0" anchor="t">
            <a:normAutofit/>
          </a:bodyPr>
          <a:lstStyle/>
          <a:p>
            <a:pPr algn="l" indent="0" marL="0">
              <a:buNone/>
            </a:pPr>
            <a:r>
              <a:rPr lang="en-US" sz="1950" dirty="0">
                <a:solidFill>
                  <a:srgbClr val="000000"/>
                </a:solidFill>
                <a:latin typeface="JetBrains Mono" pitchFamily="34" charset="0"/>
                <a:ea typeface="JetBrains Mono" pitchFamily="34" charset="-122"/>
                <a:cs typeface="JetBrains Mono" pitchFamily="34" charset="-120"/>
              </a:rPr>
              <a:t>support@paypal.com</a:t>
            </a:r>
            <a:endParaRPr lang="en-US" sz="1950" dirty="0"/>
          </a:p>
        </p:txBody>
      </p:sp>
      <p:sp>
        <p:nvSpPr>
          <p:cNvPr id="8" name="Shape 6"/>
          <p:cNvSpPr/>
          <p:nvPr/>
        </p:nvSpPr>
        <p:spPr>
          <a:xfrm>
            <a:off x="5700713" y="4874419"/>
            <a:ext cx="85725" cy="85725"/>
          </a:xfrm>
          <a:prstGeom prst="ellipse">
            <a:avLst/>
          </a:prstGeom>
          <a:solidFill>
            <a:srgbClr val="135BFD"/>
          </a:solidFill>
          <a:ln/>
        </p:spPr>
      </p:sp>
      <p:sp>
        <p:nvSpPr>
          <p:cNvPr id="9" name="Text 7"/>
          <p:cNvSpPr/>
          <p:nvPr/>
        </p:nvSpPr>
        <p:spPr>
          <a:xfrm>
            <a:off x="5881688" y="4769644"/>
            <a:ext cx="2773836" cy="333375"/>
          </a:xfrm>
          <a:prstGeom prst="rect">
            <a:avLst/>
          </a:prstGeom>
          <a:noFill/>
          <a:ln/>
        </p:spPr>
        <p:txBody>
          <a:bodyPr wrap="square" lIns="0" tIns="0" rIns="0" bIns="0" rtlCol="0" anchor="t">
            <a:normAutofit/>
          </a:bodyPr>
          <a:lstStyle/>
          <a:p>
            <a:pPr algn="l" indent="0" marL="0">
              <a:buNone/>
            </a:pPr>
            <a:r>
              <a:rPr lang="en-US" sz="1800" spc="36" kern="0" dirty="0">
                <a:solidFill>
                  <a:srgbClr val="135BFD"/>
                </a:solidFill>
                <a:latin typeface="JetBrains Mono" pitchFamily="34" charset="0"/>
                <a:ea typeface="JetBrains Mono" pitchFamily="34" charset="-122"/>
                <a:cs typeface="JetBrains Mono" pitchFamily="34" charset="-120"/>
              </a:rPr>
              <a:t>trusted · forwarded</a:t>
            </a:r>
            <a:endParaRPr lang="en-US" sz="1800" dirty="0"/>
          </a:p>
        </p:txBody>
      </p:sp>
      <p:sp>
        <p:nvSpPr>
          <p:cNvPr id="10" name="Text 8"/>
          <p:cNvSpPr/>
          <p:nvPr/>
        </p:nvSpPr>
        <p:spPr>
          <a:xfrm>
            <a:off x="1457325" y="5645944"/>
            <a:ext cx="2754981" cy="371475"/>
          </a:xfrm>
          <a:prstGeom prst="rect">
            <a:avLst/>
          </a:prstGeom>
          <a:noFill/>
          <a:ln/>
        </p:spPr>
        <p:txBody>
          <a:bodyPr wrap="square" lIns="25400" tIns="25400" rIns="25400" bIns="25400" rtlCol="0" anchor="t">
            <a:normAutofit/>
          </a:bodyPr>
          <a:lstStyle/>
          <a:p>
            <a:pPr algn="l" indent="0" marL="0">
              <a:buNone/>
            </a:pPr>
            <a:r>
              <a:rPr lang="en-US" sz="1950" dirty="0">
                <a:solidFill>
                  <a:srgbClr val="000000"/>
                </a:solidFill>
                <a:latin typeface="JetBrains Mono" pitchFamily="34" charset="0"/>
                <a:ea typeface="JetBrains Mono" pitchFamily="34" charset="-122"/>
                <a:cs typeface="JetBrains Mono" pitchFamily="34" charset="-120"/>
              </a:rPr>
              <a:t>support@pаypal.com</a:t>
            </a:r>
            <a:endParaRPr lang="en-US" sz="1950" dirty="0"/>
          </a:p>
        </p:txBody>
      </p:sp>
      <p:sp>
        <p:nvSpPr>
          <p:cNvPr id="11" name="Shape 9"/>
          <p:cNvSpPr/>
          <p:nvPr/>
        </p:nvSpPr>
        <p:spPr>
          <a:xfrm rot="2700000">
            <a:off x="4982617" y="5765006"/>
            <a:ext cx="95250" cy="95250"/>
          </a:xfrm>
          <a:prstGeom prst="rect">
            <a:avLst/>
          </a:prstGeom>
          <a:solidFill>
            <a:srgbClr val="135BFD"/>
          </a:solidFill>
          <a:ln/>
        </p:spPr>
      </p:sp>
      <p:sp>
        <p:nvSpPr>
          <p:cNvPr id="12" name="Text 10"/>
          <p:cNvSpPr/>
          <p:nvPr/>
        </p:nvSpPr>
        <p:spPr>
          <a:xfrm>
            <a:off x="5173117" y="5664994"/>
            <a:ext cx="3503664" cy="333375"/>
          </a:xfrm>
          <a:prstGeom prst="rect">
            <a:avLst/>
          </a:prstGeom>
          <a:noFill/>
          <a:ln/>
        </p:spPr>
        <p:txBody>
          <a:bodyPr wrap="square" lIns="0" tIns="0" rIns="0" bIns="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look-alike · quarantined</a:t>
            </a:r>
            <a:endParaRPr lang="en-US" sz="1800" dirty="0"/>
          </a:p>
        </p:txBody>
      </p:sp>
      <p:sp>
        <p:nvSpPr>
          <p:cNvPr id="13" name="Text 11"/>
          <p:cNvSpPr/>
          <p:nvPr/>
        </p:nvSpPr>
        <p:spPr>
          <a:xfrm>
            <a:off x="1457325" y="6875562"/>
            <a:ext cx="7496379" cy="1638002"/>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That second “a” isn't a normal letter — it's a Cyrillic character , a look-alike from another alphabet (the one used for Russian) that renders identically on screen. Scammers swap them in to fake a trusted address. Nullbox spots the trickery and stops it before it can fool your eye.</a:t>
            </a:r>
            <a:endParaRPr lang="en-US" sz="1800" dirty="0"/>
          </a:p>
        </p:txBody>
      </p:sp>
      <p:sp>
        <p:nvSpPr>
          <p:cNvPr id="14" name="Text 12"/>
          <p:cNvSpPr/>
          <p:nvPr/>
        </p:nvSpPr>
        <p:spPr>
          <a:xfrm>
            <a:off x="9860607" y="3998119"/>
            <a:ext cx="7198791" cy="338138"/>
          </a:xfrm>
          <a:prstGeom prst="rect">
            <a:avLst/>
          </a:prstGeom>
          <a:noFill/>
          <a:ln/>
        </p:spPr>
        <p:txBody>
          <a:bodyPr wrap="square" lIns="25400" tIns="25400" rIns="25400" bIns="25400" rtlCol="0" anchor="t">
            <a:normAutofit/>
          </a:bodyPr>
          <a:lstStyle/>
          <a:p>
            <a:pPr algn="l" indent="0" marL="0">
              <a:lnSpc>
                <a:spcPct val="105000"/>
              </a:lnSpc>
              <a:buNone/>
            </a:pPr>
            <a:r>
              <a:rPr lang="en-US" sz="2250" b="1" spc="-22" kern="0" dirty="0">
                <a:solidFill>
                  <a:srgbClr val="000000"/>
                </a:solidFill>
                <a:latin typeface="Hanken Grotesk" pitchFamily="34" charset="0"/>
                <a:ea typeface="Hanken Grotesk" pitchFamily="34" charset="-122"/>
                <a:cs typeface="Hanken Grotesk" pitchFamily="34" charset="-120"/>
              </a:rPr>
              <a:t>Phishing &amp; homoglyphs</a:t>
            </a:r>
            <a:endParaRPr lang="en-US" sz="2250" dirty="0"/>
          </a:p>
        </p:txBody>
      </p:sp>
      <p:sp>
        <p:nvSpPr>
          <p:cNvPr id="15" name="Text 13"/>
          <p:cNvSpPr/>
          <p:nvPr/>
        </p:nvSpPr>
        <p:spPr>
          <a:xfrm>
            <a:off x="9860607" y="4374356"/>
            <a:ext cx="7198791"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Look-alike domains never cleared your trust list, so they're held — not delivered.</a:t>
            </a:r>
            <a:endParaRPr lang="en-US" sz="1800" dirty="0"/>
          </a:p>
        </p:txBody>
      </p:sp>
      <p:sp>
        <p:nvSpPr>
          <p:cNvPr id="16" name="Text 14"/>
          <p:cNvSpPr/>
          <p:nvPr/>
        </p:nvSpPr>
        <p:spPr>
          <a:xfrm>
            <a:off x="9860607" y="5719167"/>
            <a:ext cx="7198791" cy="338138"/>
          </a:xfrm>
          <a:prstGeom prst="rect">
            <a:avLst/>
          </a:prstGeom>
          <a:noFill/>
          <a:ln/>
        </p:spPr>
        <p:txBody>
          <a:bodyPr wrap="square" lIns="25400" tIns="25400" rIns="25400" bIns="25400" rtlCol="0" anchor="t">
            <a:normAutofit/>
          </a:bodyPr>
          <a:lstStyle/>
          <a:p>
            <a:pPr algn="l" indent="0" marL="0">
              <a:lnSpc>
                <a:spcPct val="105000"/>
              </a:lnSpc>
              <a:buNone/>
            </a:pPr>
            <a:r>
              <a:rPr lang="en-US" sz="2250" b="1" spc="-22" kern="0" dirty="0">
                <a:solidFill>
                  <a:srgbClr val="000000"/>
                </a:solidFill>
                <a:latin typeface="Hanken Grotesk" pitchFamily="34" charset="0"/>
                <a:ea typeface="Hanken Grotesk" pitchFamily="34" charset="-122"/>
                <a:cs typeface="Hanken Grotesk" pitchFamily="34" charset="-120"/>
              </a:rPr>
              <a:t>Data brokers</a:t>
            </a:r>
            <a:endParaRPr lang="en-US" sz="2250" dirty="0"/>
          </a:p>
        </p:txBody>
      </p:sp>
      <p:sp>
        <p:nvSpPr>
          <p:cNvPr id="17" name="Text 15"/>
          <p:cNvSpPr/>
          <p:nvPr/>
        </p:nvSpPr>
        <p:spPr>
          <a:xfrm>
            <a:off x="9860607" y="6095405"/>
            <a:ext cx="7198791"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If a company sells your details, the buyer's mail never reaches your inbox — and the unique alias tells you exactly who sold you out.</a:t>
            </a:r>
            <a:endParaRPr lang="en-US" sz="1800" dirty="0"/>
          </a:p>
        </p:txBody>
      </p:sp>
      <p:sp>
        <p:nvSpPr>
          <p:cNvPr id="18" name="Text 16"/>
          <p:cNvSpPr/>
          <p:nvPr/>
        </p:nvSpPr>
        <p:spPr>
          <a:xfrm>
            <a:off x="9860607" y="7440216"/>
            <a:ext cx="7198791" cy="338138"/>
          </a:xfrm>
          <a:prstGeom prst="rect">
            <a:avLst/>
          </a:prstGeom>
          <a:noFill/>
          <a:ln/>
        </p:spPr>
        <p:txBody>
          <a:bodyPr wrap="square" lIns="25400" tIns="25400" rIns="25400" bIns="25400" rtlCol="0" anchor="t">
            <a:normAutofit/>
          </a:bodyPr>
          <a:lstStyle/>
          <a:p>
            <a:pPr algn="l" indent="0" marL="0">
              <a:lnSpc>
                <a:spcPct val="105000"/>
              </a:lnSpc>
              <a:buNone/>
            </a:pPr>
            <a:r>
              <a:rPr lang="en-US" sz="2250" b="1" spc="-22" kern="0" dirty="0">
                <a:solidFill>
                  <a:srgbClr val="000000"/>
                </a:solidFill>
                <a:latin typeface="Hanken Grotesk" pitchFamily="34" charset="0"/>
                <a:ea typeface="Hanken Grotesk" pitchFamily="34" charset="-122"/>
                <a:cs typeface="Hanken Grotesk" pitchFamily="34" charset="-120"/>
              </a:rPr>
              <a:t>Breaches &amp; credential stuffing</a:t>
            </a:r>
            <a:endParaRPr lang="en-US" sz="2250" dirty="0"/>
          </a:p>
        </p:txBody>
      </p:sp>
      <p:sp>
        <p:nvSpPr>
          <p:cNvPr id="19" name="Text 17"/>
          <p:cNvSpPr/>
          <p:nvPr/>
        </p:nvSpPr>
        <p:spPr>
          <a:xfrm>
            <a:off x="9860607" y="7816453"/>
            <a:ext cx="7198791"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A unique address per site means a leaked login can't be reused to attack your accounts everywhere else.</a:t>
            </a:r>
            <a:endParaRPr lang="en-US" sz="1800" dirty="0"/>
          </a:p>
        </p:txBody>
      </p:sp>
      <p:sp>
        <p:nvSpPr>
          <p:cNvPr id="20" name="Text 18"/>
          <p:cNvSpPr/>
          <p:nvPr/>
        </p:nvSpPr>
        <p:spPr>
          <a:xfrm>
            <a:off x="1143000" y="8999339"/>
            <a:ext cx="16482060" cy="628650"/>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Point a custom domain at Nullbox and protect normal business email — no aliasing required. Real value for teams &amp; government.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143000" y="1047750"/>
            <a:ext cx="1831925"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08 — WHY NOW</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78477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Three forces are converging.</a:t>
            </a:r>
            <a:endParaRPr lang="en-US" sz="6000" dirty="0"/>
          </a:p>
        </p:txBody>
      </p:sp>
      <p:sp>
        <p:nvSpPr>
          <p:cNvPr id="5" name="Text 3"/>
          <p:cNvSpPr/>
          <p:nvPr/>
        </p:nvSpPr>
        <p:spPr>
          <a:xfrm>
            <a:off x="1143000" y="4422577"/>
            <a:ext cx="510159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135BFD"/>
                </a:solidFill>
                <a:latin typeface="Hanken Grotesk" pitchFamily="34" charset="0"/>
                <a:ea typeface="Hanken Grotesk" pitchFamily="34" charset="-122"/>
                <a:cs typeface="Hanken Grotesk" pitchFamily="34" charset="-120"/>
              </a:rPr>
              <a:t>466</a:t>
            </a:r>
            <a:pPr algn="l" indent="0" marL="0">
              <a:lnSpc>
                <a:spcPct val="90000"/>
              </a:lnSpc>
              <a:buNone/>
            </a:pPr>
            <a:r>
              <a:rPr lang="en-US" sz="3510" b="1" spc="-273" kern="0" dirty="0">
                <a:solidFill>
                  <a:srgbClr val="135BFD"/>
                </a:solidFill>
                <a:latin typeface="Hanken Grotesk" pitchFamily="34" charset="0"/>
                <a:ea typeface="Hanken Grotesk" pitchFamily="34" charset="-122"/>
                <a:cs typeface="Hanken Grotesk" pitchFamily="34" charset="-120"/>
              </a:rPr>
              <a:t>%</a:t>
            </a:r>
            <a:endParaRPr lang="en-US" sz="7800" dirty="0"/>
          </a:p>
        </p:txBody>
      </p:sp>
      <p:sp>
        <p:nvSpPr>
          <p:cNvPr id="6" name="Text 4"/>
          <p:cNvSpPr/>
          <p:nvPr/>
        </p:nvSpPr>
        <p:spPr>
          <a:xfrm>
            <a:off x="1143000" y="5542657"/>
            <a:ext cx="5101590"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AI phishing is exploding</a:t>
            </a:r>
            <a:endParaRPr lang="en-US" sz="3000" dirty="0"/>
          </a:p>
        </p:txBody>
      </p:sp>
      <p:sp>
        <p:nvSpPr>
          <p:cNvPr id="7" name="Text 5"/>
          <p:cNvSpPr/>
          <p:nvPr/>
        </p:nvSpPr>
        <p:spPr>
          <a:xfrm>
            <a:off x="1143000" y="6076057"/>
            <a:ext cx="5101590"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000000"/>
                </a:solidFill>
                <a:latin typeface="Hanken Grotesk" pitchFamily="34" charset="0"/>
                <a:ea typeface="Hanken Grotesk" pitchFamily="34" charset="-122"/>
                <a:cs typeface="Hanken Grotesk" pitchFamily="34" charset="-120"/>
              </a:rPr>
              <a:t>Q1 2025 phishing reports surged 466%. Bad grammar no longer gives scams away.</a:t>
            </a:r>
            <a:endParaRPr lang="en-US" sz="1950" dirty="0"/>
          </a:p>
        </p:txBody>
      </p:sp>
      <p:sp>
        <p:nvSpPr>
          <p:cNvPr id="8" name="Text 6"/>
          <p:cNvSpPr/>
          <p:nvPr/>
        </p:nvSpPr>
        <p:spPr>
          <a:xfrm>
            <a:off x="6667500" y="4422577"/>
            <a:ext cx="510159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000000"/>
                </a:solidFill>
                <a:latin typeface="Hanken Grotesk" pitchFamily="34" charset="0"/>
                <a:ea typeface="Hanken Grotesk" pitchFamily="34" charset="-122"/>
                <a:cs typeface="Hanken Grotesk" pitchFamily="34" charset="-120"/>
              </a:rPr>
              <a:t>+NIS2</a:t>
            </a:r>
            <a:endParaRPr lang="en-US" sz="7800" dirty="0"/>
          </a:p>
        </p:txBody>
      </p:sp>
      <p:sp>
        <p:nvSpPr>
          <p:cNvPr id="9" name="Text 7"/>
          <p:cNvSpPr/>
          <p:nvPr/>
        </p:nvSpPr>
        <p:spPr>
          <a:xfrm>
            <a:off x="6667500" y="5542657"/>
            <a:ext cx="5101590"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Privacy &amp; sovereignty rules</a:t>
            </a:r>
            <a:endParaRPr lang="en-US" sz="3000" dirty="0"/>
          </a:p>
        </p:txBody>
      </p:sp>
      <p:sp>
        <p:nvSpPr>
          <p:cNvPr id="10" name="Text 8"/>
          <p:cNvSpPr/>
          <p:nvPr/>
        </p:nvSpPr>
        <p:spPr>
          <a:xfrm>
            <a:off x="6667500" y="6076057"/>
            <a:ext cx="5101590" cy="1077962"/>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000000"/>
                </a:solidFill>
                <a:latin typeface="Hanken Grotesk" pitchFamily="34" charset="0"/>
                <a:ea typeface="Hanken Grotesk" pitchFamily="34" charset="-122"/>
                <a:cs typeface="Hanken Grotesk" pitchFamily="34" charset="-120"/>
              </a:rPr>
              <a:t>GDPR, NIS2 and data-residency mandates push organisations toward minimal-data, privacy-first tools.</a:t>
            </a:r>
            <a:endParaRPr lang="en-US" sz="1950" dirty="0"/>
          </a:p>
        </p:txBody>
      </p:sp>
      <p:sp>
        <p:nvSpPr>
          <p:cNvPr id="11" name="Text 9"/>
          <p:cNvSpPr/>
          <p:nvPr/>
        </p:nvSpPr>
        <p:spPr>
          <a:xfrm>
            <a:off x="12192000" y="4422577"/>
            <a:ext cx="510159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000000"/>
                </a:solidFill>
                <a:latin typeface="Hanken Grotesk" pitchFamily="34" charset="0"/>
                <a:ea typeface="Hanken Grotesk" pitchFamily="34" charset="-122"/>
                <a:cs typeface="Hanken Grotesk" pitchFamily="34" charset="-120"/>
              </a:rPr>
              <a:t>4.6</a:t>
            </a:r>
            <a:pPr algn="l" indent="0" marL="0">
              <a:lnSpc>
                <a:spcPct val="90000"/>
              </a:lnSpc>
              <a:buNone/>
            </a:pPr>
            <a:r>
              <a:rPr lang="en-US" sz="3510" b="1" spc="-273" kern="0" dirty="0">
                <a:solidFill>
                  <a:srgbClr val="000000"/>
                </a:solidFill>
                <a:latin typeface="Hanken Grotesk" pitchFamily="34" charset="0"/>
                <a:ea typeface="Hanken Grotesk" pitchFamily="34" charset="-122"/>
                <a:cs typeface="Hanken Grotesk" pitchFamily="34" charset="-120"/>
              </a:rPr>
              <a:t>B</a:t>
            </a:r>
            <a:endParaRPr lang="en-US" sz="7800" dirty="0"/>
          </a:p>
        </p:txBody>
      </p:sp>
      <p:sp>
        <p:nvSpPr>
          <p:cNvPr id="12" name="Text 10"/>
          <p:cNvSpPr/>
          <p:nvPr/>
        </p:nvSpPr>
        <p:spPr>
          <a:xfrm>
            <a:off x="12192000" y="5542657"/>
            <a:ext cx="5101590"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Inbox fatigue is universal</a:t>
            </a:r>
            <a:endParaRPr lang="en-US" sz="3000" dirty="0"/>
          </a:p>
        </p:txBody>
      </p:sp>
      <p:sp>
        <p:nvSpPr>
          <p:cNvPr id="13" name="Text 11"/>
          <p:cNvSpPr/>
          <p:nvPr/>
        </p:nvSpPr>
        <p:spPr>
          <a:xfrm>
            <a:off x="12192000" y="6076057"/>
            <a:ext cx="5101590"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000000"/>
                </a:solidFill>
                <a:latin typeface="Hanken Grotesk" pitchFamily="34" charset="0"/>
                <a:ea typeface="Hanken Grotesk" pitchFamily="34" charset="-122"/>
                <a:cs typeface="Hanken Grotesk" pitchFamily="34" charset="-120"/>
              </a:rPr>
              <a:t>4.6B email users, each burning ~3 hours a week on spam. People want control back.</a:t>
            </a:r>
            <a:endParaRPr lang="en-US" sz="1950" dirty="0"/>
          </a:p>
        </p:txBody>
      </p:sp>
      <p:sp>
        <p:nvSpPr>
          <p:cNvPr id="14" name="Text 12"/>
          <p:cNvSpPr/>
          <p:nvPr/>
        </p:nvSpPr>
        <p:spPr>
          <a:xfrm>
            <a:off x="1143000" y="8620125"/>
            <a:ext cx="8321202"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Gen Digital Q1 2025 · EU NIS2 · email-user estimates 2025</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143000" y="1047750"/>
            <a:ext cx="2712519"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09 — THE LANDSCAPE</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635496"/>
          </a:xfrm>
          <a:prstGeom prst="rect">
            <a:avLst/>
          </a:prstGeom>
          <a:noFill/>
          <a:ln/>
        </p:spPr>
        <p:txBody>
          <a:bodyPr wrap="square" lIns="25400" tIns="25400" rIns="25400" bIns="25400" rtlCol="0" anchor="t">
            <a:normAutofit/>
          </a:bodyPr>
          <a:lstStyle/>
          <a:p>
            <a:pPr algn="l" indent="0" marL="0">
              <a:lnSpc>
                <a:spcPct val="98000"/>
              </a:lnSpc>
              <a:buNone/>
            </a:pPr>
            <a:r>
              <a:rPr lang="en-US" sz="4800" b="1" spc="-120" kern="0" dirty="0">
                <a:solidFill>
                  <a:srgbClr val="000000"/>
                </a:solidFill>
                <a:latin typeface="Hanken Grotesk" pitchFamily="34" charset="0"/>
                <a:ea typeface="Hanken Grotesk" pitchFamily="34" charset="-122"/>
                <a:cs typeface="Hanken Grotesk" pitchFamily="34" charset="-120"/>
              </a:rPr>
              <a:t>Aliasing exists. Decide-then-trust doesn't.</a:t>
            </a:r>
            <a:endParaRPr lang="en-US" sz="4800" dirty="0"/>
          </a:p>
        </p:txBody>
      </p:sp>
      <p:sp>
        <p:nvSpPr>
          <p:cNvPr id="5" name="Text 3"/>
          <p:cNvSpPr/>
          <p:nvPr/>
        </p:nvSpPr>
        <p:spPr>
          <a:xfrm>
            <a:off x="1143000" y="3073896"/>
            <a:ext cx="4716018" cy="623888"/>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APPROACH</a:t>
            </a:r>
            <a:endParaRPr lang="en-US" sz="1800" dirty="0"/>
          </a:p>
        </p:txBody>
      </p:sp>
      <p:sp>
        <p:nvSpPr>
          <p:cNvPr id="6" name="Text 4"/>
          <p:cNvSpPr/>
          <p:nvPr/>
        </p:nvSpPr>
        <p:spPr>
          <a:xfrm>
            <a:off x="6172200" y="3073896"/>
            <a:ext cx="2192162" cy="623888"/>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PER-SERVICE ALIAS</a:t>
            </a:r>
            <a:endParaRPr lang="en-US" sz="1800" dirty="0"/>
          </a:p>
        </p:txBody>
      </p:sp>
      <p:sp>
        <p:nvSpPr>
          <p:cNvPr id="7" name="Text 5"/>
          <p:cNvSpPr/>
          <p:nvPr/>
        </p:nvSpPr>
        <p:spPr>
          <a:xfrm>
            <a:off x="8744396" y="3073896"/>
            <a:ext cx="2416890" cy="623888"/>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NEVER READS CONTENT</a:t>
            </a:r>
            <a:endParaRPr lang="en-US" sz="1800" dirty="0"/>
          </a:p>
        </p:txBody>
      </p:sp>
      <p:sp>
        <p:nvSpPr>
          <p:cNvPr id="8" name="Text 6"/>
          <p:cNvSpPr/>
          <p:nvPr/>
        </p:nvSpPr>
        <p:spPr>
          <a:xfrm>
            <a:off x="11534775" y="3073896"/>
            <a:ext cx="2419496" cy="623888"/>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QUARANTINE + TRUST</a:t>
            </a:r>
            <a:endParaRPr lang="en-US" sz="1800" dirty="0"/>
          </a:p>
        </p:txBody>
      </p:sp>
      <p:sp>
        <p:nvSpPr>
          <p:cNvPr id="9" name="Text 7"/>
          <p:cNvSpPr/>
          <p:nvPr/>
        </p:nvSpPr>
        <p:spPr>
          <a:xfrm>
            <a:off x="14327684" y="3073896"/>
            <a:ext cx="2680094" cy="623888"/>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AUTO PHISHING DEFENSE</a:t>
            </a:r>
            <a:endParaRPr lang="en-US" sz="1800" dirty="0"/>
          </a:p>
        </p:txBody>
      </p:sp>
      <p:sp>
        <p:nvSpPr>
          <p:cNvPr id="10" name="Text 8"/>
          <p:cNvSpPr/>
          <p:nvPr/>
        </p:nvSpPr>
        <p:spPr>
          <a:xfrm>
            <a:off x="1143000" y="4088309"/>
            <a:ext cx="4716018"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Apple Hide My Email</a:t>
            </a:r>
            <a:endParaRPr lang="en-US" sz="1800" dirty="0"/>
          </a:p>
        </p:txBody>
      </p:sp>
      <p:sp>
        <p:nvSpPr>
          <p:cNvPr id="11" name="Text 9"/>
          <p:cNvSpPr/>
          <p:nvPr/>
        </p:nvSpPr>
        <p:spPr>
          <a:xfrm>
            <a:off x="6172200" y="4088309"/>
            <a:ext cx="2192162"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135BFD"/>
                </a:solidFill>
                <a:latin typeface="Hanken Grotesk" pitchFamily="34" charset="0"/>
                <a:ea typeface="Hanken Grotesk" pitchFamily="34" charset="-122"/>
                <a:cs typeface="Hanken Grotesk" pitchFamily="34" charset="-120"/>
              </a:rPr>
              <a:t>Yes</a:t>
            </a:r>
            <a:endParaRPr lang="en-US" sz="1800" dirty="0"/>
          </a:p>
        </p:txBody>
      </p:sp>
      <p:sp>
        <p:nvSpPr>
          <p:cNvPr id="12" name="Text 10"/>
          <p:cNvSpPr/>
          <p:nvPr/>
        </p:nvSpPr>
        <p:spPr>
          <a:xfrm>
            <a:off x="8744396" y="4088309"/>
            <a:ext cx="2416890"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a:t>
            </a:r>
            <a:endParaRPr lang="en-US" sz="1800" dirty="0"/>
          </a:p>
        </p:txBody>
      </p:sp>
      <p:sp>
        <p:nvSpPr>
          <p:cNvPr id="13" name="Text 11"/>
          <p:cNvSpPr/>
          <p:nvPr/>
        </p:nvSpPr>
        <p:spPr>
          <a:xfrm>
            <a:off x="11534775" y="4088309"/>
            <a:ext cx="2419496"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No</a:t>
            </a:r>
            <a:endParaRPr lang="en-US" sz="1800" dirty="0"/>
          </a:p>
        </p:txBody>
      </p:sp>
      <p:sp>
        <p:nvSpPr>
          <p:cNvPr id="14" name="Text 12"/>
          <p:cNvSpPr/>
          <p:nvPr/>
        </p:nvSpPr>
        <p:spPr>
          <a:xfrm>
            <a:off x="14327684" y="4088309"/>
            <a:ext cx="2680094"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No</a:t>
            </a:r>
            <a:endParaRPr lang="en-US" sz="1800" dirty="0"/>
          </a:p>
        </p:txBody>
      </p:sp>
      <p:sp>
        <p:nvSpPr>
          <p:cNvPr id="15" name="Text 13"/>
          <p:cNvSpPr/>
          <p:nvPr/>
        </p:nvSpPr>
        <p:spPr>
          <a:xfrm>
            <a:off x="1143000" y="4812209"/>
            <a:ext cx="4716018"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Firefox Relay</a:t>
            </a:r>
            <a:endParaRPr lang="en-US" sz="1800" dirty="0"/>
          </a:p>
        </p:txBody>
      </p:sp>
      <p:sp>
        <p:nvSpPr>
          <p:cNvPr id="16" name="Text 14"/>
          <p:cNvSpPr/>
          <p:nvPr/>
        </p:nvSpPr>
        <p:spPr>
          <a:xfrm>
            <a:off x="6172200" y="4812209"/>
            <a:ext cx="2192162"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135BFD"/>
                </a:solidFill>
                <a:latin typeface="Hanken Grotesk" pitchFamily="34" charset="0"/>
                <a:ea typeface="Hanken Grotesk" pitchFamily="34" charset="-122"/>
                <a:cs typeface="Hanken Grotesk" pitchFamily="34" charset="-120"/>
              </a:rPr>
              <a:t>Yes</a:t>
            </a:r>
            <a:endParaRPr lang="en-US" sz="1800" dirty="0"/>
          </a:p>
        </p:txBody>
      </p:sp>
      <p:sp>
        <p:nvSpPr>
          <p:cNvPr id="17" name="Text 15"/>
          <p:cNvSpPr/>
          <p:nvPr/>
        </p:nvSpPr>
        <p:spPr>
          <a:xfrm>
            <a:off x="8744396" y="4812209"/>
            <a:ext cx="2416890"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a:t>
            </a:r>
            <a:endParaRPr lang="en-US" sz="1800" dirty="0"/>
          </a:p>
        </p:txBody>
      </p:sp>
      <p:sp>
        <p:nvSpPr>
          <p:cNvPr id="18" name="Text 16"/>
          <p:cNvSpPr/>
          <p:nvPr/>
        </p:nvSpPr>
        <p:spPr>
          <a:xfrm>
            <a:off x="11534775" y="4812209"/>
            <a:ext cx="2419496"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No</a:t>
            </a:r>
            <a:endParaRPr lang="en-US" sz="1800" dirty="0"/>
          </a:p>
        </p:txBody>
      </p:sp>
      <p:sp>
        <p:nvSpPr>
          <p:cNvPr id="19" name="Text 17"/>
          <p:cNvSpPr/>
          <p:nvPr/>
        </p:nvSpPr>
        <p:spPr>
          <a:xfrm>
            <a:off x="14327684" y="4812209"/>
            <a:ext cx="2680094"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No</a:t>
            </a:r>
            <a:endParaRPr lang="en-US" sz="1800" dirty="0"/>
          </a:p>
        </p:txBody>
      </p:sp>
      <p:sp>
        <p:nvSpPr>
          <p:cNvPr id="20" name="Text 18"/>
          <p:cNvSpPr/>
          <p:nvPr/>
        </p:nvSpPr>
        <p:spPr>
          <a:xfrm>
            <a:off x="1143000" y="5536109"/>
            <a:ext cx="4716018"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SimpleLogin / DuckDuckGo</a:t>
            </a:r>
            <a:endParaRPr lang="en-US" sz="1800" dirty="0"/>
          </a:p>
        </p:txBody>
      </p:sp>
      <p:sp>
        <p:nvSpPr>
          <p:cNvPr id="21" name="Text 19"/>
          <p:cNvSpPr/>
          <p:nvPr/>
        </p:nvSpPr>
        <p:spPr>
          <a:xfrm>
            <a:off x="6172200" y="5536109"/>
            <a:ext cx="2192162"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135BFD"/>
                </a:solidFill>
                <a:latin typeface="Hanken Grotesk" pitchFamily="34" charset="0"/>
                <a:ea typeface="Hanken Grotesk" pitchFamily="34" charset="-122"/>
                <a:cs typeface="Hanken Grotesk" pitchFamily="34" charset="-120"/>
              </a:rPr>
              <a:t>Yes</a:t>
            </a:r>
            <a:endParaRPr lang="en-US" sz="1800" dirty="0"/>
          </a:p>
        </p:txBody>
      </p:sp>
      <p:sp>
        <p:nvSpPr>
          <p:cNvPr id="22" name="Text 20"/>
          <p:cNvSpPr/>
          <p:nvPr/>
        </p:nvSpPr>
        <p:spPr>
          <a:xfrm>
            <a:off x="8744396" y="5536109"/>
            <a:ext cx="2416890"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Partial</a:t>
            </a:r>
            <a:endParaRPr lang="en-US" sz="1800" dirty="0"/>
          </a:p>
        </p:txBody>
      </p:sp>
      <p:sp>
        <p:nvSpPr>
          <p:cNvPr id="23" name="Text 21"/>
          <p:cNvSpPr/>
          <p:nvPr/>
        </p:nvSpPr>
        <p:spPr>
          <a:xfrm>
            <a:off x="11534775" y="5536109"/>
            <a:ext cx="2419496"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No</a:t>
            </a:r>
            <a:endParaRPr lang="en-US" sz="1800" dirty="0"/>
          </a:p>
        </p:txBody>
      </p:sp>
      <p:sp>
        <p:nvSpPr>
          <p:cNvPr id="24" name="Text 22"/>
          <p:cNvSpPr/>
          <p:nvPr/>
        </p:nvSpPr>
        <p:spPr>
          <a:xfrm>
            <a:off x="14327684" y="5536109"/>
            <a:ext cx="2680094"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No</a:t>
            </a:r>
            <a:endParaRPr lang="en-US" sz="1800" dirty="0"/>
          </a:p>
        </p:txBody>
      </p:sp>
      <p:sp>
        <p:nvSpPr>
          <p:cNvPr id="25" name="Text 23"/>
          <p:cNvSpPr/>
          <p:nvPr/>
        </p:nvSpPr>
        <p:spPr>
          <a:xfrm>
            <a:off x="1371600" y="6260009"/>
            <a:ext cx="4487418"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Nullbox</a:t>
            </a:r>
            <a:endParaRPr lang="en-US" sz="1800" dirty="0"/>
          </a:p>
        </p:txBody>
      </p:sp>
      <p:sp>
        <p:nvSpPr>
          <p:cNvPr id="26" name="Text 24"/>
          <p:cNvSpPr/>
          <p:nvPr/>
        </p:nvSpPr>
        <p:spPr>
          <a:xfrm>
            <a:off x="6172200" y="6260009"/>
            <a:ext cx="2192162"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Yes</a:t>
            </a:r>
            <a:endParaRPr lang="en-US" sz="1800" dirty="0"/>
          </a:p>
        </p:txBody>
      </p:sp>
      <p:sp>
        <p:nvSpPr>
          <p:cNvPr id="27" name="Text 25"/>
          <p:cNvSpPr/>
          <p:nvPr/>
        </p:nvSpPr>
        <p:spPr>
          <a:xfrm>
            <a:off x="8744396" y="6260009"/>
            <a:ext cx="2416890"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Yes</a:t>
            </a:r>
            <a:endParaRPr lang="en-US" sz="1800" dirty="0"/>
          </a:p>
        </p:txBody>
      </p:sp>
      <p:sp>
        <p:nvSpPr>
          <p:cNvPr id="28" name="Text 26"/>
          <p:cNvSpPr/>
          <p:nvPr/>
        </p:nvSpPr>
        <p:spPr>
          <a:xfrm>
            <a:off x="11534775" y="6260009"/>
            <a:ext cx="2419496"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Yes</a:t>
            </a:r>
            <a:endParaRPr lang="en-US" sz="1800" dirty="0"/>
          </a:p>
        </p:txBody>
      </p:sp>
      <p:sp>
        <p:nvSpPr>
          <p:cNvPr id="29" name="Text 27"/>
          <p:cNvSpPr/>
          <p:nvPr/>
        </p:nvSpPr>
        <p:spPr>
          <a:xfrm>
            <a:off x="14327684" y="6260009"/>
            <a:ext cx="2680094"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Yes</a:t>
            </a:r>
            <a:endParaRPr lang="en-US" sz="1800" dirty="0"/>
          </a:p>
        </p:txBody>
      </p:sp>
      <p:sp>
        <p:nvSpPr>
          <p:cNvPr id="30" name="Text 28"/>
          <p:cNvSpPr/>
          <p:nvPr/>
        </p:nvSpPr>
        <p:spPr>
          <a:xfrm>
            <a:off x="1143000" y="7160121"/>
            <a:ext cx="14452461"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Others forward-and-trust. Nullbox decides first, processes least, and stops phishing automatically.</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1143000" y="1047750"/>
            <a:ext cx="2712519"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10 — BUSINESS MOAT</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78477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Open at the edges. Commercial at the core.</a:t>
            </a:r>
            <a:endParaRPr lang="en-US" sz="6000" dirty="0"/>
          </a:p>
        </p:txBody>
      </p:sp>
      <p:sp>
        <p:nvSpPr>
          <p:cNvPr id="5" name="Text 3"/>
          <p:cNvSpPr/>
          <p:nvPr/>
        </p:nvSpPr>
        <p:spPr>
          <a:xfrm>
            <a:off x="1143000" y="2804071"/>
            <a:ext cx="10878129" cy="12382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The personal client is open and self-hostable, so anyone can verify how we handle their mail. The intelligence that makes Nullbox work — and our managed service — stays commercial, under the Elastic License.</a:t>
            </a:r>
            <a:endParaRPr lang="en-US" sz="2250" dirty="0"/>
          </a:p>
        </p:txBody>
      </p:sp>
      <p:sp>
        <p:nvSpPr>
          <p:cNvPr id="6" name="Text 4"/>
          <p:cNvSpPr/>
          <p:nvPr/>
        </p:nvSpPr>
        <p:spPr>
          <a:xfrm>
            <a:off x="1514475" y="4699546"/>
            <a:ext cx="7338441"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000000"/>
                </a:solidFill>
                <a:latin typeface="JetBrains Mono" pitchFamily="34" charset="0"/>
                <a:ea typeface="JetBrains Mono" pitchFamily="34" charset="-122"/>
                <a:cs typeface="JetBrains Mono" pitchFamily="34" charset="-120"/>
              </a:rPr>
              <a:t>OPEN · FREE</a:t>
            </a:r>
            <a:endParaRPr lang="en-US" sz="1800" dirty="0"/>
          </a:p>
        </p:txBody>
      </p:sp>
      <p:sp>
        <p:nvSpPr>
          <p:cNvPr id="7" name="Shape 5"/>
          <p:cNvSpPr/>
          <p:nvPr/>
        </p:nvSpPr>
        <p:spPr>
          <a:xfrm rot="2700000">
            <a:off x="1514475" y="5480596"/>
            <a:ext cx="76200" cy="76200"/>
          </a:xfrm>
          <a:prstGeom prst="rect">
            <a:avLst/>
          </a:prstGeom>
          <a:solidFill>
            <a:srgbClr val="135BFD"/>
          </a:solidFill>
          <a:ln/>
        </p:spPr>
      </p:sp>
      <p:sp>
        <p:nvSpPr>
          <p:cNvPr id="8" name="Text 6"/>
          <p:cNvSpPr/>
          <p:nvPr/>
        </p:nvSpPr>
        <p:spPr>
          <a:xfrm>
            <a:off x="1724025" y="5385346"/>
            <a:ext cx="3763189"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Personal / lite client — open source</a:t>
            </a:r>
            <a:endParaRPr lang="en-US" sz="1800" dirty="0"/>
          </a:p>
        </p:txBody>
      </p:sp>
      <p:sp>
        <p:nvSpPr>
          <p:cNvPr id="9" name="Shape 7"/>
          <p:cNvSpPr/>
          <p:nvPr/>
        </p:nvSpPr>
        <p:spPr>
          <a:xfrm rot="2700000">
            <a:off x="1514475" y="5972026"/>
            <a:ext cx="76200" cy="76200"/>
          </a:xfrm>
          <a:prstGeom prst="rect">
            <a:avLst/>
          </a:prstGeom>
          <a:solidFill>
            <a:srgbClr val="135BFD"/>
          </a:solidFill>
          <a:ln/>
        </p:spPr>
      </p:sp>
      <p:sp>
        <p:nvSpPr>
          <p:cNvPr id="10" name="Text 8"/>
          <p:cNvSpPr/>
          <p:nvPr/>
        </p:nvSpPr>
        <p:spPr>
          <a:xfrm>
            <a:off x="1724025" y="5876776"/>
            <a:ext cx="2769084"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Self-hostable edge worker</a:t>
            </a:r>
            <a:endParaRPr lang="en-US" sz="1800" dirty="0"/>
          </a:p>
        </p:txBody>
      </p:sp>
      <p:sp>
        <p:nvSpPr>
          <p:cNvPr id="11" name="Shape 9"/>
          <p:cNvSpPr/>
          <p:nvPr/>
        </p:nvSpPr>
        <p:spPr>
          <a:xfrm rot="2700000">
            <a:off x="1514475" y="6463457"/>
            <a:ext cx="76200" cy="76200"/>
          </a:xfrm>
          <a:prstGeom prst="rect">
            <a:avLst/>
          </a:prstGeom>
          <a:solidFill>
            <a:srgbClr val="135BFD"/>
          </a:solidFill>
          <a:ln/>
        </p:spPr>
      </p:sp>
      <p:sp>
        <p:nvSpPr>
          <p:cNvPr id="12" name="Text 10"/>
          <p:cNvSpPr/>
          <p:nvPr/>
        </p:nvSpPr>
        <p:spPr>
          <a:xfrm>
            <a:off x="1724025" y="6368207"/>
            <a:ext cx="567904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Auditable — trust you can verify, not just take on faith</a:t>
            </a:r>
            <a:endParaRPr lang="en-US" sz="1800" dirty="0"/>
          </a:p>
        </p:txBody>
      </p:sp>
      <p:sp>
        <p:nvSpPr>
          <p:cNvPr id="13" name="Text 11"/>
          <p:cNvSpPr/>
          <p:nvPr/>
        </p:nvSpPr>
        <p:spPr>
          <a:xfrm>
            <a:off x="9648825" y="4699546"/>
            <a:ext cx="7338441"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135BFD"/>
                </a:solidFill>
                <a:latin typeface="JetBrains Mono" pitchFamily="34" charset="0"/>
                <a:ea typeface="JetBrains Mono" pitchFamily="34" charset="-122"/>
                <a:cs typeface="JetBrains Mono" pitchFamily="34" charset="-120"/>
              </a:rPr>
              <a:t>COMMERCIAL · PAID — ELASTIC LICENSE</a:t>
            </a:r>
            <a:endParaRPr lang="en-US" sz="1800" dirty="0"/>
          </a:p>
        </p:txBody>
      </p:sp>
      <p:sp>
        <p:nvSpPr>
          <p:cNvPr id="14" name="Shape 12"/>
          <p:cNvSpPr/>
          <p:nvPr/>
        </p:nvSpPr>
        <p:spPr>
          <a:xfrm rot="2700000">
            <a:off x="9648825" y="5480596"/>
            <a:ext cx="76200" cy="76200"/>
          </a:xfrm>
          <a:prstGeom prst="rect">
            <a:avLst/>
          </a:prstGeom>
          <a:solidFill>
            <a:srgbClr val="135BFD"/>
          </a:solidFill>
          <a:ln/>
        </p:spPr>
      </p:sp>
      <p:sp>
        <p:nvSpPr>
          <p:cNvPr id="15" name="Text 13"/>
          <p:cNvSpPr/>
          <p:nvPr/>
        </p:nvSpPr>
        <p:spPr>
          <a:xfrm>
            <a:off x="9858375" y="5385346"/>
            <a:ext cx="7122605"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Managed cloud — the trusted-sender brain, quarantine &amp; dashboards</a:t>
            </a:r>
            <a:endParaRPr lang="en-US" sz="1800" dirty="0"/>
          </a:p>
        </p:txBody>
      </p:sp>
      <p:sp>
        <p:nvSpPr>
          <p:cNvPr id="16" name="Shape 14"/>
          <p:cNvSpPr/>
          <p:nvPr/>
        </p:nvSpPr>
        <p:spPr>
          <a:xfrm rot="2700000">
            <a:off x="9648825" y="6292007"/>
            <a:ext cx="76200" cy="76200"/>
          </a:xfrm>
          <a:prstGeom prst="rect">
            <a:avLst/>
          </a:prstGeom>
          <a:solidFill>
            <a:srgbClr val="135BFD"/>
          </a:solidFill>
          <a:ln/>
        </p:spPr>
      </p:sp>
      <p:sp>
        <p:nvSpPr>
          <p:cNvPr id="17" name="Text 15"/>
          <p:cNvSpPr/>
          <p:nvPr/>
        </p:nvSpPr>
        <p:spPr>
          <a:xfrm>
            <a:off x="9858375" y="6196757"/>
            <a:ext cx="2382441"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Team &amp; admin console</a:t>
            </a:r>
            <a:endParaRPr lang="en-US" sz="1800" dirty="0"/>
          </a:p>
        </p:txBody>
      </p:sp>
      <p:sp>
        <p:nvSpPr>
          <p:cNvPr id="18" name="Shape 16"/>
          <p:cNvSpPr/>
          <p:nvPr/>
        </p:nvSpPr>
        <p:spPr>
          <a:xfrm rot="2700000">
            <a:off x="9648825" y="6783437"/>
            <a:ext cx="76200" cy="76200"/>
          </a:xfrm>
          <a:prstGeom prst="rect">
            <a:avLst/>
          </a:prstGeom>
          <a:solidFill>
            <a:srgbClr val="135BFD"/>
          </a:solidFill>
          <a:ln/>
        </p:spPr>
      </p:sp>
      <p:sp>
        <p:nvSpPr>
          <p:cNvPr id="19" name="Text 17"/>
          <p:cNvSpPr/>
          <p:nvPr/>
        </p:nvSpPr>
        <p:spPr>
          <a:xfrm>
            <a:off x="9858375" y="6688187"/>
            <a:ext cx="575599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Deployment &amp; support for organisations &amp; government</a:t>
            </a:r>
            <a:endParaRPr lang="en-US" sz="1800" dirty="0"/>
          </a:p>
        </p:txBody>
      </p:sp>
      <p:sp>
        <p:nvSpPr>
          <p:cNvPr id="20" name="Text 18"/>
          <p:cNvSpPr/>
          <p:nvPr/>
        </p:nvSpPr>
        <p:spPr>
          <a:xfrm>
            <a:off x="1143000" y="7972425"/>
            <a:ext cx="16482060" cy="628650"/>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Three revenue streams: managed-cloud subscriptions · commercial licences (business &amp; government) · support &amp; deployment.</a:t>
            </a:r>
            <a:endParaRPr lang="en-US" sz="1800" dirty="0"/>
          </a:p>
        </p:txBody>
      </p:sp>
      <p:sp>
        <p:nvSpPr>
          <p:cNvPr id="21" name="Text 19"/>
          <p:cNvSpPr/>
          <p:nvPr/>
        </p:nvSpPr>
        <p:spPr>
          <a:xfrm>
            <a:off x="1143000" y="8620125"/>
            <a:ext cx="10510839"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Transparency earns the trust; licensing and hosting capture the revenue.</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1143000" y="1047750"/>
            <a:ext cx="1685627"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11 — MARKET</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78477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A universal problem, a growing market.</a:t>
            </a:r>
            <a:endParaRPr lang="en-US" sz="6000" dirty="0"/>
          </a:p>
        </p:txBody>
      </p:sp>
      <p:sp>
        <p:nvSpPr>
          <p:cNvPr id="5" name="Text 3"/>
          <p:cNvSpPr/>
          <p:nvPr/>
        </p:nvSpPr>
        <p:spPr>
          <a:xfrm>
            <a:off x="1143000" y="4002732"/>
            <a:ext cx="7019592" cy="1446907"/>
          </a:xfrm>
          <a:prstGeom prst="rect">
            <a:avLst/>
          </a:prstGeom>
          <a:noFill/>
          <a:ln/>
        </p:spPr>
        <p:txBody>
          <a:bodyPr wrap="square" lIns="25400" tIns="25400" rIns="25400" bIns="25400" rtlCol="0" anchor="t">
            <a:normAutofit/>
          </a:bodyPr>
          <a:lstStyle/>
          <a:p>
            <a:pPr algn="l" indent="0" marL="0">
              <a:lnSpc>
                <a:spcPct val="86000"/>
              </a:lnSpc>
              <a:buNone/>
            </a:pPr>
            <a:r>
              <a:rPr lang="en-US" sz="12900" b="1" spc="-516" kern="0" dirty="0">
                <a:solidFill>
                  <a:srgbClr val="000000"/>
                </a:solidFill>
                <a:latin typeface="Hanken Grotesk" pitchFamily="34" charset="0"/>
                <a:ea typeface="Hanken Grotesk" pitchFamily="34" charset="-122"/>
                <a:cs typeface="Hanken Grotesk" pitchFamily="34" charset="-120"/>
              </a:rPr>
              <a:t>4.6</a:t>
            </a:r>
            <a:pPr algn="l" indent="0" marL="0">
              <a:lnSpc>
                <a:spcPct val="86000"/>
              </a:lnSpc>
              <a:buNone/>
            </a:pPr>
            <a:r>
              <a:rPr lang="en-US" sz="5160" b="1" spc="-516" kern="0" dirty="0">
                <a:solidFill>
                  <a:srgbClr val="000000"/>
                </a:solidFill>
                <a:latin typeface="Hanken Grotesk" pitchFamily="34" charset="0"/>
                <a:ea typeface="Hanken Grotesk" pitchFamily="34" charset="-122"/>
                <a:cs typeface="Hanken Grotesk" pitchFamily="34" charset="-120"/>
              </a:rPr>
              <a:t>B</a:t>
            </a:r>
            <a:endParaRPr lang="en-US" sz="12900" dirty="0"/>
          </a:p>
        </p:txBody>
      </p:sp>
      <p:sp>
        <p:nvSpPr>
          <p:cNvPr id="6" name="Text 4"/>
          <p:cNvSpPr/>
          <p:nvPr/>
        </p:nvSpPr>
        <p:spPr>
          <a:xfrm>
            <a:off x="1143000" y="5582989"/>
            <a:ext cx="7019592"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email users worldwide</a:t>
            </a:r>
            <a:endParaRPr lang="en-US" sz="3000" dirty="0"/>
          </a:p>
        </p:txBody>
      </p:sp>
      <p:sp>
        <p:nvSpPr>
          <p:cNvPr id="7" name="Text 5"/>
          <p:cNvSpPr/>
          <p:nvPr/>
        </p:nvSpPr>
        <p:spPr>
          <a:xfrm>
            <a:off x="1143000" y="6078289"/>
            <a:ext cx="3955572" cy="12382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Everyone with an inbox is exposed. Privacy is no longer a niche concern.</a:t>
            </a:r>
            <a:endParaRPr lang="en-US" sz="2250" dirty="0"/>
          </a:p>
        </p:txBody>
      </p:sp>
      <p:sp>
        <p:nvSpPr>
          <p:cNvPr id="8" name="Text 6"/>
          <p:cNvSpPr/>
          <p:nvPr/>
        </p:nvSpPr>
        <p:spPr>
          <a:xfrm>
            <a:off x="8815388" y="3540323"/>
            <a:ext cx="857950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spent on email-security products · USD / year</a:t>
            </a:r>
            <a:endParaRPr lang="en-US" sz="1800" dirty="0"/>
          </a:p>
        </p:txBody>
      </p:sp>
      <p:sp>
        <p:nvSpPr>
          <p:cNvPr id="9" name="Text 7"/>
          <p:cNvSpPr/>
          <p:nvPr/>
        </p:nvSpPr>
        <p:spPr>
          <a:xfrm>
            <a:off x="8815388" y="4216598"/>
            <a:ext cx="716310"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b="1" dirty="0">
                <a:solidFill>
                  <a:srgbClr val="000000"/>
                </a:solidFill>
                <a:latin typeface="Hanken Grotesk" pitchFamily="34" charset="0"/>
                <a:ea typeface="Hanken Grotesk" pitchFamily="34" charset="-122"/>
                <a:cs typeface="Hanken Grotesk" pitchFamily="34" charset="-120"/>
              </a:rPr>
              <a:t>2025</a:t>
            </a:r>
            <a:endParaRPr lang="en-US" sz="2250" dirty="0"/>
          </a:p>
        </p:txBody>
      </p:sp>
      <p:sp>
        <p:nvSpPr>
          <p:cNvPr id="10" name="Text 8"/>
          <p:cNvSpPr/>
          <p:nvPr/>
        </p:nvSpPr>
        <p:spPr>
          <a:xfrm>
            <a:off x="15708660" y="4026098"/>
            <a:ext cx="1512540" cy="586680"/>
          </a:xfrm>
          <a:prstGeom prst="rect">
            <a:avLst/>
          </a:prstGeom>
          <a:noFill/>
          <a:ln/>
        </p:spPr>
        <p:txBody>
          <a:bodyPr wrap="square" lIns="25400" tIns="25400" rIns="25400" bIns="25400" rtlCol="0" anchor="t">
            <a:normAutofit/>
          </a:bodyPr>
          <a:lstStyle/>
          <a:p>
            <a:pPr algn="l" indent="0" marL="0">
              <a:lnSpc>
                <a:spcPct val="90000"/>
              </a:lnSpc>
              <a:buNone/>
            </a:pPr>
            <a:r>
              <a:rPr lang="en-US" sz="4800" b="1" spc="-168" kern="0" dirty="0">
                <a:solidFill>
                  <a:srgbClr val="000000"/>
                </a:solidFill>
                <a:latin typeface="Hanken Grotesk" pitchFamily="34" charset="0"/>
                <a:ea typeface="Hanken Grotesk" pitchFamily="34" charset="-122"/>
                <a:cs typeface="Hanken Grotesk" pitchFamily="34" charset="-120"/>
              </a:rPr>
              <a:t>$5.9B</a:t>
            </a:r>
            <a:endParaRPr lang="en-US" sz="4800" dirty="0"/>
          </a:p>
        </p:txBody>
      </p:sp>
      <p:sp>
        <p:nvSpPr>
          <p:cNvPr id="11" name="Shape 9"/>
          <p:cNvSpPr/>
          <p:nvPr/>
        </p:nvSpPr>
        <p:spPr>
          <a:xfrm>
            <a:off x="8815388" y="4711898"/>
            <a:ext cx="3498354" cy="209550"/>
          </a:xfrm>
          <a:prstGeom prst="roundRect">
            <a:avLst>
              <a:gd name="adj" fmla="val 50000"/>
            </a:avLst>
          </a:prstGeom>
          <a:solidFill>
            <a:srgbClr val="135BFD"/>
          </a:solidFill>
          <a:ln/>
        </p:spPr>
      </p:sp>
      <p:sp>
        <p:nvSpPr>
          <p:cNvPr id="12" name="Text 10"/>
          <p:cNvSpPr/>
          <p:nvPr/>
        </p:nvSpPr>
        <p:spPr>
          <a:xfrm>
            <a:off x="8815388" y="5378648"/>
            <a:ext cx="716310"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b="1" dirty="0">
                <a:solidFill>
                  <a:srgbClr val="000000"/>
                </a:solidFill>
                <a:latin typeface="Hanken Grotesk" pitchFamily="34" charset="0"/>
                <a:ea typeface="Hanken Grotesk" pitchFamily="34" charset="-122"/>
                <a:cs typeface="Hanken Grotesk" pitchFamily="34" charset="-120"/>
              </a:rPr>
              <a:t>2035</a:t>
            </a:r>
            <a:endParaRPr lang="en-US" sz="2250" dirty="0"/>
          </a:p>
        </p:txBody>
      </p:sp>
      <p:sp>
        <p:nvSpPr>
          <p:cNvPr id="13" name="Text 11"/>
          <p:cNvSpPr/>
          <p:nvPr/>
        </p:nvSpPr>
        <p:spPr>
          <a:xfrm>
            <a:off x="15833675" y="5188148"/>
            <a:ext cx="1387525" cy="586680"/>
          </a:xfrm>
          <a:prstGeom prst="rect">
            <a:avLst/>
          </a:prstGeom>
          <a:noFill/>
          <a:ln/>
        </p:spPr>
        <p:txBody>
          <a:bodyPr wrap="square" lIns="25400" tIns="25400" rIns="25400" bIns="25400" rtlCol="0" anchor="t">
            <a:normAutofit/>
          </a:bodyPr>
          <a:lstStyle/>
          <a:p>
            <a:pPr algn="l" indent="0" marL="0">
              <a:lnSpc>
                <a:spcPct val="90000"/>
              </a:lnSpc>
              <a:buNone/>
            </a:pPr>
            <a:r>
              <a:rPr lang="en-US" sz="4800" b="1" spc="-168" kern="0" dirty="0">
                <a:solidFill>
                  <a:srgbClr val="135BFD"/>
                </a:solidFill>
                <a:latin typeface="Hanken Grotesk" pitchFamily="34" charset="0"/>
                <a:ea typeface="Hanken Grotesk" pitchFamily="34" charset="-122"/>
                <a:cs typeface="Hanken Grotesk" pitchFamily="34" charset="-120"/>
              </a:rPr>
              <a:t>$14B</a:t>
            </a:r>
            <a:endParaRPr lang="en-US" sz="4800" dirty="0"/>
          </a:p>
        </p:txBody>
      </p:sp>
      <p:sp>
        <p:nvSpPr>
          <p:cNvPr id="14" name="Shape 12"/>
          <p:cNvSpPr/>
          <p:nvPr/>
        </p:nvSpPr>
        <p:spPr>
          <a:xfrm>
            <a:off x="8815388" y="5873948"/>
            <a:ext cx="8329613" cy="209550"/>
          </a:xfrm>
          <a:prstGeom prst="roundRect">
            <a:avLst>
              <a:gd name="adj" fmla="val 50000"/>
            </a:avLst>
          </a:prstGeom>
          <a:solidFill>
            <a:srgbClr val="135BFD"/>
          </a:solidFill>
          <a:ln/>
        </p:spPr>
      </p:sp>
      <p:sp>
        <p:nvSpPr>
          <p:cNvPr id="15" name="Text 13"/>
          <p:cNvSpPr/>
          <p:nvPr/>
        </p:nvSpPr>
        <p:spPr>
          <a:xfrm>
            <a:off x="8815388" y="6369248"/>
            <a:ext cx="6592671" cy="16383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This is the market Nullbox sells into — the world's annual spend on email-security products. It's growing ~10% a year as phishing, regulation and demand for privacy rise.</a:t>
            </a:r>
            <a:endParaRPr lang="en-US" sz="2250" dirty="0"/>
          </a:p>
        </p:txBody>
      </p:sp>
      <p:sp>
        <p:nvSpPr>
          <p:cNvPr id="16" name="Text 14"/>
          <p:cNvSpPr/>
          <p:nvPr/>
        </p:nvSpPr>
        <p:spPr>
          <a:xfrm>
            <a:off x="1143000" y="8267700"/>
            <a:ext cx="11532843"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We start with privacy-first consumers, then organisations and government teams.</a:t>
            </a:r>
            <a:endParaRPr lang="en-US" sz="1800" dirty="0"/>
          </a:p>
        </p:txBody>
      </p:sp>
      <p:sp>
        <p:nvSpPr>
          <p:cNvPr id="17" name="Text 15"/>
          <p:cNvSpPr/>
          <p:nvPr/>
        </p:nvSpPr>
        <p:spPr>
          <a:xfrm>
            <a:off x="1143000" y="8620125"/>
            <a:ext cx="7299198"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ResearchNester / Fortune / SkyQuest 2025–26 (est.)</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1143000" y="1047750"/>
            <a:ext cx="2863206"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12 — EARLY TRACTION</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78477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Small numbers — but every one is organic.</a:t>
            </a:r>
            <a:endParaRPr lang="en-US" sz="6000" dirty="0"/>
          </a:p>
        </p:txBody>
      </p:sp>
      <p:sp>
        <p:nvSpPr>
          <p:cNvPr id="5" name="Text 3"/>
          <p:cNvSpPr/>
          <p:nvPr/>
        </p:nvSpPr>
        <p:spPr>
          <a:xfrm>
            <a:off x="1143000" y="2804071"/>
            <a:ext cx="8900190" cy="16383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A private beta seeded by about ten comments on privacy subreddits in December 2025 — the only marketing we've done. The forward / quarantine / drop split shows the trust model working in the wild.</a:t>
            </a:r>
            <a:endParaRPr lang="en-US" sz="2250" dirty="0"/>
          </a:p>
        </p:txBody>
      </p:sp>
      <p:sp>
        <p:nvSpPr>
          <p:cNvPr id="6" name="Text 4"/>
          <p:cNvSpPr/>
          <p:nvPr/>
        </p:nvSpPr>
        <p:spPr>
          <a:xfrm>
            <a:off x="1514475" y="5156746"/>
            <a:ext cx="457181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000000"/>
                </a:solidFill>
                <a:latin typeface="Hanken Grotesk" pitchFamily="34" charset="0"/>
                <a:ea typeface="Hanken Grotesk" pitchFamily="34" charset="-122"/>
                <a:cs typeface="Hanken Grotesk" pitchFamily="34" charset="-120"/>
              </a:rPr>
              <a:t>23</a:t>
            </a:r>
            <a:endParaRPr lang="en-US" sz="7800" dirty="0"/>
          </a:p>
        </p:txBody>
      </p:sp>
      <p:sp>
        <p:nvSpPr>
          <p:cNvPr id="7" name="Text 5"/>
          <p:cNvSpPr/>
          <p:nvPr/>
        </p:nvSpPr>
        <p:spPr>
          <a:xfrm>
            <a:off x="1514475" y="6181576"/>
            <a:ext cx="4571810"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active users</a:t>
            </a:r>
            <a:endParaRPr lang="en-US" sz="1800" dirty="0"/>
          </a:p>
        </p:txBody>
      </p:sp>
      <p:sp>
        <p:nvSpPr>
          <p:cNvPr id="8" name="Text 6"/>
          <p:cNvSpPr/>
          <p:nvPr/>
        </p:nvSpPr>
        <p:spPr>
          <a:xfrm>
            <a:off x="6924675" y="5156746"/>
            <a:ext cx="457181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000000"/>
                </a:solidFill>
                <a:latin typeface="Hanken Grotesk" pitchFamily="34" charset="0"/>
                <a:ea typeface="Hanken Grotesk" pitchFamily="34" charset="-122"/>
                <a:cs typeface="Hanken Grotesk" pitchFamily="34" charset="-120"/>
              </a:rPr>
              <a:t>62</a:t>
            </a:r>
            <a:endParaRPr lang="en-US" sz="7800" dirty="0"/>
          </a:p>
        </p:txBody>
      </p:sp>
      <p:sp>
        <p:nvSpPr>
          <p:cNvPr id="9" name="Text 7"/>
          <p:cNvSpPr/>
          <p:nvPr/>
        </p:nvSpPr>
        <p:spPr>
          <a:xfrm>
            <a:off x="6924675" y="6181576"/>
            <a:ext cx="4571810"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aliases in use</a:t>
            </a:r>
            <a:endParaRPr lang="en-US" sz="1800" dirty="0"/>
          </a:p>
        </p:txBody>
      </p:sp>
      <p:sp>
        <p:nvSpPr>
          <p:cNvPr id="10" name="Text 8"/>
          <p:cNvSpPr/>
          <p:nvPr/>
        </p:nvSpPr>
        <p:spPr>
          <a:xfrm>
            <a:off x="12334875" y="5156746"/>
            <a:ext cx="457181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135BFD"/>
                </a:solidFill>
                <a:latin typeface="Hanken Grotesk" pitchFamily="34" charset="0"/>
                <a:ea typeface="Hanken Grotesk" pitchFamily="34" charset="-122"/>
                <a:cs typeface="Hanken Grotesk" pitchFamily="34" charset="-120"/>
              </a:rPr>
              <a:t>551</a:t>
            </a:r>
            <a:endParaRPr lang="en-US" sz="7800" dirty="0"/>
          </a:p>
        </p:txBody>
      </p:sp>
      <p:sp>
        <p:nvSpPr>
          <p:cNvPr id="11" name="Text 9"/>
          <p:cNvSpPr/>
          <p:nvPr/>
        </p:nvSpPr>
        <p:spPr>
          <a:xfrm>
            <a:off x="12334875" y="6181576"/>
            <a:ext cx="4571810"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135BFD"/>
                </a:solidFill>
                <a:latin typeface="JetBrains Mono" pitchFamily="34" charset="0"/>
                <a:ea typeface="JetBrains Mono" pitchFamily="34" charset="-122"/>
                <a:cs typeface="JetBrains Mono" pitchFamily="34" charset="-120"/>
              </a:rPr>
              <a:t>emails relayed</a:t>
            </a:r>
            <a:endParaRPr lang="en-US" sz="1800" dirty="0"/>
          </a:p>
        </p:txBody>
      </p:sp>
      <p:sp>
        <p:nvSpPr>
          <p:cNvPr id="12" name="Text 10"/>
          <p:cNvSpPr/>
          <p:nvPr/>
        </p:nvSpPr>
        <p:spPr>
          <a:xfrm>
            <a:off x="1514475" y="7448401"/>
            <a:ext cx="457181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000000"/>
                </a:solidFill>
                <a:latin typeface="Hanken Grotesk" pitchFamily="34" charset="0"/>
                <a:ea typeface="Hanken Grotesk" pitchFamily="34" charset="-122"/>
                <a:cs typeface="Hanken Grotesk" pitchFamily="34" charset="-120"/>
              </a:rPr>
              <a:t>517</a:t>
            </a:r>
            <a:endParaRPr lang="en-US" sz="7800" dirty="0"/>
          </a:p>
        </p:txBody>
      </p:sp>
      <p:sp>
        <p:nvSpPr>
          <p:cNvPr id="13" name="Text 11"/>
          <p:cNvSpPr/>
          <p:nvPr/>
        </p:nvSpPr>
        <p:spPr>
          <a:xfrm>
            <a:off x="1514475" y="8473232"/>
            <a:ext cx="4571810"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forwarded · trusted</a:t>
            </a:r>
            <a:endParaRPr lang="en-US" sz="1800" dirty="0"/>
          </a:p>
        </p:txBody>
      </p:sp>
      <p:sp>
        <p:nvSpPr>
          <p:cNvPr id="14" name="Text 12"/>
          <p:cNvSpPr/>
          <p:nvPr/>
        </p:nvSpPr>
        <p:spPr>
          <a:xfrm>
            <a:off x="6924675" y="7448401"/>
            <a:ext cx="457181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000000"/>
                </a:solidFill>
                <a:latin typeface="Hanken Grotesk" pitchFamily="34" charset="0"/>
                <a:ea typeface="Hanken Grotesk" pitchFamily="34" charset="-122"/>
                <a:cs typeface="Hanken Grotesk" pitchFamily="34" charset="-120"/>
              </a:rPr>
              <a:t>16</a:t>
            </a:r>
            <a:endParaRPr lang="en-US" sz="7800" dirty="0"/>
          </a:p>
        </p:txBody>
      </p:sp>
      <p:sp>
        <p:nvSpPr>
          <p:cNvPr id="15" name="Text 13"/>
          <p:cNvSpPr/>
          <p:nvPr/>
        </p:nvSpPr>
        <p:spPr>
          <a:xfrm>
            <a:off x="6924675" y="8473232"/>
            <a:ext cx="4571810"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quarantined</a:t>
            </a:r>
            <a:endParaRPr lang="en-US" sz="1800" dirty="0"/>
          </a:p>
        </p:txBody>
      </p:sp>
      <p:sp>
        <p:nvSpPr>
          <p:cNvPr id="16" name="Text 14"/>
          <p:cNvSpPr/>
          <p:nvPr/>
        </p:nvSpPr>
        <p:spPr>
          <a:xfrm>
            <a:off x="12334875" y="7448401"/>
            <a:ext cx="457181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000000"/>
                </a:solidFill>
                <a:latin typeface="Hanken Grotesk" pitchFamily="34" charset="0"/>
                <a:ea typeface="Hanken Grotesk" pitchFamily="34" charset="-122"/>
                <a:cs typeface="Hanken Grotesk" pitchFamily="34" charset="-120"/>
              </a:rPr>
              <a:t>18</a:t>
            </a:r>
            <a:endParaRPr lang="en-US" sz="7800" dirty="0"/>
          </a:p>
        </p:txBody>
      </p:sp>
      <p:sp>
        <p:nvSpPr>
          <p:cNvPr id="17" name="Text 15"/>
          <p:cNvSpPr/>
          <p:nvPr/>
        </p:nvSpPr>
        <p:spPr>
          <a:xfrm>
            <a:off x="12334875" y="8473232"/>
            <a:ext cx="4571810"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dropped · untrusted</a:t>
            </a:r>
            <a:endParaRPr lang="en-US" sz="1800" dirty="0"/>
          </a:p>
        </p:txBody>
      </p:sp>
      <p:sp>
        <p:nvSpPr>
          <p:cNvPr id="18" name="Text 16"/>
          <p:cNvSpPr/>
          <p:nvPr/>
        </p:nvSpPr>
        <p:spPr>
          <a:xfrm>
            <a:off x="1143000" y="9406682"/>
            <a:ext cx="16482060" cy="628650"/>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Honest early-beta numbers, zero paid acquisition. The point is the ratio — this is organic pull before we've spent a cent.</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1143000" y="1047750"/>
            <a:ext cx="2863206"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13 — BUSINESS MODEL</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78477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Free to start. Paid as you rely on it.</a:t>
            </a:r>
            <a:endParaRPr lang="en-US" sz="6000" dirty="0"/>
          </a:p>
        </p:txBody>
      </p:sp>
      <p:sp>
        <p:nvSpPr>
          <p:cNvPr id="5" name="Text 3"/>
          <p:cNvSpPr/>
          <p:nvPr/>
        </p:nvSpPr>
        <p:spPr>
          <a:xfrm>
            <a:off x="1143000" y="2804071"/>
            <a:ext cx="8240877"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Freemium gets people protected. Paid plans add mailboxes, domains, headroom and faster support.</a:t>
            </a:r>
            <a:endParaRPr lang="en-US" sz="2250" dirty="0"/>
          </a:p>
        </p:txBody>
      </p:sp>
      <p:sp>
        <p:nvSpPr>
          <p:cNvPr id="6" name="Text 4"/>
          <p:cNvSpPr/>
          <p:nvPr/>
        </p:nvSpPr>
        <p:spPr>
          <a:xfrm>
            <a:off x="1514475" y="4356646"/>
            <a:ext cx="4545596"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000000"/>
                </a:solidFill>
                <a:latin typeface="JetBrains Mono" pitchFamily="34" charset="0"/>
                <a:ea typeface="JetBrains Mono" pitchFamily="34" charset="-122"/>
                <a:cs typeface="JetBrains Mono" pitchFamily="34" charset="-120"/>
              </a:rPr>
              <a:t>FREE</a:t>
            </a:r>
            <a:endParaRPr lang="en-US" sz="1800" dirty="0"/>
          </a:p>
        </p:txBody>
      </p:sp>
      <p:sp>
        <p:nvSpPr>
          <p:cNvPr id="7" name="Text 5"/>
          <p:cNvSpPr/>
          <p:nvPr/>
        </p:nvSpPr>
        <p:spPr>
          <a:xfrm>
            <a:off x="1514475" y="4823371"/>
            <a:ext cx="693539" cy="781050"/>
          </a:xfrm>
          <a:prstGeom prst="rect">
            <a:avLst/>
          </a:prstGeom>
          <a:noFill/>
          <a:ln/>
        </p:spPr>
        <p:txBody>
          <a:bodyPr wrap="square" lIns="25400" tIns="25400" rIns="25400" bIns="25400" rtlCol="0" anchor="t">
            <a:normAutofit/>
          </a:bodyPr>
          <a:lstStyle/>
          <a:p>
            <a:pPr algn="l" indent="0" marL="0">
              <a:buNone/>
            </a:pPr>
            <a:r>
              <a:rPr lang="en-US" sz="4500" b="1" spc="-90" kern="0" dirty="0">
                <a:solidFill>
                  <a:srgbClr val="000000"/>
                </a:solidFill>
                <a:latin typeface="Hanken Grotesk" pitchFamily="34" charset="0"/>
                <a:ea typeface="Hanken Grotesk" pitchFamily="34" charset="-122"/>
                <a:cs typeface="Hanken Grotesk" pitchFamily="34" charset="-120"/>
              </a:rPr>
              <a:t>$0</a:t>
            </a:r>
            <a:endParaRPr lang="en-US" sz="4500" dirty="0"/>
          </a:p>
        </p:txBody>
      </p:sp>
      <p:sp>
        <p:nvSpPr>
          <p:cNvPr id="8" name="Text 6"/>
          <p:cNvSpPr/>
          <p:nvPr/>
        </p:nvSpPr>
        <p:spPr>
          <a:xfrm>
            <a:off x="1514475" y="5623471"/>
            <a:ext cx="4545596"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Leave your real address behind.</a:t>
            </a:r>
            <a:endParaRPr lang="en-US" sz="1800" dirty="0"/>
          </a:p>
        </p:txBody>
      </p:sp>
      <p:sp>
        <p:nvSpPr>
          <p:cNvPr id="9" name="Shape 7"/>
          <p:cNvSpPr/>
          <p:nvPr/>
        </p:nvSpPr>
        <p:spPr>
          <a:xfrm rot="2700000">
            <a:off x="1514475" y="6532066"/>
            <a:ext cx="76200" cy="76200"/>
          </a:xfrm>
          <a:prstGeom prst="rect">
            <a:avLst/>
          </a:prstGeom>
          <a:solidFill>
            <a:srgbClr val="135BFD"/>
          </a:solidFill>
          <a:ln/>
        </p:spPr>
      </p:sp>
      <p:sp>
        <p:nvSpPr>
          <p:cNvPr id="10" name="Text 8"/>
          <p:cNvSpPr/>
          <p:nvPr/>
        </p:nvSpPr>
        <p:spPr>
          <a:xfrm>
            <a:off x="1724025" y="6410176"/>
            <a:ext cx="1067991"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1 mailbox</a:t>
            </a:r>
            <a:endParaRPr lang="en-US" sz="1800" dirty="0"/>
          </a:p>
        </p:txBody>
      </p:sp>
      <p:sp>
        <p:nvSpPr>
          <p:cNvPr id="11" name="Shape 9"/>
          <p:cNvSpPr/>
          <p:nvPr/>
        </p:nvSpPr>
        <p:spPr>
          <a:xfrm rot="2700000">
            <a:off x="1514475" y="7004447"/>
            <a:ext cx="76200" cy="76200"/>
          </a:xfrm>
          <a:prstGeom prst="rect">
            <a:avLst/>
          </a:prstGeom>
          <a:solidFill>
            <a:srgbClr val="135BFD"/>
          </a:solidFill>
          <a:ln/>
        </p:spPr>
      </p:sp>
      <p:sp>
        <p:nvSpPr>
          <p:cNvPr id="12" name="Text 10"/>
          <p:cNvSpPr/>
          <p:nvPr/>
        </p:nvSpPr>
        <p:spPr>
          <a:xfrm>
            <a:off x="1724025" y="6882557"/>
            <a:ext cx="1089124"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10 aliases</a:t>
            </a:r>
            <a:endParaRPr lang="en-US" sz="1800" dirty="0"/>
          </a:p>
        </p:txBody>
      </p:sp>
      <p:sp>
        <p:nvSpPr>
          <p:cNvPr id="13" name="Shape 11"/>
          <p:cNvSpPr/>
          <p:nvPr/>
        </p:nvSpPr>
        <p:spPr>
          <a:xfrm rot="2700000">
            <a:off x="1514475" y="7476827"/>
            <a:ext cx="76200" cy="76200"/>
          </a:xfrm>
          <a:prstGeom prst="rect">
            <a:avLst/>
          </a:prstGeom>
          <a:solidFill>
            <a:srgbClr val="135BFD"/>
          </a:solidFill>
          <a:ln/>
        </p:spPr>
      </p:sp>
      <p:sp>
        <p:nvSpPr>
          <p:cNvPr id="14" name="Text 12"/>
          <p:cNvSpPr/>
          <p:nvPr/>
        </p:nvSpPr>
        <p:spPr>
          <a:xfrm>
            <a:off x="1724025" y="7354937"/>
            <a:ext cx="1713756"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100 MB / month</a:t>
            </a:r>
            <a:endParaRPr lang="en-US" sz="1800" dirty="0"/>
          </a:p>
        </p:txBody>
      </p:sp>
      <p:sp>
        <p:nvSpPr>
          <p:cNvPr id="15" name="Shape 13"/>
          <p:cNvSpPr/>
          <p:nvPr/>
        </p:nvSpPr>
        <p:spPr>
          <a:xfrm rot="2700000">
            <a:off x="1514475" y="7949208"/>
            <a:ext cx="76200" cy="76200"/>
          </a:xfrm>
          <a:prstGeom prst="rect">
            <a:avLst/>
          </a:prstGeom>
          <a:solidFill>
            <a:srgbClr val="135BFD"/>
          </a:solidFill>
          <a:ln/>
        </p:spPr>
      </p:sp>
      <p:sp>
        <p:nvSpPr>
          <p:cNvPr id="16" name="Text 14"/>
          <p:cNvSpPr/>
          <p:nvPr/>
        </p:nvSpPr>
        <p:spPr>
          <a:xfrm>
            <a:off x="1724025" y="7827318"/>
            <a:ext cx="1321743"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48h support</a:t>
            </a:r>
            <a:endParaRPr lang="en-US" sz="1800" dirty="0"/>
          </a:p>
        </p:txBody>
      </p:sp>
      <p:sp>
        <p:nvSpPr>
          <p:cNvPr id="17" name="Text 15"/>
          <p:cNvSpPr/>
          <p:nvPr/>
        </p:nvSpPr>
        <p:spPr>
          <a:xfrm>
            <a:off x="6937325" y="4356646"/>
            <a:ext cx="4545596"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135BFD"/>
                </a:solidFill>
                <a:latin typeface="JetBrains Mono" pitchFamily="34" charset="0"/>
                <a:ea typeface="JetBrains Mono" pitchFamily="34" charset="-122"/>
                <a:cs typeface="JetBrains Mono" pitchFamily="34" charset="-120"/>
              </a:rPr>
              <a:t>PLUS · MOST POPULAR</a:t>
            </a:r>
            <a:endParaRPr lang="en-US" sz="1800" dirty="0"/>
          </a:p>
        </p:txBody>
      </p:sp>
      <p:sp>
        <p:nvSpPr>
          <p:cNvPr id="18" name="Text 16"/>
          <p:cNvSpPr/>
          <p:nvPr/>
        </p:nvSpPr>
        <p:spPr>
          <a:xfrm>
            <a:off x="6937325" y="4823371"/>
            <a:ext cx="693539" cy="781050"/>
          </a:xfrm>
          <a:prstGeom prst="rect">
            <a:avLst/>
          </a:prstGeom>
          <a:noFill/>
          <a:ln/>
        </p:spPr>
        <p:txBody>
          <a:bodyPr wrap="square" lIns="25400" tIns="25400" rIns="25400" bIns="25400" rtlCol="0" anchor="t">
            <a:normAutofit/>
          </a:bodyPr>
          <a:lstStyle/>
          <a:p>
            <a:pPr algn="l" indent="0" marL="0">
              <a:buNone/>
            </a:pPr>
            <a:r>
              <a:rPr lang="en-US" sz="4500" b="1" spc="-90" kern="0" dirty="0">
                <a:solidFill>
                  <a:srgbClr val="000000"/>
                </a:solidFill>
                <a:latin typeface="Hanken Grotesk" pitchFamily="34" charset="0"/>
                <a:ea typeface="Hanken Grotesk" pitchFamily="34" charset="-122"/>
                <a:cs typeface="Hanken Grotesk" pitchFamily="34" charset="-120"/>
              </a:rPr>
              <a:t>$3</a:t>
            </a:r>
            <a:endParaRPr lang="en-US" sz="4500" dirty="0"/>
          </a:p>
        </p:txBody>
      </p:sp>
      <p:sp>
        <p:nvSpPr>
          <p:cNvPr id="19" name="Text 17"/>
          <p:cNvSpPr/>
          <p:nvPr/>
        </p:nvSpPr>
        <p:spPr>
          <a:xfrm>
            <a:off x="7630864" y="5128171"/>
            <a:ext cx="632817"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Hanken Grotesk" pitchFamily="34" charset="0"/>
                <a:ea typeface="Hanken Grotesk" pitchFamily="34" charset="-122"/>
                <a:cs typeface="Hanken Grotesk" pitchFamily="34" charset="-120"/>
              </a:rPr>
              <a:t>/ mo</a:t>
            </a:r>
            <a:endParaRPr lang="en-US" sz="2100" dirty="0"/>
          </a:p>
        </p:txBody>
      </p:sp>
      <p:sp>
        <p:nvSpPr>
          <p:cNvPr id="20" name="Text 18"/>
          <p:cNvSpPr/>
          <p:nvPr/>
        </p:nvSpPr>
        <p:spPr>
          <a:xfrm>
            <a:off x="6937325" y="5623471"/>
            <a:ext cx="4545596"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Room to organise everything.</a:t>
            </a:r>
            <a:endParaRPr lang="en-US" sz="1800" dirty="0"/>
          </a:p>
        </p:txBody>
      </p:sp>
      <p:sp>
        <p:nvSpPr>
          <p:cNvPr id="21" name="Shape 19"/>
          <p:cNvSpPr/>
          <p:nvPr/>
        </p:nvSpPr>
        <p:spPr>
          <a:xfrm rot="2700000">
            <a:off x="6937325" y="6532066"/>
            <a:ext cx="76200" cy="76200"/>
          </a:xfrm>
          <a:prstGeom prst="rect">
            <a:avLst/>
          </a:prstGeom>
          <a:solidFill>
            <a:srgbClr val="135BFD"/>
          </a:solidFill>
          <a:ln/>
        </p:spPr>
      </p:sp>
      <p:sp>
        <p:nvSpPr>
          <p:cNvPr id="22" name="Text 20"/>
          <p:cNvSpPr/>
          <p:nvPr/>
        </p:nvSpPr>
        <p:spPr>
          <a:xfrm>
            <a:off x="7146875" y="6410176"/>
            <a:ext cx="129316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5 mailboxes</a:t>
            </a:r>
            <a:endParaRPr lang="en-US" sz="1800" dirty="0"/>
          </a:p>
        </p:txBody>
      </p:sp>
      <p:sp>
        <p:nvSpPr>
          <p:cNvPr id="23" name="Shape 21"/>
          <p:cNvSpPr/>
          <p:nvPr/>
        </p:nvSpPr>
        <p:spPr>
          <a:xfrm rot="2700000">
            <a:off x="6937325" y="7004447"/>
            <a:ext cx="76200" cy="76200"/>
          </a:xfrm>
          <a:prstGeom prst="rect">
            <a:avLst/>
          </a:prstGeom>
          <a:solidFill>
            <a:srgbClr val="135BFD"/>
          </a:solidFill>
          <a:ln/>
        </p:spPr>
      </p:sp>
      <p:sp>
        <p:nvSpPr>
          <p:cNvPr id="24" name="Text 22"/>
          <p:cNvSpPr/>
          <p:nvPr/>
        </p:nvSpPr>
        <p:spPr>
          <a:xfrm>
            <a:off x="7146875" y="6882557"/>
            <a:ext cx="1089124"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50 aliases</a:t>
            </a:r>
            <a:endParaRPr lang="en-US" sz="1800" dirty="0"/>
          </a:p>
        </p:txBody>
      </p:sp>
      <p:sp>
        <p:nvSpPr>
          <p:cNvPr id="25" name="Shape 23"/>
          <p:cNvSpPr/>
          <p:nvPr/>
        </p:nvSpPr>
        <p:spPr>
          <a:xfrm rot="2700000">
            <a:off x="6937325" y="7476827"/>
            <a:ext cx="76200" cy="76200"/>
          </a:xfrm>
          <a:prstGeom prst="rect">
            <a:avLst/>
          </a:prstGeom>
          <a:solidFill>
            <a:srgbClr val="135BFD"/>
          </a:solidFill>
          <a:ln/>
        </p:spPr>
      </p:sp>
      <p:sp>
        <p:nvSpPr>
          <p:cNvPr id="26" name="Text 24"/>
          <p:cNvSpPr/>
          <p:nvPr/>
        </p:nvSpPr>
        <p:spPr>
          <a:xfrm>
            <a:off x="7146875" y="7354937"/>
            <a:ext cx="1433066"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1 GB / month</a:t>
            </a:r>
            <a:endParaRPr lang="en-US" sz="1800" dirty="0"/>
          </a:p>
        </p:txBody>
      </p:sp>
      <p:sp>
        <p:nvSpPr>
          <p:cNvPr id="27" name="Shape 25"/>
          <p:cNvSpPr/>
          <p:nvPr/>
        </p:nvSpPr>
        <p:spPr>
          <a:xfrm rot="2700000">
            <a:off x="6937325" y="7949208"/>
            <a:ext cx="76200" cy="76200"/>
          </a:xfrm>
          <a:prstGeom prst="rect">
            <a:avLst/>
          </a:prstGeom>
          <a:solidFill>
            <a:srgbClr val="135BFD"/>
          </a:solidFill>
          <a:ln/>
        </p:spPr>
      </p:sp>
      <p:sp>
        <p:nvSpPr>
          <p:cNvPr id="28" name="Text 26"/>
          <p:cNvSpPr/>
          <p:nvPr/>
        </p:nvSpPr>
        <p:spPr>
          <a:xfrm>
            <a:off x="7146875" y="7827318"/>
            <a:ext cx="1321743"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48h support</a:t>
            </a:r>
            <a:endParaRPr lang="en-US" sz="1800" dirty="0"/>
          </a:p>
        </p:txBody>
      </p:sp>
      <p:sp>
        <p:nvSpPr>
          <p:cNvPr id="29" name="Text 27"/>
          <p:cNvSpPr/>
          <p:nvPr/>
        </p:nvSpPr>
        <p:spPr>
          <a:xfrm>
            <a:off x="12360176" y="4356646"/>
            <a:ext cx="4545596"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000000"/>
                </a:solidFill>
                <a:latin typeface="JetBrains Mono" pitchFamily="34" charset="0"/>
                <a:ea typeface="JetBrains Mono" pitchFamily="34" charset="-122"/>
                <a:cs typeface="JetBrains Mono" pitchFamily="34" charset="-120"/>
              </a:rPr>
              <a:t>PRO</a:t>
            </a:r>
            <a:endParaRPr lang="en-US" sz="1800" dirty="0"/>
          </a:p>
        </p:txBody>
      </p:sp>
      <p:sp>
        <p:nvSpPr>
          <p:cNvPr id="30" name="Text 28"/>
          <p:cNvSpPr/>
          <p:nvPr/>
        </p:nvSpPr>
        <p:spPr>
          <a:xfrm>
            <a:off x="12360176" y="4823371"/>
            <a:ext cx="693539" cy="781050"/>
          </a:xfrm>
          <a:prstGeom prst="rect">
            <a:avLst/>
          </a:prstGeom>
          <a:noFill/>
          <a:ln/>
        </p:spPr>
        <p:txBody>
          <a:bodyPr wrap="square" lIns="25400" tIns="25400" rIns="25400" bIns="25400" rtlCol="0" anchor="t">
            <a:normAutofit/>
          </a:bodyPr>
          <a:lstStyle/>
          <a:p>
            <a:pPr algn="l" indent="0" marL="0">
              <a:buNone/>
            </a:pPr>
            <a:r>
              <a:rPr lang="en-US" sz="4500" b="1" spc="-90" kern="0" dirty="0">
                <a:solidFill>
                  <a:srgbClr val="000000"/>
                </a:solidFill>
                <a:latin typeface="Hanken Grotesk" pitchFamily="34" charset="0"/>
                <a:ea typeface="Hanken Grotesk" pitchFamily="34" charset="-122"/>
                <a:cs typeface="Hanken Grotesk" pitchFamily="34" charset="-120"/>
              </a:rPr>
              <a:t>$5</a:t>
            </a:r>
            <a:endParaRPr lang="en-US" sz="4500" dirty="0"/>
          </a:p>
        </p:txBody>
      </p:sp>
      <p:sp>
        <p:nvSpPr>
          <p:cNvPr id="31" name="Text 29"/>
          <p:cNvSpPr/>
          <p:nvPr/>
        </p:nvSpPr>
        <p:spPr>
          <a:xfrm>
            <a:off x="13053715" y="5128171"/>
            <a:ext cx="632817"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Hanken Grotesk" pitchFamily="34" charset="0"/>
                <a:ea typeface="Hanken Grotesk" pitchFamily="34" charset="-122"/>
                <a:cs typeface="Hanken Grotesk" pitchFamily="34" charset="-120"/>
              </a:rPr>
              <a:t>/ mo</a:t>
            </a:r>
            <a:endParaRPr lang="en-US" sz="2100" dirty="0"/>
          </a:p>
        </p:txBody>
      </p:sp>
      <p:sp>
        <p:nvSpPr>
          <p:cNvPr id="32" name="Text 30"/>
          <p:cNvSpPr/>
          <p:nvPr/>
        </p:nvSpPr>
        <p:spPr>
          <a:xfrm>
            <a:off x="12360176" y="5623471"/>
            <a:ext cx="4545596"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Power and headroom.</a:t>
            </a:r>
            <a:endParaRPr lang="en-US" sz="1800" dirty="0"/>
          </a:p>
        </p:txBody>
      </p:sp>
      <p:sp>
        <p:nvSpPr>
          <p:cNvPr id="33" name="Shape 31"/>
          <p:cNvSpPr/>
          <p:nvPr/>
        </p:nvSpPr>
        <p:spPr>
          <a:xfrm rot="2700000">
            <a:off x="12360176" y="6532066"/>
            <a:ext cx="76200" cy="76200"/>
          </a:xfrm>
          <a:prstGeom prst="rect">
            <a:avLst/>
          </a:prstGeom>
          <a:solidFill>
            <a:srgbClr val="135BFD"/>
          </a:solidFill>
          <a:ln/>
        </p:spPr>
      </p:sp>
      <p:sp>
        <p:nvSpPr>
          <p:cNvPr id="34" name="Text 32"/>
          <p:cNvSpPr/>
          <p:nvPr/>
        </p:nvSpPr>
        <p:spPr>
          <a:xfrm>
            <a:off x="12569726" y="6410176"/>
            <a:ext cx="2127796"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Unlimited mailboxes</a:t>
            </a:r>
            <a:endParaRPr lang="en-US" sz="1800" dirty="0"/>
          </a:p>
        </p:txBody>
      </p:sp>
      <p:sp>
        <p:nvSpPr>
          <p:cNvPr id="35" name="Shape 33"/>
          <p:cNvSpPr/>
          <p:nvPr/>
        </p:nvSpPr>
        <p:spPr>
          <a:xfrm rot="2700000">
            <a:off x="12360176" y="7004447"/>
            <a:ext cx="76200" cy="76200"/>
          </a:xfrm>
          <a:prstGeom prst="rect">
            <a:avLst/>
          </a:prstGeom>
          <a:solidFill>
            <a:srgbClr val="135BFD"/>
          </a:solidFill>
          <a:ln/>
        </p:spPr>
      </p:sp>
      <p:sp>
        <p:nvSpPr>
          <p:cNvPr id="36" name="Text 34"/>
          <p:cNvSpPr/>
          <p:nvPr/>
        </p:nvSpPr>
        <p:spPr>
          <a:xfrm>
            <a:off x="12569726" y="6882557"/>
            <a:ext cx="179576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Unlimited aliases</a:t>
            </a:r>
            <a:endParaRPr lang="en-US" sz="1800" dirty="0"/>
          </a:p>
        </p:txBody>
      </p:sp>
      <p:sp>
        <p:nvSpPr>
          <p:cNvPr id="37" name="Shape 35"/>
          <p:cNvSpPr/>
          <p:nvPr/>
        </p:nvSpPr>
        <p:spPr>
          <a:xfrm rot="2700000">
            <a:off x="12360176" y="7476827"/>
            <a:ext cx="76200" cy="76200"/>
          </a:xfrm>
          <a:prstGeom prst="rect">
            <a:avLst/>
          </a:prstGeom>
          <a:solidFill>
            <a:srgbClr val="135BFD"/>
          </a:solidFill>
          <a:ln/>
        </p:spPr>
      </p:sp>
      <p:sp>
        <p:nvSpPr>
          <p:cNvPr id="38" name="Text 36"/>
          <p:cNvSpPr/>
          <p:nvPr/>
        </p:nvSpPr>
        <p:spPr>
          <a:xfrm>
            <a:off x="12569726" y="7354937"/>
            <a:ext cx="156105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10 GB / month</a:t>
            </a:r>
            <a:endParaRPr lang="en-US" sz="1800" dirty="0"/>
          </a:p>
        </p:txBody>
      </p:sp>
      <p:sp>
        <p:nvSpPr>
          <p:cNvPr id="39" name="Shape 37"/>
          <p:cNvSpPr/>
          <p:nvPr/>
        </p:nvSpPr>
        <p:spPr>
          <a:xfrm rot="2700000">
            <a:off x="12360176" y="7949208"/>
            <a:ext cx="76200" cy="76200"/>
          </a:xfrm>
          <a:prstGeom prst="rect">
            <a:avLst/>
          </a:prstGeom>
          <a:solidFill>
            <a:srgbClr val="135BFD"/>
          </a:solidFill>
          <a:ln/>
        </p:spPr>
      </p:sp>
      <p:sp>
        <p:nvSpPr>
          <p:cNvPr id="40" name="Text 38"/>
          <p:cNvSpPr/>
          <p:nvPr/>
        </p:nvSpPr>
        <p:spPr>
          <a:xfrm>
            <a:off x="12569726" y="7827318"/>
            <a:ext cx="1321743"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24h support</a:t>
            </a:r>
            <a:endParaRPr lang="en-US" sz="1800" dirty="0"/>
          </a:p>
        </p:txBody>
      </p:sp>
      <p:sp>
        <p:nvSpPr>
          <p:cNvPr id="41" name="Text 39"/>
          <p:cNvSpPr/>
          <p:nvPr/>
        </p:nvSpPr>
        <p:spPr>
          <a:xfrm>
            <a:off x="1143000" y="8785473"/>
            <a:ext cx="8759160"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Team — $8 / seat — Pro for organisations, centrally managed.</a:t>
            </a:r>
            <a:endParaRPr lang="en-US" sz="1800" dirty="0"/>
          </a:p>
        </p:txBody>
      </p:sp>
      <p:sp>
        <p:nvSpPr>
          <p:cNvPr id="42" name="Text 40"/>
          <p:cNvSpPr/>
          <p:nvPr/>
        </p:nvSpPr>
        <p:spPr>
          <a:xfrm>
            <a:off x="1143000" y="9137898"/>
            <a:ext cx="4671603"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Billed monthly or annually · USD</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1143000" y="1047750"/>
            <a:ext cx="2863206"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14 — UNIT ECONOMICS</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78477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A near-fixed cost base.</a:t>
            </a:r>
            <a:endParaRPr lang="en-US" sz="6000" dirty="0"/>
          </a:p>
        </p:txBody>
      </p:sp>
      <p:sp>
        <p:nvSpPr>
          <p:cNvPr id="5" name="Text 3"/>
          <p:cNvSpPr/>
          <p:nvPr/>
        </p:nvSpPr>
        <p:spPr>
          <a:xfrm>
            <a:off x="1143000" y="2804071"/>
            <a:ext cx="8570610"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The whole platform runs on one small Azure cluster today. Adding users barely moves the bill.</a:t>
            </a:r>
            <a:endParaRPr lang="en-US" sz="2250" dirty="0"/>
          </a:p>
        </p:txBody>
      </p:sp>
      <p:sp>
        <p:nvSpPr>
          <p:cNvPr id="6" name="Text 4"/>
          <p:cNvSpPr/>
          <p:nvPr/>
        </p:nvSpPr>
        <p:spPr>
          <a:xfrm>
            <a:off x="1476375" y="4128046"/>
            <a:ext cx="7230332"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monthly run cost · today</a:t>
            </a:r>
            <a:endParaRPr lang="en-US" sz="1800" dirty="0"/>
          </a:p>
        </p:txBody>
      </p:sp>
      <p:sp>
        <p:nvSpPr>
          <p:cNvPr id="7" name="Text 5"/>
          <p:cNvSpPr/>
          <p:nvPr/>
        </p:nvSpPr>
        <p:spPr>
          <a:xfrm>
            <a:off x="1476375" y="4870996"/>
            <a:ext cx="3907438"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Azure AKS — 2 × S2ms nodes</a:t>
            </a:r>
            <a:endParaRPr lang="en-US" sz="2250" dirty="0"/>
          </a:p>
        </p:txBody>
      </p:sp>
      <p:sp>
        <p:nvSpPr>
          <p:cNvPr id="8" name="Text 6"/>
          <p:cNvSpPr/>
          <p:nvPr/>
        </p:nvSpPr>
        <p:spPr>
          <a:xfrm>
            <a:off x="7837140" y="4894808"/>
            <a:ext cx="71631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JetBrains Mono" pitchFamily="34" charset="0"/>
                <a:ea typeface="JetBrains Mono" pitchFamily="34" charset="-122"/>
                <a:cs typeface="JetBrains Mono" pitchFamily="34" charset="-120"/>
              </a:rPr>
              <a:t>$200</a:t>
            </a:r>
            <a:endParaRPr lang="en-US" sz="2100" dirty="0"/>
          </a:p>
        </p:txBody>
      </p:sp>
      <p:sp>
        <p:nvSpPr>
          <p:cNvPr id="9" name="Text 7"/>
          <p:cNvSpPr/>
          <p:nvPr/>
        </p:nvSpPr>
        <p:spPr>
          <a:xfrm>
            <a:off x="1476375" y="5699671"/>
            <a:ext cx="2547789"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Mailgun — delivery</a:t>
            </a:r>
            <a:endParaRPr lang="en-US" sz="2250" dirty="0"/>
          </a:p>
        </p:txBody>
      </p:sp>
      <p:sp>
        <p:nvSpPr>
          <p:cNvPr id="10" name="Text 8"/>
          <p:cNvSpPr/>
          <p:nvPr/>
        </p:nvSpPr>
        <p:spPr>
          <a:xfrm>
            <a:off x="7997130" y="5723483"/>
            <a:ext cx="55632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JetBrains Mono" pitchFamily="34" charset="0"/>
                <a:ea typeface="JetBrains Mono" pitchFamily="34" charset="-122"/>
                <a:cs typeface="JetBrains Mono" pitchFamily="34" charset="-120"/>
              </a:rPr>
              <a:t>$80</a:t>
            </a:r>
            <a:endParaRPr lang="en-US" sz="2100" dirty="0"/>
          </a:p>
        </p:txBody>
      </p:sp>
      <p:sp>
        <p:nvSpPr>
          <p:cNvPr id="11" name="Text 9"/>
          <p:cNvSpPr/>
          <p:nvPr/>
        </p:nvSpPr>
        <p:spPr>
          <a:xfrm>
            <a:off x="1476375" y="6528346"/>
            <a:ext cx="3236474"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Cloudflare Email Worker</a:t>
            </a:r>
            <a:endParaRPr lang="en-US" sz="2250" dirty="0"/>
          </a:p>
        </p:txBody>
      </p:sp>
      <p:sp>
        <p:nvSpPr>
          <p:cNvPr id="12" name="Text 10"/>
          <p:cNvSpPr/>
          <p:nvPr/>
        </p:nvSpPr>
        <p:spPr>
          <a:xfrm>
            <a:off x="6694140" y="6580733"/>
            <a:ext cx="18593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under billing</a:t>
            </a:r>
            <a:endParaRPr lang="en-US" sz="1800" dirty="0"/>
          </a:p>
        </p:txBody>
      </p:sp>
      <p:sp>
        <p:nvSpPr>
          <p:cNvPr id="13" name="Text 11"/>
          <p:cNvSpPr/>
          <p:nvPr/>
        </p:nvSpPr>
        <p:spPr>
          <a:xfrm>
            <a:off x="1476375" y="7357021"/>
            <a:ext cx="4932048"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Blob storage + Cosmos DB serverless</a:t>
            </a:r>
            <a:endParaRPr lang="en-US" sz="2250" dirty="0"/>
          </a:p>
        </p:txBody>
      </p:sp>
      <p:sp>
        <p:nvSpPr>
          <p:cNvPr id="14" name="Text 12"/>
          <p:cNvSpPr/>
          <p:nvPr/>
        </p:nvSpPr>
        <p:spPr>
          <a:xfrm>
            <a:off x="6968430" y="7409408"/>
            <a:ext cx="15850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usage-based</a:t>
            </a:r>
            <a:endParaRPr lang="en-US" sz="1800" dirty="0"/>
          </a:p>
        </p:txBody>
      </p:sp>
      <p:sp>
        <p:nvSpPr>
          <p:cNvPr id="15" name="Text 13"/>
          <p:cNvSpPr/>
          <p:nvPr/>
        </p:nvSpPr>
        <p:spPr>
          <a:xfrm>
            <a:off x="1476375" y="8292852"/>
            <a:ext cx="706636" cy="338138"/>
          </a:xfrm>
          <a:prstGeom prst="rect">
            <a:avLst/>
          </a:prstGeom>
          <a:noFill/>
          <a:ln/>
        </p:spPr>
        <p:txBody>
          <a:bodyPr wrap="square" lIns="25400" tIns="25400" rIns="25400" bIns="25400" rtlCol="0" anchor="t">
            <a:normAutofit/>
          </a:bodyPr>
          <a:lstStyle/>
          <a:p>
            <a:pPr algn="l" indent="0" marL="0">
              <a:lnSpc>
                <a:spcPct val="105000"/>
              </a:lnSpc>
              <a:buNone/>
            </a:pPr>
            <a:r>
              <a:rPr lang="en-US" sz="2250" b="1" spc="-22" kern="0" dirty="0">
                <a:solidFill>
                  <a:srgbClr val="000000"/>
                </a:solidFill>
                <a:latin typeface="Hanken Grotesk" pitchFamily="34" charset="0"/>
                <a:ea typeface="Hanken Grotesk" pitchFamily="34" charset="-122"/>
                <a:cs typeface="Hanken Grotesk" pitchFamily="34" charset="-120"/>
              </a:rPr>
              <a:t>Total</a:t>
            </a:r>
            <a:endParaRPr lang="en-US" sz="2250" dirty="0"/>
          </a:p>
        </p:txBody>
      </p:sp>
      <p:sp>
        <p:nvSpPr>
          <p:cNvPr id="16" name="Text 14"/>
          <p:cNvSpPr/>
          <p:nvPr/>
        </p:nvSpPr>
        <p:spPr>
          <a:xfrm>
            <a:off x="6339780" y="8223796"/>
            <a:ext cx="2213670" cy="476250"/>
          </a:xfrm>
          <a:prstGeom prst="rect">
            <a:avLst/>
          </a:prstGeom>
          <a:noFill/>
          <a:ln/>
        </p:spPr>
        <p:txBody>
          <a:bodyPr wrap="square" lIns="25400" tIns="25400" rIns="25400" bIns="25400" rtlCol="0" anchor="t">
            <a:normAutofit/>
          </a:bodyPr>
          <a:lstStyle/>
          <a:p>
            <a:pPr algn="l" indent="0" marL="0">
              <a:buNone/>
            </a:pPr>
            <a:r>
              <a:rPr lang="en-US" sz="2550" b="1" dirty="0">
                <a:solidFill>
                  <a:srgbClr val="135BFD"/>
                </a:solidFill>
                <a:latin typeface="JetBrains Mono" pitchFamily="34" charset="0"/>
                <a:ea typeface="JetBrains Mono" pitchFamily="34" charset="-122"/>
                <a:cs typeface="JetBrains Mono" pitchFamily="34" charset="-120"/>
              </a:rPr>
              <a:t>≈ $280 / mo</a:t>
            </a:r>
            <a:endParaRPr lang="en-US" sz="2550" dirty="0"/>
          </a:p>
        </p:txBody>
      </p:sp>
      <p:sp>
        <p:nvSpPr>
          <p:cNvPr id="17" name="Text 15"/>
          <p:cNvSpPr/>
          <p:nvPr/>
        </p:nvSpPr>
        <p:spPr>
          <a:xfrm>
            <a:off x="9477375" y="3889921"/>
            <a:ext cx="7897654" cy="378023"/>
          </a:xfrm>
          <a:prstGeom prst="rect">
            <a:avLst/>
          </a:prstGeom>
          <a:noFill/>
          <a:ln/>
        </p:spPr>
        <p:txBody>
          <a:bodyPr wrap="square" lIns="25400" tIns="25400" rIns="25400" bIns="25400" rtlCol="0" anchor="t">
            <a:normAutofit/>
          </a:bodyPr>
          <a:lstStyle/>
          <a:p>
            <a:pPr algn="l" indent="0" marL="0">
              <a:lnSpc>
                <a:spcPct val="105000"/>
              </a:lnSpc>
              <a:buNone/>
            </a:pPr>
            <a:r>
              <a:rPr lang="en-US" sz="2550" b="1" spc="-25" kern="0" dirty="0">
                <a:solidFill>
                  <a:srgbClr val="000000"/>
                </a:solidFill>
                <a:latin typeface="Hanken Grotesk" pitchFamily="34" charset="0"/>
                <a:ea typeface="Hanken Grotesk" pitchFamily="34" charset="-122"/>
                <a:cs typeface="Hanken Grotesk" pitchFamily="34" charset="-120"/>
              </a:rPr>
              <a:t>Cost per user falls with scale</a:t>
            </a:r>
            <a:endParaRPr lang="en-US" sz="2550" dirty="0"/>
          </a:p>
        </p:txBody>
      </p:sp>
      <p:sp>
        <p:nvSpPr>
          <p:cNvPr id="18" name="Text 16"/>
          <p:cNvSpPr/>
          <p:nvPr/>
        </p:nvSpPr>
        <p:spPr>
          <a:xfrm>
            <a:off x="9477375" y="4344144"/>
            <a:ext cx="5274198" cy="12382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Infrastructure scales in steps, not per head — the same base serves thousands.</a:t>
            </a:r>
            <a:endParaRPr lang="en-US" sz="2250" dirty="0"/>
          </a:p>
        </p:txBody>
      </p:sp>
      <p:sp>
        <p:nvSpPr>
          <p:cNvPr id="19" name="Text 17"/>
          <p:cNvSpPr/>
          <p:nvPr/>
        </p:nvSpPr>
        <p:spPr>
          <a:xfrm>
            <a:off x="9477375" y="6211044"/>
            <a:ext cx="2453729" cy="371475"/>
          </a:xfrm>
          <a:prstGeom prst="rect">
            <a:avLst/>
          </a:prstGeom>
          <a:noFill/>
          <a:ln/>
        </p:spPr>
        <p:txBody>
          <a:bodyPr wrap="square" lIns="25400" tIns="25400" rIns="25400" bIns="25400" rtlCol="0" anchor="t">
            <a:normAutofit/>
          </a:bodyPr>
          <a:lstStyle/>
          <a:p>
            <a:pPr algn="l" indent="0" marL="0">
              <a:buNone/>
            </a:pPr>
            <a:r>
              <a:rPr lang="en-US" sz="1950" dirty="0">
                <a:solidFill>
                  <a:srgbClr val="000000"/>
                </a:solidFill>
                <a:latin typeface="JetBrains Mono" pitchFamily="34" charset="0"/>
                <a:ea typeface="JetBrains Mono" pitchFamily="34" charset="-122"/>
                <a:cs typeface="JetBrains Mono" pitchFamily="34" charset="-120"/>
              </a:rPr>
              <a:t>23 users · today</a:t>
            </a:r>
            <a:endParaRPr lang="en-US" sz="1950" dirty="0"/>
          </a:p>
        </p:txBody>
      </p:sp>
      <p:sp>
        <p:nvSpPr>
          <p:cNvPr id="20" name="Text 18"/>
          <p:cNvSpPr/>
          <p:nvPr/>
        </p:nvSpPr>
        <p:spPr>
          <a:xfrm>
            <a:off x="15769679" y="6011019"/>
            <a:ext cx="1451521" cy="638175"/>
          </a:xfrm>
          <a:prstGeom prst="rect">
            <a:avLst/>
          </a:prstGeom>
          <a:noFill/>
          <a:ln/>
        </p:spPr>
        <p:txBody>
          <a:bodyPr wrap="square" lIns="25400" tIns="25400" rIns="25400" bIns="25400" rtlCol="0" anchor="t">
            <a:normAutofit/>
          </a:bodyPr>
          <a:lstStyle/>
          <a:p>
            <a:pPr algn="l" indent="0" marL="0">
              <a:buNone/>
            </a:pPr>
            <a:r>
              <a:rPr lang="en-US" sz="3600" b="1" dirty="0">
                <a:solidFill>
                  <a:srgbClr val="000000"/>
                </a:solidFill>
                <a:latin typeface="Hanken Grotesk" pitchFamily="34" charset="0"/>
                <a:ea typeface="Hanken Grotesk" pitchFamily="34" charset="-122"/>
                <a:cs typeface="Hanken Grotesk" pitchFamily="34" charset="-120"/>
              </a:rPr>
              <a:t>$12</a:t>
            </a:r>
            <a:pPr algn="l" indent="0" marL="0">
              <a:buNone/>
            </a:pPr>
            <a:r>
              <a:rPr lang="en-US" sz="1800" dirty="0">
                <a:solidFill>
                  <a:srgbClr val="000000"/>
                </a:solidFill>
                <a:latin typeface="Hanken Grotesk" pitchFamily="34" charset="0"/>
                <a:ea typeface="Hanken Grotesk" pitchFamily="34" charset="-122"/>
                <a:cs typeface="Hanken Grotesk" pitchFamily="34" charset="-120"/>
              </a:rPr>
              <a:t>/user</a:t>
            </a:r>
            <a:endParaRPr lang="en-US" sz="3600" dirty="0"/>
          </a:p>
        </p:txBody>
      </p:sp>
      <p:sp>
        <p:nvSpPr>
          <p:cNvPr id="21" name="Text 19"/>
          <p:cNvSpPr/>
          <p:nvPr/>
        </p:nvSpPr>
        <p:spPr>
          <a:xfrm>
            <a:off x="9477375" y="7201644"/>
            <a:ext cx="1710779" cy="371475"/>
          </a:xfrm>
          <a:prstGeom prst="rect">
            <a:avLst/>
          </a:prstGeom>
          <a:noFill/>
          <a:ln/>
        </p:spPr>
        <p:txBody>
          <a:bodyPr wrap="square" lIns="25400" tIns="25400" rIns="25400" bIns="25400" rtlCol="0" anchor="t">
            <a:normAutofit/>
          </a:bodyPr>
          <a:lstStyle/>
          <a:p>
            <a:pPr algn="l" indent="0" marL="0">
              <a:buNone/>
            </a:pPr>
            <a:r>
              <a:rPr lang="en-US" sz="1950" dirty="0">
                <a:solidFill>
                  <a:srgbClr val="000000"/>
                </a:solidFill>
                <a:latin typeface="JetBrains Mono" pitchFamily="34" charset="0"/>
                <a:ea typeface="JetBrains Mono" pitchFamily="34" charset="-122"/>
                <a:cs typeface="JetBrains Mono" pitchFamily="34" charset="-120"/>
              </a:rPr>
              <a:t>1,000 users</a:t>
            </a:r>
            <a:endParaRPr lang="en-US" sz="1950" dirty="0"/>
          </a:p>
        </p:txBody>
      </p:sp>
      <p:sp>
        <p:nvSpPr>
          <p:cNvPr id="22" name="Text 20"/>
          <p:cNvSpPr/>
          <p:nvPr/>
        </p:nvSpPr>
        <p:spPr>
          <a:xfrm>
            <a:off x="15403860" y="7001619"/>
            <a:ext cx="1817340" cy="638175"/>
          </a:xfrm>
          <a:prstGeom prst="rect">
            <a:avLst/>
          </a:prstGeom>
          <a:noFill/>
          <a:ln/>
        </p:spPr>
        <p:txBody>
          <a:bodyPr wrap="square" lIns="25400" tIns="25400" rIns="25400" bIns="25400" rtlCol="0" anchor="t">
            <a:normAutofit/>
          </a:bodyPr>
          <a:lstStyle/>
          <a:p>
            <a:pPr algn="l" indent="0" marL="0">
              <a:buNone/>
            </a:pPr>
            <a:r>
              <a:rPr lang="en-US" sz="3600" b="1" dirty="0">
                <a:solidFill>
                  <a:srgbClr val="000000"/>
                </a:solidFill>
                <a:latin typeface="Hanken Grotesk" pitchFamily="34" charset="0"/>
                <a:ea typeface="Hanken Grotesk" pitchFamily="34" charset="-122"/>
                <a:cs typeface="Hanken Grotesk" pitchFamily="34" charset="-120"/>
              </a:rPr>
              <a:t>$0.30</a:t>
            </a:r>
            <a:pPr algn="l" indent="0" marL="0">
              <a:buNone/>
            </a:pPr>
            <a:r>
              <a:rPr lang="en-US" sz="1800" dirty="0">
                <a:solidFill>
                  <a:srgbClr val="000000"/>
                </a:solidFill>
                <a:latin typeface="Hanken Grotesk" pitchFamily="34" charset="0"/>
                <a:ea typeface="Hanken Grotesk" pitchFamily="34" charset="-122"/>
                <a:cs typeface="Hanken Grotesk" pitchFamily="34" charset="-120"/>
              </a:rPr>
              <a:t>/user</a:t>
            </a:r>
            <a:endParaRPr lang="en-US" sz="3600" dirty="0"/>
          </a:p>
        </p:txBody>
      </p:sp>
      <p:sp>
        <p:nvSpPr>
          <p:cNvPr id="23" name="Text 21"/>
          <p:cNvSpPr/>
          <p:nvPr/>
        </p:nvSpPr>
        <p:spPr>
          <a:xfrm>
            <a:off x="9477375" y="8192244"/>
            <a:ext cx="1859310" cy="371475"/>
          </a:xfrm>
          <a:prstGeom prst="rect">
            <a:avLst/>
          </a:prstGeom>
          <a:noFill/>
          <a:ln/>
        </p:spPr>
        <p:txBody>
          <a:bodyPr wrap="square" lIns="25400" tIns="25400" rIns="25400" bIns="25400" rtlCol="0" anchor="t">
            <a:normAutofit/>
          </a:bodyPr>
          <a:lstStyle/>
          <a:p>
            <a:pPr algn="l" indent="0" marL="0">
              <a:buNone/>
            </a:pPr>
            <a:r>
              <a:rPr lang="en-US" sz="1950" dirty="0">
                <a:solidFill>
                  <a:srgbClr val="135BFD"/>
                </a:solidFill>
                <a:latin typeface="JetBrains Mono" pitchFamily="34" charset="0"/>
                <a:ea typeface="JetBrains Mono" pitchFamily="34" charset="-122"/>
                <a:cs typeface="JetBrains Mono" pitchFamily="34" charset="-120"/>
              </a:rPr>
              <a:t>10,000 users</a:t>
            </a:r>
            <a:endParaRPr lang="en-US" sz="1950" dirty="0"/>
          </a:p>
        </p:txBody>
      </p:sp>
      <p:sp>
        <p:nvSpPr>
          <p:cNvPr id="24" name="Text 22"/>
          <p:cNvSpPr/>
          <p:nvPr/>
        </p:nvSpPr>
        <p:spPr>
          <a:xfrm>
            <a:off x="15403860" y="7992219"/>
            <a:ext cx="1817340" cy="638175"/>
          </a:xfrm>
          <a:prstGeom prst="rect">
            <a:avLst/>
          </a:prstGeom>
          <a:noFill/>
          <a:ln/>
        </p:spPr>
        <p:txBody>
          <a:bodyPr wrap="square" lIns="25400" tIns="25400" rIns="25400" bIns="25400" rtlCol="0" anchor="t">
            <a:normAutofit/>
          </a:bodyPr>
          <a:lstStyle/>
          <a:p>
            <a:pPr algn="l" indent="0" marL="0">
              <a:buNone/>
            </a:pPr>
            <a:r>
              <a:rPr lang="en-US" sz="3600" b="1" dirty="0">
                <a:solidFill>
                  <a:srgbClr val="135BFD"/>
                </a:solidFill>
                <a:latin typeface="Hanken Grotesk" pitchFamily="34" charset="0"/>
                <a:ea typeface="Hanken Grotesk" pitchFamily="34" charset="-122"/>
                <a:cs typeface="Hanken Grotesk" pitchFamily="34" charset="-120"/>
              </a:rPr>
              <a:t>$0.05</a:t>
            </a:r>
            <a:pPr algn="l" indent="0" marL="0">
              <a:buNone/>
            </a:pPr>
            <a:r>
              <a:rPr lang="en-US" sz="1800" dirty="0">
                <a:solidFill>
                  <a:srgbClr val="135BFD"/>
                </a:solidFill>
                <a:latin typeface="Hanken Grotesk" pitchFamily="34" charset="0"/>
                <a:ea typeface="Hanken Grotesk" pitchFamily="34" charset="-122"/>
                <a:cs typeface="Hanken Grotesk" pitchFamily="34" charset="-120"/>
              </a:rPr>
              <a:t>/user</a:t>
            </a:r>
            <a:endParaRPr lang="en-US" sz="3600" dirty="0"/>
          </a:p>
        </p:txBody>
      </p:sp>
      <p:sp>
        <p:nvSpPr>
          <p:cNvPr id="25" name="Text 23"/>
          <p:cNvSpPr/>
          <p:nvPr/>
        </p:nvSpPr>
        <p:spPr>
          <a:xfrm>
            <a:off x="9477375" y="8925669"/>
            <a:ext cx="7897654" cy="628650"/>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Marginal cost per email: a fraction of a cent — Cosmos serverless + Blob.</a:t>
            </a:r>
            <a:endParaRPr lang="en-US" sz="1800" dirty="0"/>
          </a:p>
        </p:txBody>
      </p:sp>
      <p:sp>
        <p:nvSpPr>
          <p:cNvPr id="26" name="Text 24"/>
          <p:cNvSpPr/>
          <p:nvPr/>
        </p:nvSpPr>
        <p:spPr>
          <a:xfrm>
            <a:off x="1143000" y="9878169"/>
            <a:ext cx="15766335"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Azure AKS + Blob + Cosmos serverless · Mailgun · Cloudflare. Per-user figures illustrative at current scale.</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1143000" y="1047750"/>
            <a:ext cx="2863206"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15 — TIER ECONOMICS</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78477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Paid tiers subsidise the free base.</a:t>
            </a:r>
            <a:endParaRPr lang="en-US" sz="6000" dirty="0"/>
          </a:p>
        </p:txBody>
      </p:sp>
      <p:sp>
        <p:nvSpPr>
          <p:cNvPr id="5" name="Text 3"/>
          <p:cNvSpPr/>
          <p:nvPr/>
        </p:nvSpPr>
        <p:spPr>
          <a:xfrm>
            <a:off x="1143000" y="2804071"/>
            <a:ext cx="8900190"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A free account costs about five cents a month to run. Every paid plan covers a crowd of them — and leaves real room to acquire.</a:t>
            </a:r>
            <a:endParaRPr lang="en-US" sz="2250" dirty="0"/>
          </a:p>
        </p:txBody>
      </p:sp>
      <p:sp>
        <p:nvSpPr>
          <p:cNvPr id="6" name="Text 4"/>
          <p:cNvSpPr/>
          <p:nvPr/>
        </p:nvSpPr>
        <p:spPr>
          <a:xfrm>
            <a:off x="1143000" y="4232821"/>
            <a:ext cx="4386285" cy="328613"/>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TIER</a:t>
            </a:r>
            <a:endParaRPr lang="en-US" sz="1800" dirty="0"/>
          </a:p>
        </p:txBody>
      </p:sp>
      <p:sp>
        <p:nvSpPr>
          <p:cNvPr id="7" name="Text 5"/>
          <p:cNvSpPr/>
          <p:nvPr/>
        </p:nvSpPr>
        <p:spPr>
          <a:xfrm>
            <a:off x="5852071" y="4232821"/>
            <a:ext cx="2251487" cy="328613"/>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PRICE / MO</a:t>
            </a:r>
            <a:endParaRPr lang="en-US" sz="1800" dirty="0"/>
          </a:p>
        </p:txBody>
      </p:sp>
      <p:sp>
        <p:nvSpPr>
          <p:cNvPr id="8" name="Text 6"/>
          <p:cNvSpPr/>
          <p:nvPr/>
        </p:nvSpPr>
        <p:spPr>
          <a:xfrm>
            <a:off x="8481864" y="4232821"/>
            <a:ext cx="3283455" cy="328613"/>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RUN COST / USER</a:t>
            </a:r>
            <a:endParaRPr lang="en-US" sz="1800" dirty="0"/>
          </a:p>
        </p:txBody>
      </p:sp>
      <p:sp>
        <p:nvSpPr>
          <p:cNvPr id="9" name="Text 7"/>
          <p:cNvSpPr/>
          <p:nvPr/>
        </p:nvSpPr>
        <p:spPr>
          <a:xfrm>
            <a:off x="12113568" y="4232821"/>
            <a:ext cx="2664305" cy="328613"/>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CONTRIBUTION</a:t>
            </a:r>
            <a:endParaRPr lang="en-US" sz="1800" dirty="0"/>
          </a:p>
        </p:txBody>
      </p:sp>
      <p:sp>
        <p:nvSpPr>
          <p:cNvPr id="10" name="Text 8"/>
          <p:cNvSpPr/>
          <p:nvPr/>
        </p:nvSpPr>
        <p:spPr>
          <a:xfrm>
            <a:off x="15144155" y="4232821"/>
            <a:ext cx="1848445" cy="328613"/>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MAX CAC*</a:t>
            </a:r>
            <a:endParaRPr lang="en-US" sz="1800" dirty="0"/>
          </a:p>
        </p:txBody>
      </p:sp>
      <p:sp>
        <p:nvSpPr>
          <p:cNvPr id="11" name="Text 9"/>
          <p:cNvSpPr/>
          <p:nvPr/>
        </p:nvSpPr>
        <p:spPr>
          <a:xfrm>
            <a:off x="1143000" y="4951958"/>
            <a:ext cx="4386285"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Free</a:t>
            </a:r>
            <a:endParaRPr lang="en-US" sz="1800" dirty="0"/>
          </a:p>
        </p:txBody>
      </p:sp>
      <p:sp>
        <p:nvSpPr>
          <p:cNvPr id="12" name="Text 10"/>
          <p:cNvSpPr/>
          <p:nvPr/>
        </p:nvSpPr>
        <p:spPr>
          <a:xfrm>
            <a:off x="5852071" y="4951958"/>
            <a:ext cx="2251487"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$0</a:t>
            </a:r>
            <a:endParaRPr lang="en-US" sz="1800" dirty="0"/>
          </a:p>
        </p:txBody>
      </p:sp>
      <p:sp>
        <p:nvSpPr>
          <p:cNvPr id="13" name="Text 11"/>
          <p:cNvSpPr/>
          <p:nvPr/>
        </p:nvSpPr>
        <p:spPr>
          <a:xfrm>
            <a:off x="8481864" y="4951958"/>
            <a:ext cx="3283455"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$0.05</a:t>
            </a:r>
            <a:endParaRPr lang="en-US" sz="1800" dirty="0"/>
          </a:p>
        </p:txBody>
      </p:sp>
      <p:sp>
        <p:nvSpPr>
          <p:cNvPr id="14" name="Text 12"/>
          <p:cNvSpPr/>
          <p:nvPr/>
        </p:nvSpPr>
        <p:spPr>
          <a:xfrm>
            <a:off x="12113568" y="4951958"/>
            <a:ext cx="2664305"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−$0.05</a:t>
            </a:r>
            <a:endParaRPr lang="en-US" sz="1800" dirty="0"/>
          </a:p>
        </p:txBody>
      </p:sp>
      <p:sp>
        <p:nvSpPr>
          <p:cNvPr id="15" name="Text 13"/>
          <p:cNvSpPr/>
          <p:nvPr/>
        </p:nvSpPr>
        <p:spPr>
          <a:xfrm>
            <a:off x="15144155" y="4951958"/>
            <a:ext cx="1848445"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a:t>
            </a:r>
            <a:endParaRPr lang="en-US" sz="1800" dirty="0"/>
          </a:p>
        </p:txBody>
      </p:sp>
      <p:sp>
        <p:nvSpPr>
          <p:cNvPr id="16" name="Text 14"/>
          <p:cNvSpPr/>
          <p:nvPr/>
        </p:nvSpPr>
        <p:spPr>
          <a:xfrm>
            <a:off x="1143000" y="5675858"/>
            <a:ext cx="4386285"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Plus</a:t>
            </a:r>
            <a:endParaRPr lang="en-US" sz="1800" dirty="0"/>
          </a:p>
        </p:txBody>
      </p:sp>
      <p:sp>
        <p:nvSpPr>
          <p:cNvPr id="17" name="Text 15"/>
          <p:cNvSpPr/>
          <p:nvPr/>
        </p:nvSpPr>
        <p:spPr>
          <a:xfrm>
            <a:off x="5852071" y="5675858"/>
            <a:ext cx="2251487"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$3</a:t>
            </a:r>
            <a:endParaRPr lang="en-US" sz="1800" dirty="0"/>
          </a:p>
        </p:txBody>
      </p:sp>
      <p:sp>
        <p:nvSpPr>
          <p:cNvPr id="18" name="Text 16"/>
          <p:cNvSpPr/>
          <p:nvPr/>
        </p:nvSpPr>
        <p:spPr>
          <a:xfrm>
            <a:off x="8481864" y="5675858"/>
            <a:ext cx="3283455"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$0.05</a:t>
            </a:r>
            <a:endParaRPr lang="en-US" sz="1800" dirty="0"/>
          </a:p>
        </p:txBody>
      </p:sp>
      <p:sp>
        <p:nvSpPr>
          <p:cNvPr id="19" name="Text 17"/>
          <p:cNvSpPr/>
          <p:nvPr/>
        </p:nvSpPr>
        <p:spPr>
          <a:xfrm>
            <a:off x="12113568" y="5675858"/>
            <a:ext cx="2664305"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135BFD"/>
                </a:solidFill>
                <a:latin typeface="Hanken Grotesk" pitchFamily="34" charset="0"/>
                <a:ea typeface="Hanken Grotesk" pitchFamily="34" charset="-122"/>
                <a:cs typeface="Hanken Grotesk" pitchFamily="34" charset="-120"/>
              </a:rPr>
              <a:t>+$2.95</a:t>
            </a:r>
            <a:endParaRPr lang="en-US" sz="1800" dirty="0"/>
          </a:p>
        </p:txBody>
      </p:sp>
      <p:sp>
        <p:nvSpPr>
          <p:cNvPr id="20" name="Text 18"/>
          <p:cNvSpPr/>
          <p:nvPr/>
        </p:nvSpPr>
        <p:spPr>
          <a:xfrm>
            <a:off x="15144155" y="5675858"/>
            <a:ext cx="1848445"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~$35</a:t>
            </a:r>
            <a:endParaRPr lang="en-US" sz="1800" dirty="0"/>
          </a:p>
        </p:txBody>
      </p:sp>
      <p:sp>
        <p:nvSpPr>
          <p:cNvPr id="21" name="Text 19"/>
          <p:cNvSpPr/>
          <p:nvPr/>
        </p:nvSpPr>
        <p:spPr>
          <a:xfrm>
            <a:off x="1143000" y="6399758"/>
            <a:ext cx="4386285"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Pro</a:t>
            </a:r>
            <a:endParaRPr lang="en-US" sz="1800" dirty="0"/>
          </a:p>
        </p:txBody>
      </p:sp>
      <p:sp>
        <p:nvSpPr>
          <p:cNvPr id="22" name="Text 20"/>
          <p:cNvSpPr/>
          <p:nvPr/>
        </p:nvSpPr>
        <p:spPr>
          <a:xfrm>
            <a:off x="5852071" y="6399758"/>
            <a:ext cx="2251487"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$5</a:t>
            </a:r>
            <a:endParaRPr lang="en-US" sz="1800" dirty="0"/>
          </a:p>
        </p:txBody>
      </p:sp>
      <p:sp>
        <p:nvSpPr>
          <p:cNvPr id="23" name="Text 21"/>
          <p:cNvSpPr/>
          <p:nvPr/>
        </p:nvSpPr>
        <p:spPr>
          <a:xfrm>
            <a:off x="8481864" y="6399758"/>
            <a:ext cx="3283455"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$0.10</a:t>
            </a:r>
            <a:endParaRPr lang="en-US" sz="1800" dirty="0"/>
          </a:p>
        </p:txBody>
      </p:sp>
      <p:sp>
        <p:nvSpPr>
          <p:cNvPr id="24" name="Text 22"/>
          <p:cNvSpPr/>
          <p:nvPr/>
        </p:nvSpPr>
        <p:spPr>
          <a:xfrm>
            <a:off x="12113568" y="6399758"/>
            <a:ext cx="2664305"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135BFD"/>
                </a:solidFill>
                <a:latin typeface="Hanken Grotesk" pitchFamily="34" charset="0"/>
                <a:ea typeface="Hanken Grotesk" pitchFamily="34" charset="-122"/>
                <a:cs typeface="Hanken Grotesk" pitchFamily="34" charset="-120"/>
              </a:rPr>
              <a:t>+$4.90</a:t>
            </a:r>
            <a:endParaRPr lang="en-US" sz="1800" dirty="0"/>
          </a:p>
        </p:txBody>
      </p:sp>
      <p:sp>
        <p:nvSpPr>
          <p:cNvPr id="25" name="Text 23"/>
          <p:cNvSpPr/>
          <p:nvPr/>
        </p:nvSpPr>
        <p:spPr>
          <a:xfrm>
            <a:off x="15144155" y="6399758"/>
            <a:ext cx="1848445"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~$59</a:t>
            </a:r>
            <a:endParaRPr lang="en-US" sz="1800" dirty="0"/>
          </a:p>
        </p:txBody>
      </p:sp>
      <p:sp>
        <p:nvSpPr>
          <p:cNvPr id="26" name="Text 24"/>
          <p:cNvSpPr/>
          <p:nvPr/>
        </p:nvSpPr>
        <p:spPr>
          <a:xfrm>
            <a:off x="1371600" y="7123658"/>
            <a:ext cx="4157685"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Team</a:t>
            </a:r>
            <a:endParaRPr lang="en-US" sz="1800" dirty="0"/>
          </a:p>
        </p:txBody>
      </p:sp>
      <p:sp>
        <p:nvSpPr>
          <p:cNvPr id="27" name="Text 25"/>
          <p:cNvSpPr/>
          <p:nvPr/>
        </p:nvSpPr>
        <p:spPr>
          <a:xfrm>
            <a:off x="5852071" y="7123658"/>
            <a:ext cx="2251487"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$8 / seat</a:t>
            </a:r>
            <a:endParaRPr lang="en-US" sz="1800" dirty="0"/>
          </a:p>
        </p:txBody>
      </p:sp>
      <p:sp>
        <p:nvSpPr>
          <p:cNvPr id="28" name="Text 26"/>
          <p:cNvSpPr/>
          <p:nvPr/>
        </p:nvSpPr>
        <p:spPr>
          <a:xfrm>
            <a:off x="8481864" y="7123658"/>
            <a:ext cx="3283455"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$0.10</a:t>
            </a:r>
            <a:endParaRPr lang="en-US" sz="1800" dirty="0"/>
          </a:p>
        </p:txBody>
      </p:sp>
      <p:sp>
        <p:nvSpPr>
          <p:cNvPr id="29" name="Text 27"/>
          <p:cNvSpPr/>
          <p:nvPr/>
        </p:nvSpPr>
        <p:spPr>
          <a:xfrm>
            <a:off x="12113568" y="7123658"/>
            <a:ext cx="2664305"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+$7.90</a:t>
            </a:r>
            <a:endParaRPr lang="en-US" sz="1800" dirty="0"/>
          </a:p>
        </p:txBody>
      </p:sp>
      <p:sp>
        <p:nvSpPr>
          <p:cNvPr id="30" name="Text 28"/>
          <p:cNvSpPr/>
          <p:nvPr/>
        </p:nvSpPr>
        <p:spPr>
          <a:xfrm>
            <a:off x="15144155" y="7123658"/>
            <a:ext cx="1848445"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~$95</a:t>
            </a:r>
            <a:endParaRPr lang="en-US" sz="1800" dirty="0"/>
          </a:p>
        </p:txBody>
      </p:sp>
      <p:sp>
        <p:nvSpPr>
          <p:cNvPr id="31" name="Text 29"/>
          <p:cNvSpPr/>
          <p:nvPr/>
        </p:nvSpPr>
        <p:spPr>
          <a:xfrm>
            <a:off x="1438275" y="8197602"/>
            <a:ext cx="4893112" cy="338138"/>
          </a:xfrm>
          <a:prstGeom prst="rect">
            <a:avLst/>
          </a:prstGeom>
          <a:noFill/>
          <a:ln/>
        </p:spPr>
        <p:txBody>
          <a:bodyPr wrap="square" lIns="25400" tIns="25400" rIns="25400" bIns="25400" rtlCol="0" anchor="t">
            <a:normAutofit/>
          </a:bodyPr>
          <a:lstStyle/>
          <a:p>
            <a:pPr algn="l" indent="0" marL="0">
              <a:lnSpc>
                <a:spcPct val="105000"/>
              </a:lnSpc>
              <a:buNone/>
            </a:pPr>
            <a:r>
              <a:rPr lang="en-US" sz="2250" b="1" spc="-22" kern="0" dirty="0">
                <a:solidFill>
                  <a:srgbClr val="000000"/>
                </a:solidFill>
                <a:latin typeface="Hanken Grotesk" pitchFamily="34" charset="0"/>
                <a:ea typeface="Hanken Grotesk" pitchFamily="34" charset="-122"/>
                <a:cs typeface="Hanken Grotesk" pitchFamily="34" charset="-120"/>
              </a:rPr>
              <a:t>One paid user carries many free ones</a:t>
            </a:r>
            <a:endParaRPr lang="en-US" sz="2250" dirty="0"/>
          </a:p>
        </p:txBody>
      </p:sp>
      <p:sp>
        <p:nvSpPr>
          <p:cNvPr id="32" name="Text 30"/>
          <p:cNvSpPr/>
          <p:nvPr/>
        </p:nvSpPr>
        <p:spPr>
          <a:xfrm>
            <a:off x="6474619" y="8147596"/>
            <a:ext cx="8975150"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1 Plus covers ~59 free · 1 Pro covers ~98 · 1 Team seat covers ~158.</a:t>
            </a:r>
            <a:endParaRPr lang="en-US" sz="2250" dirty="0"/>
          </a:p>
        </p:txBody>
      </p:sp>
      <p:sp>
        <p:nvSpPr>
          <p:cNvPr id="33" name="Text 31"/>
          <p:cNvSpPr/>
          <p:nvPr/>
        </p:nvSpPr>
        <p:spPr>
          <a:xfrm>
            <a:off x="1143000" y="8995321"/>
            <a:ext cx="12846564"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*Max CAC = the most you could spend to win a user and still break even within 12 months.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1143000" y="1047750"/>
            <a:ext cx="2563416"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16 — GO TO MARKET</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78477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Low-CAC, trust-led growth.</a:t>
            </a:r>
            <a:endParaRPr lang="en-US" sz="6000" dirty="0"/>
          </a:p>
        </p:txBody>
      </p:sp>
      <p:sp>
        <p:nvSpPr>
          <p:cNvPr id="5" name="Text 3"/>
          <p:cNvSpPr/>
          <p:nvPr/>
        </p:nvSpPr>
        <p:spPr>
          <a:xfrm>
            <a:off x="1143000" y="2804071"/>
            <a:ext cx="10218816" cy="12382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At a few dollars a month, broad paid ads don't pay back — so we grow through trust and intent, and spend only where CAC stays inside a 6–12 month payback.</a:t>
            </a:r>
            <a:endParaRPr lang="en-US" sz="2250" dirty="0"/>
          </a:p>
        </p:txBody>
      </p:sp>
      <p:sp>
        <p:nvSpPr>
          <p:cNvPr id="6" name="Text 4"/>
          <p:cNvSpPr/>
          <p:nvPr/>
        </p:nvSpPr>
        <p:spPr>
          <a:xfrm>
            <a:off x="1143000" y="4480471"/>
            <a:ext cx="3777139" cy="381000"/>
          </a:xfrm>
          <a:prstGeom prst="rect">
            <a:avLst/>
          </a:prstGeom>
          <a:noFill/>
          <a:ln/>
        </p:spPr>
        <p:txBody>
          <a:bodyPr wrap="square" lIns="25400" tIns="25400" rIns="25400" bIns="25400" rtlCol="0" anchor="t">
            <a:normAutofit/>
          </a:bodyPr>
          <a:lstStyle/>
          <a:p>
            <a:pPr algn="l" indent="0" marL="0">
              <a:buNone/>
            </a:pPr>
            <a:r>
              <a:rPr lang="en-US" sz="1950" spc="78" kern="0" dirty="0">
                <a:solidFill>
                  <a:srgbClr val="135BFD"/>
                </a:solidFill>
                <a:latin typeface="JetBrains Mono" pitchFamily="34" charset="0"/>
                <a:ea typeface="JetBrains Mono" pitchFamily="34" charset="-122"/>
                <a:cs typeface="JetBrains Mono" pitchFamily="34" charset="-120"/>
              </a:rPr>
              <a:t>0 → 100</a:t>
            </a:r>
            <a:endParaRPr lang="en-US" sz="1950" dirty="0"/>
          </a:p>
        </p:txBody>
      </p:sp>
      <p:sp>
        <p:nvSpPr>
          <p:cNvPr id="7" name="Text 5"/>
          <p:cNvSpPr/>
          <p:nvPr/>
        </p:nvSpPr>
        <p:spPr>
          <a:xfrm>
            <a:off x="1143000" y="4975771"/>
            <a:ext cx="3777139" cy="338138"/>
          </a:xfrm>
          <a:prstGeom prst="rect">
            <a:avLst/>
          </a:prstGeom>
          <a:noFill/>
          <a:ln/>
        </p:spPr>
        <p:txBody>
          <a:bodyPr wrap="square" lIns="25400" tIns="25400" rIns="25400" bIns="25400" rtlCol="0" anchor="t">
            <a:normAutofit/>
          </a:bodyPr>
          <a:lstStyle/>
          <a:p>
            <a:pPr algn="l" indent="0" marL="0">
              <a:lnSpc>
                <a:spcPct val="105000"/>
              </a:lnSpc>
              <a:buNone/>
            </a:pPr>
            <a:r>
              <a:rPr lang="en-US" sz="2250" b="1" spc="-22" kern="0" dirty="0">
                <a:solidFill>
                  <a:srgbClr val="000000"/>
                </a:solidFill>
                <a:latin typeface="Hanken Grotesk" pitchFamily="34" charset="0"/>
                <a:ea typeface="Hanken Grotesk" pitchFamily="34" charset="-122"/>
                <a:cs typeface="Hanken Grotesk" pitchFamily="34" charset="-120"/>
              </a:rPr>
              <a:t>Founder &amp; community led</a:t>
            </a:r>
            <a:endParaRPr lang="en-US" sz="2250" dirty="0"/>
          </a:p>
        </p:txBody>
      </p:sp>
      <p:sp>
        <p:nvSpPr>
          <p:cNvPr id="8" name="Text 6"/>
          <p:cNvSpPr/>
          <p:nvPr/>
        </p:nvSpPr>
        <p:spPr>
          <a:xfrm>
            <a:off x="1143000" y="5409158"/>
            <a:ext cx="3777139" cy="1318022"/>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Privacy and developer communities, direct outreach, hands-on onboarding. Prove people will pay.</a:t>
            </a:r>
            <a:endParaRPr lang="en-US" sz="1800" dirty="0"/>
          </a:p>
        </p:txBody>
      </p:sp>
      <p:sp>
        <p:nvSpPr>
          <p:cNvPr id="9" name="Shape 7"/>
          <p:cNvSpPr/>
          <p:nvPr/>
        </p:nvSpPr>
        <p:spPr>
          <a:xfrm>
            <a:off x="1323975" y="9163050"/>
            <a:ext cx="85725" cy="85725"/>
          </a:xfrm>
          <a:prstGeom prst="ellipse">
            <a:avLst/>
          </a:prstGeom>
          <a:solidFill>
            <a:srgbClr val="135BFD"/>
          </a:solidFill>
          <a:ln/>
        </p:spPr>
      </p:sp>
      <p:sp>
        <p:nvSpPr>
          <p:cNvPr id="10" name="Text 8"/>
          <p:cNvSpPr/>
          <p:nvPr/>
        </p:nvSpPr>
        <p:spPr>
          <a:xfrm>
            <a:off x="1504950" y="9058275"/>
            <a:ext cx="1351806" cy="333375"/>
          </a:xfrm>
          <a:prstGeom prst="rect">
            <a:avLst/>
          </a:prstGeom>
          <a:noFill/>
          <a:ln/>
        </p:spPr>
        <p:txBody>
          <a:bodyPr wrap="square" lIns="0" tIns="0" rIns="0" bIns="0" rtlCol="0" anchor="t">
            <a:normAutofit/>
          </a:bodyPr>
          <a:lstStyle/>
          <a:p>
            <a:pPr algn="l" indent="0" marL="0">
              <a:buNone/>
            </a:pPr>
            <a:r>
              <a:rPr lang="en-US" sz="1800" spc="36" kern="0" dirty="0">
                <a:solidFill>
                  <a:srgbClr val="135BFD"/>
                </a:solidFill>
                <a:latin typeface="JetBrains Mono" pitchFamily="34" charset="0"/>
                <a:ea typeface="JetBrains Mono" pitchFamily="34" charset="-122"/>
                <a:cs typeface="JetBrains Mono" pitchFamily="34" charset="-120"/>
              </a:rPr>
              <a:t>CAC $0–10</a:t>
            </a:r>
            <a:endParaRPr lang="en-US" sz="1800" dirty="0"/>
          </a:p>
        </p:txBody>
      </p:sp>
      <p:sp>
        <p:nvSpPr>
          <p:cNvPr id="11" name="Text 9"/>
          <p:cNvSpPr/>
          <p:nvPr/>
        </p:nvSpPr>
        <p:spPr>
          <a:xfrm>
            <a:off x="5467350" y="4480471"/>
            <a:ext cx="3443573" cy="381000"/>
          </a:xfrm>
          <a:prstGeom prst="rect">
            <a:avLst/>
          </a:prstGeom>
          <a:noFill/>
          <a:ln/>
        </p:spPr>
        <p:txBody>
          <a:bodyPr wrap="square" lIns="25400" tIns="25400" rIns="25400" bIns="25400" rtlCol="0" anchor="t">
            <a:normAutofit/>
          </a:bodyPr>
          <a:lstStyle/>
          <a:p>
            <a:pPr algn="l" indent="0" marL="0">
              <a:buNone/>
            </a:pPr>
            <a:r>
              <a:rPr lang="en-US" sz="1950" spc="78" kern="0" dirty="0">
                <a:solidFill>
                  <a:srgbClr val="135BFD"/>
                </a:solidFill>
                <a:latin typeface="JetBrains Mono" pitchFamily="34" charset="0"/>
                <a:ea typeface="JetBrains Mono" pitchFamily="34" charset="-122"/>
                <a:cs typeface="JetBrains Mono" pitchFamily="34" charset="-120"/>
              </a:rPr>
              <a:t>100 → 1k</a:t>
            </a:r>
            <a:endParaRPr lang="en-US" sz="1950" dirty="0"/>
          </a:p>
        </p:txBody>
      </p:sp>
      <p:sp>
        <p:nvSpPr>
          <p:cNvPr id="12" name="Text 10"/>
          <p:cNvSpPr/>
          <p:nvPr/>
        </p:nvSpPr>
        <p:spPr>
          <a:xfrm>
            <a:off x="5467350" y="4975771"/>
            <a:ext cx="3443573" cy="338138"/>
          </a:xfrm>
          <a:prstGeom prst="rect">
            <a:avLst/>
          </a:prstGeom>
          <a:noFill/>
          <a:ln/>
        </p:spPr>
        <p:txBody>
          <a:bodyPr wrap="square" lIns="25400" tIns="25400" rIns="25400" bIns="25400" rtlCol="0" anchor="t">
            <a:normAutofit/>
          </a:bodyPr>
          <a:lstStyle/>
          <a:p>
            <a:pPr algn="l" indent="0" marL="0">
              <a:lnSpc>
                <a:spcPct val="105000"/>
              </a:lnSpc>
              <a:buNone/>
            </a:pPr>
            <a:r>
              <a:rPr lang="en-US" sz="2250" b="1" spc="-22" kern="0" dirty="0">
                <a:solidFill>
                  <a:srgbClr val="000000"/>
                </a:solidFill>
                <a:latin typeface="Hanken Grotesk" pitchFamily="34" charset="0"/>
                <a:ea typeface="Hanken Grotesk" pitchFamily="34" charset="-122"/>
                <a:cs typeface="Hanken Grotesk" pitchFamily="34" charset="-120"/>
              </a:rPr>
              <a:t>High-intent only</a:t>
            </a:r>
            <a:endParaRPr lang="en-US" sz="2250" dirty="0"/>
          </a:p>
        </p:txBody>
      </p:sp>
      <p:sp>
        <p:nvSpPr>
          <p:cNvPr id="13" name="Text 11"/>
          <p:cNvSpPr/>
          <p:nvPr/>
        </p:nvSpPr>
        <p:spPr>
          <a:xfrm>
            <a:off x="5467350" y="5409158"/>
            <a:ext cx="3443573" cy="1318022"/>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Search, “vs SimpleLogin” comparison pages, retargeting — plus pilots with gov &amp; org champions.</a:t>
            </a:r>
            <a:endParaRPr lang="en-US" sz="1800" dirty="0"/>
          </a:p>
        </p:txBody>
      </p:sp>
      <p:sp>
        <p:nvSpPr>
          <p:cNvPr id="14" name="Shape 12"/>
          <p:cNvSpPr/>
          <p:nvPr/>
        </p:nvSpPr>
        <p:spPr>
          <a:xfrm>
            <a:off x="5648325" y="9163050"/>
            <a:ext cx="85725" cy="85725"/>
          </a:xfrm>
          <a:prstGeom prst="ellipse">
            <a:avLst/>
          </a:prstGeom>
          <a:solidFill>
            <a:srgbClr val="135BFD"/>
          </a:solidFill>
          <a:ln/>
        </p:spPr>
      </p:sp>
      <p:sp>
        <p:nvSpPr>
          <p:cNvPr id="15" name="Text 13"/>
          <p:cNvSpPr/>
          <p:nvPr/>
        </p:nvSpPr>
        <p:spPr>
          <a:xfrm>
            <a:off x="5829300" y="9058275"/>
            <a:ext cx="1493639" cy="333375"/>
          </a:xfrm>
          <a:prstGeom prst="rect">
            <a:avLst/>
          </a:prstGeom>
          <a:noFill/>
          <a:ln/>
        </p:spPr>
        <p:txBody>
          <a:bodyPr wrap="square" lIns="0" tIns="0" rIns="0" bIns="0" rtlCol="0" anchor="t">
            <a:normAutofit/>
          </a:bodyPr>
          <a:lstStyle/>
          <a:p>
            <a:pPr algn="l" indent="0" marL="0">
              <a:buNone/>
            </a:pPr>
            <a:r>
              <a:rPr lang="en-US" sz="1800" spc="36" kern="0" dirty="0">
                <a:solidFill>
                  <a:srgbClr val="135BFD"/>
                </a:solidFill>
                <a:latin typeface="JetBrains Mono" pitchFamily="34" charset="0"/>
                <a:ea typeface="JetBrains Mono" pitchFamily="34" charset="-122"/>
                <a:cs typeface="JetBrains Mono" pitchFamily="34" charset="-120"/>
              </a:rPr>
              <a:t>CAC $10–25</a:t>
            </a:r>
            <a:endParaRPr lang="en-US" sz="1800" dirty="0"/>
          </a:p>
        </p:txBody>
      </p:sp>
      <p:sp>
        <p:nvSpPr>
          <p:cNvPr id="16" name="Text 14"/>
          <p:cNvSpPr/>
          <p:nvPr/>
        </p:nvSpPr>
        <p:spPr>
          <a:xfrm>
            <a:off x="9467850" y="4480471"/>
            <a:ext cx="3443573" cy="381000"/>
          </a:xfrm>
          <a:prstGeom prst="rect">
            <a:avLst/>
          </a:prstGeom>
          <a:noFill/>
          <a:ln/>
        </p:spPr>
        <p:txBody>
          <a:bodyPr wrap="square" lIns="25400" tIns="25400" rIns="25400" bIns="25400" rtlCol="0" anchor="t">
            <a:normAutofit/>
          </a:bodyPr>
          <a:lstStyle/>
          <a:p>
            <a:pPr algn="l" indent="0" marL="0">
              <a:buNone/>
            </a:pPr>
            <a:r>
              <a:rPr lang="en-US" sz="1950" spc="78" kern="0" dirty="0">
                <a:solidFill>
                  <a:srgbClr val="135BFD"/>
                </a:solidFill>
                <a:latin typeface="JetBrains Mono" pitchFamily="34" charset="0"/>
                <a:ea typeface="JetBrains Mono" pitchFamily="34" charset="-122"/>
                <a:cs typeface="JetBrains Mono" pitchFamily="34" charset="-120"/>
              </a:rPr>
              <a:t>1k → 10k</a:t>
            </a:r>
            <a:endParaRPr lang="en-US" sz="1950" dirty="0"/>
          </a:p>
        </p:txBody>
      </p:sp>
      <p:sp>
        <p:nvSpPr>
          <p:cNvPr id="17" name="Text 15"/>
          <p:cNvSpPr/>
          <p:nvPr/>
        </p:nvSpPr>
        <p:spPr>
          <a:xfrm>
            <a:off x="9467850" y="4975771"/>
            <a:ext cx="3443573" cy="338138"/>
          </a:xfrm>
          <a:prstGeom prst="rect">
            <a:avLst/>
          </a:prstGeom>
          <a:noFill/>
          <a:ln/>
        </p:spPr>
        <p:txBody>
          <a:bodyPr wrap="square" lIns="25400" tIns="25400" rIns="25400" bIns="25400" rtlCol="0" anchor="t">
            <a:normAutofit/>
          </a:bodyPr>
          <a:lstStyle/>
          <a:p>
            <a:pPr algn="l" indent="0" marL="0">
              <a:lnSpc>
                <a:spcPct val="105000"/>
              </a:lnSpc>
              <a:buNone/>
            </a:pPr>
            <a:r>
              <a:rPr lang="en-US" sz="2250" b="1" spc="-22" kern="0" dirty="0">
                <a:solidFill>
                  <a:srgbClr val="000000"/>
                </a:solidFill>
                <a:latin typeface="Hanken Grotesk" pitchFamily="34" charset="0"/>
                <a:ea typeface="Hanken Grotesk" pitchFamily="34" charset="-122"/>
                <a:cs typeface="Hanken Grotesk" pitchFamily="34" charset="-120"/>
              </a:rPr>
              <a:t>Compounding channels</a:t>
            </a:r>
            <a:endParaRPr lang="en-US" sz="2250" dirty="0"/>
          </a:p>
        </p:txBody>
      </p:sp>
      <p:sp>
        <p:nvSpPr>
          <p:cNvPr id="18" name="Text 16"/>
          <p:cNvSpPr/>
          <p:nvPr/>
        </p:nvSpPr>
        <p:spPr>
          <a:xfrm>
            <a:off x="9467850" y="5409158"/>
            <a:ext cx="3443573" cy="1318022"/>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SEO, alternative pages, referrals, partnerships and creator sponsorships in privacy niches.</a:t>
            </a:r>
            <a:endParaRPr lang="en-US" sz="1800" dirty="0"/>
          </a:p>
        </p:txBody>
      </p:sp>
      <p:sp>
        <p:nvSpPr>
          <p:cNvPr id="19" name="Shape 17"/>
          <p:cNvSpPr/>
          <p:nvPr/>
        </p:nvSpPr>
        <p:spPr>
          <a:xfrm>
            <a:off x="9648825" y="9163050"/>
            <a:ext cx="85725" cy="85725"/>
          </a:xfrm>
          <a:prstGeom prst="ellipse">
            <a:avLst/>
          </a:prstGeom>
          <a:solidFill>
            <a:srgbClr val="135BFD"/>
          </a:solidFill>
          <a:ln/>
        </p:spPr>
      </p:sp>
      <p:sp>
        <p:nvSpPr>
          <p:cNvPr id="20" name="Text 18"/>
          <p:cNvSpPr/>
          <p:nvPr/>
        </p:nvSpPr>
        <p:spPr>
          <a:xfrm>
            <a:off x="9829800" y="9058275"/>
            <a:ext cx="1493639" cy="333375"/>
          </a:xfrm>
          <a:prstGeom prst="rect">
            <a:avLst/>
          </a:prstGeom>
          <a:noFill/>
          <a:ln/>
        </p:spPr>
        <p:txBody>
          <a:bodyPr wrap="square" lIns="0" tIns="0" rIns="0" bIns="0" rtlCol="0" anchor="t">
            <a:normAutofit/>
          </a:bodyPr>
          <a:lstStyle/>
          <a:p>
            <a:pPr algn="l" indent="0" marL="0">
              <a:buNone/>
            </a:pPr>
            <a:r>
              <a:rPr lang="en-US" sz="1800" spc="36" kern="0" dirty="0">
                <a:solidFill>
                  <a:srgbClr val="135BFD"/>
                </a:solidFill>
                <a:latin typeface="JetBrains Mono" pitchFamily="34" charset="0"/>
                <a:ea typeface="JetBrains Mono" pitchFamily="34" charset="-122"/>
                <a:cs typeface="JetBrains Mono" pitchFamily="34" charset="-120"/>
              </a:rPr>
              <a:t>CAC $10–40</a:t>
            </a:r>
            <a:endParaRPr lang="en-US" sz="1800" dirty="0"/>
          </a:p>
        </p:txBody>
      </p:sp>
      <p:sp>
        <p:nvSpPr>
          <p:cNvPr id="21" name="Text 19"/>
          <p:cNvSpPr/>
          <p:nvPr/>
        </p:nvSpPr>
        <p:spPr>
          <a:xfrm>
            <a:off x="13468350" y="4480471"/>
            <a:ext cx="3786950" cy="381000"/>
          </a:xfrm>
          <a:prstGeom prst="rect">
            <a:avLst/>
          </a:prstGeom>
          <a:noFill/>
          <a:ln/>
        </p:spPr>
        <p:txBody>
          <a:bodyPr wrap="square" lIns="25400" tIns="25400" rIns="25400" bIns="25400" rtlCol="0" anchor="t">
            <a:normAutofit/>
          </a:bodyPr>
          <a:lstStyle/>
          <a:p>
            <a:pPr algn="l" indent="0" marL="0">
              <a:buNone/>
            </a:pPr>
            <a:r>
              <a:rPr lang="en-US" sz="1950" spc="78" kern="0" dirty="0">
                <a:solidFill>
                  <a:srgbClr val="135BFD"/>
                </a:solidFill>
                <a:latin typeface="JetBrains Mono" pitchFamily="34" charset="0"/>
                <a:ea typeface="JetBrains Mono" pitchFamily="34" charset="-122"/>
                <a:cs typeface="JetBrains Mono" pitchFamily="34" charset="-120"/>
              </a:rPr>
              <a:t>10k → 100k</a:t>
            </a:r>
            <a:endParaRPr lang="en-US" sz="1950" dirty="0"/>
          </a:p>
        </p:txBody>
      </p:sp>
      <p:sp>
        <p:nvSpPr>
          <p:cNvPr id="22" name="Text 20"/>
          <p:cNvSpPr/>
          <p:nvPr/>
        </p:nvSpPr>
        <p:spPr>
          <a:xfrm>
            <a:off x="13468350" y="4975771"/>
            <a:ext cx="3786950" cy="338138"/>
          </a:xfrm>
          <a:prstGeom prst="rect">
            <a:avLst/>
          </a:prstGeom>
          <a:noFill/>
          <a:ln/>
        </p:spPr>
        <p:txBody>
          <a:bodyPr wrap="square" lIns="25400" tIns="25400" rIns="25400" bIns="25400" rtlCol="0" anchor="t">
            <a:normAutofit/>
          </a:bodyPr>
          <a:lstStyle/>
          <a:p>
            <a:pPr algn="l" indent="0" marL="0">
              <a:lnSpc>
                <a:spcPct val="105000"/>
              </a:lnSpc>
              <a:buNone/>
            </a:pPr>
            <a:r>
              <a:rPr lang="en-US" sz="2250" b="1" spc="-22" kern="0" dirty="0">
                <a:solidFill>
                  <a:srgbClr val="000000"/>
                </a:solidFill>
                <a:latin typeface="Hanken Grotesk" pitchFamily="34" charset="0"/>
                <a:ea typeface="Hanken Grotesk" pitchFamily="34" charset="-122"/>
                <a:cs typeface="Hanken Grotesk" pitchFamily="34" charset="-120"/>
              </a:rPr>
              <a:t>Scale efficiently</a:t>
            </a:r>
            <a:endParaRPr lang="en-US" sz="2250" dirty="0"/>
          </a:p>
        </p:txBody>
      </p:sp>
      <p:sp>
        <p:nvSpPr>
          <p:cNvPr id="23" name="Text 21"/>
          <p:cNvSpPr/>
          <p:nvPr/>
        </p:nvSpPr>
        <p:spPr>
          <a:xfrm>
            <a:off x="13468350" y="5409158"/>
            <a:ext cx="3786950" cy="99804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Product-led growth, annual &amp; Team plans for upfront cash, and selective paid kept within payback.</a:t>
            </a:r>
            <a:endParaRPr lang="en-US" sz="1800" dirty="0"/>
          </a:p>
        </p:txBody>
      </p:sp>
      <p:sp>
        <p:nvSpPr>
          <p:cNvPr id="24" name="Shape 22"/>
          <p:cNvSpPr/>
          <p:nvPr/>
        </p:nvSpPr>
        <p:spPr>
          <a:xfrm>
            <a:off x="13649325" y="9163050"/>
            <a:ext cx="85725" cy="85725"/>
          </a:xfrm>
          <a:prstGeom prst="ellipse">
            <a:avLst/>
          </a:prstGeom>
          <a:solidFill>
            <a:srgbClr val="135BFD"/>
          </a:solidFill>
          <a:ln/>
        </p:spPr>
      </p:sp>
      <p:sp>
        <p:nvSpPr>
          <p:cNvPr id="25" name="Text 23"/>
          <p:cNvSpPr/>
          <p:nvPr/>
        </p:nvSpPr>
        <p:spPr>
          <a:xfrm>
            <a:off x="13830300" y="9058275"/>
            <a:ext cx="2060525" cy="333375"/>
          </a:xfrm>
          <a:prstGeom prst="rect">
            <a:avLst/>
          </a:prstGeom>
          <a:noFill/>
          <a:ln/>
        </p:spPr>
        <p:txBody>
          <a:bodyPr wrap="square" lIns="0" tIns="0" rIns="0" bIns="0" rtlCol="0" anchor="t">
            <a:normAutofit/>
          </a:bodyPr>
          <a:lstStyle/>
          <a:p>
            <a:pPr algn="l" indent="0" marL="0">
              <a:buNone/>
            </a:pPr>
            <a:r>
              <a:rPr lang="en-US" sz="1800" spc="36" kern="0" dirty="0">
                <a:solidFill>
                  <a:srgbClr val="135BFD"/>
                </a:solidFill>
                <a:latin typeface="JetBrains Mono" pitchFamily="34" charset="0"/>
                <a:ea typeface="JetBrains Mono" pitchFamily="34" charset="-122"/>
                <a:cs typeface="JetBrains Mono" pitchFamily="34" charset="-120"/>
              </a:rPr>
              <a:t>within payback</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1143000" y="1047750"/>
            <a:ext cx="3918015"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17 — RETENTION &amp; REFERRALS</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78477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Sticky by nature. Viral by design.</a:t>
            </a:r>
            <a:endParaRPr lang="en-US" sz="6000" dirty="0"/>
          </a:p>
        </p:txBody>
      </p:sp>
      <p:sp>
        <p:nvSpPr>
          <p:cNvPr id="5" name="Text 3"/>
          <p:cNvSpPr/>
          <p:nvPr/>
        </p:nvSpPr>
        <p:spPr>
          <a:xfrm>
            <a:off x="1143000" y="3089821"/>
            <a:ext cx="6500082" cy="333375"/>
          </a:xfrm>
          <a:prstGeom prst="rect">
            <a:avLst/>
          </a:prstGeom>
          <a:noFill/>
          <a:ln/>
        </p:spPr>
        <p:txBody>
          <a:bodyPr wrap="square" lIns="25400" tIns="25400" rIns="25400" bIns="25400" rtlCol="0" anchor="t">
            <a:normAutofit/>
          </a:bodyPr>
          <a:lstStyle/>
          <a:p>
            <a:pPr algn="l" indent="0" marL="0">
              <a:buNone/>
            </a:pPr>
            <a:r>
              <a:rPr lang="en-US" sz="1800" spc="90" kern="0" dirty="0">
                <a:solidFill>
                  <a:srgbClr val="135BFD"/>
                </a:solidFill>
                <a:latin typeface="JetBrains Mono" pitchFamily="34" charset="0"/>
                <a:ea typeface="JetBrains Mono" pitchFamily="34" charset="-122"/>
                <a:cs typeface="JetBrains Mono" pitchFamily="34" charset="-120"/>
              </a:rPr>
              <a:t>WHY THEY STAY</a:t>
            </a:r>
            <a:endParaRPr lang="en-US" sz="1800" dirty="0"/>
          </a:p>
        </p:txBody>
      </p:sp>
      <p:sp>
        <p:nvSpPr>
          <p:cNvPr id="6" name="Text 4"/>
          <p:cNvSpPr/>
          <p:nvPr/>
        </p:nvSpPr>
        <p:spPr>
          <a:xfrm>
            <a:off x="1143000" y="3556546"/>
            <a:ext cx="6500082"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The nature of aliases keeps you.</a:t>
            </a:r>
            <a:endParaRPr lang="en-US" sz="3000" dirty="0"/>
          </a:p>
        </p:txBody>
      </p:sp>
      <p:sp>
        <p:nvSpPr>
          <p:cNvPr id="7" name="Text 5"/>
          <p:cNvSpPr/>
          <p:nvPr/>
        </p:nvSpPr>
        <p:spPr>
          <a:xfrm>
            <a:off x="1143000" y="4128046"/>
            <a:ext cx="6500082" cy="2558207"/>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000000"/>
                </a:solidFill>
                <a:latin typeface="Hanken Grotesk" pitchFamily="34" charset="0"/>
                <a:ea typeface="Hanken Grotesk" pitchFamily="34" charset="-122"/>
                <a:cs typeface="Hanken Grotesk" pitchFamily="34" charset="-120"/>
              </a:rPr>
              <a:t>It isn't lock-in we engineer — it's just how aliases work. Once yours are spread across dozens of services, leaving means updating your address at every one. Miss a single account and you may lose the confirmation emails you'd need to move it. That natural switching cost means low churn and durable, recurring revenue.</a:t>
            </a:r>
            <a:endParaRPr lang="en-US" sz="2025" dirty="0"/>
          </a:p>
        </p:txBody>
      </p:sp>
      <p:sp>
        <p:nvSpPr>
          <p:cNvPr id="8" name="Shape 6"/>
          <p:cNvSpPr/>
          <p:nvPr/>
        </p:nvSpPr>
        <p:spPr>
          <a:xfrm>
            <a:off x="1323975" y="8067675"/>
            <a:ext cx="85725" cy="85725"/>
          </a:xfrm>
          <a:prstGeom prst="ellipse">
            <a:avLst/>
          </a:prstGeom>
          <a:solidFill>
            <a:srgbClr val="135BFD"/>
          </a:solidFill>
          <a:ln/>
        </p:spPr>
      </p:sp>
      <p:sp>
        <p:nvSpPr>
          <p:cNvPr id="9" name="Text 7"/>
          <p:cNvSpPr/>
          <p:nvPr/>
        </p:nvSpPr>
        <p:spPr>
          <a:xfrm>
            <a:off x="1504950" y="7962900"/>
            <a:ext cx="1351806" cy="333375"/>
          </a:xfrm>
          <a:prstGeom prst="rect">
            <a:avLst/>
          </a:prstGeom>
          <a:noFill/>
          <a:ln/>
        </p:spPr>
        <p:txBody>
          <a:bodyPr wrap="square" lIns="0" tIns="0" rIns="0" bIns="0" rtlCol="0" anchor="t">
            <a:normAutofit/>
          </a:bodyPr>
          <a:lstStyle/>
          <a:p>
            <a:pPr algn="l" indent="0" marL="0">
              <a:buNone/>
            </a:pPr>
            <a:r>
              <a:rPr lang="en-US" sz="1800" spc="36" kern="0" dirty="0">
                <a:solidFill>
                  <a:srgbClr val="135BFD"/>
                </a:solidFill>
                <a:latin typeface="JetBrains Mono" pitchFamily="34" charset="0"/>
                <a:ea typeface="JetBrains Mono" pitchFamily="34" charset="-122"/>
                <a:cs typeface="JetBrains Mono" pitchFamily="34" charset="-120"/>
              </a:rPr>
              <a:t>Low churn</a:t>
            </a:r>
            <a:endParaRPr lang="en-US" sz="1800" dirty="0"/>
          </a:p>
        </p:txBody>
      </p:sp>
      <p:sp>
        <p:nvSpPr>
          <p:cNvPr id="10" name="Shape 8"/>
          <p:cNvSpPr/>
          <p:nvPr/>
        </p:nvSpPr>
        <p:spPr>
          <a:xfrm>
            <a:off x="3256806" y="8067675"/>
            <a:ext cx="85725" cy="85725"/>
          </a:xfrm>
          <a:prstGeom prst="ellipse">
            <a:avLst/>
          </a:prstGeom>
          <a:solidFill>
            <a:srgbClr val="135BFD"/>
          </a:solidFill>
          <a:ln/>
        </p:spPr>
      </p:sp>
      <p:sp>
        <p:nvSpPr>
          <p:cNvPr id="11" name="Text 9"/>
          <p:cNvSpPr/>
          <p:nvPr/>
        </p:nvSpPr>
        <p:spPr>
          <a:xfrm>
            <a:off x="3437781" y="7962900"/>
            <a:ext cx="2485727" cy="333375"/>
          </a:xfrm>
          <a:prstGeom prst="rect">
            <a:avLst/>
          </a:prstGeom>
          <a:noFill/>
          <a:ln/>
        </p:spPr>
        <p:txBody>
          <a:bodyPr wrap="square" lIns="0" tIns="0" rIns="0" bIns="0" rtlCol="0" anchor="t">
            <a:normAutofit/>
          </a:bodyPr>
          <a:lstStyle/>
          <a:p>
            <a:pPr algn="l" indent="0" marL="0">
              <a:buNone/>
            </a:pPr>
            <a:r>
              <a:rPr lang="en-US" sz="1800" spc="36" kern="0" dirty="0">
                <a:solidFill>
                  <a:srgbClr val="135BFD"/>
                </a:solidFill>
                <a:latin typeface="JetBrains Mono" pitchFamily="34" charset="0"/>
                <a:ea typeface="JetBrains Mono" pitchFamily="34" charset="-122"/>
                <a:cs typeface="JetBrains Mono" pitchFamily="34" charset="-120"/>
              </a:rPr>
              <a:t>Recurring revenue</a:t>
            </a:r>
            <a:endParaRPr lang="en-US" sz="1800" dirty="0"/>
          </a:p>
        </p:txBody>
      </p:sp>
      <p:sp>
        <p:nvSpPr>
          <p:cNvPr id="12" name="Text 10"/>
          <p:cNvSpPr/>
          <p:nvPr/>
        </p:nvSpPr>
        <p:spPr>
          <a:xfrm>
            <a:off x="8063359" y="3089821"/>
            <a:ext cx="9353937" cy="333375"/>
          </a:xfrm>
          <a:prstGeom prst="rect">
            <a:avLst/>
          </a:prstGeom>
          <a:noFill/>
          <a:ln/>
        </p:spPr>
        <p:txBody>
          <a:bodyPr wrap="square" lIns="25400" tIns="25400" rIns="25400" bIns="25400" rtlCol="0" anchor="t">
            <a:normAutofit/>
          </a:bodyPr>
          <a:lstStyle/>
          <a:p>
            <a:pPr algn="l" indent="0" marL="0">
              <a:buNone/>
            </a:pPr>
            <a:r>
              <a:rPr lang="en-US" sz="1800" spc="90" kern="0" dirty="0">
                <a:solidFill>
                  <a:srgbClr val="135BFD"/>
                </a:solidFill>
                <a:latin typeface="JetBrains Mono" pitchFamily="34" charset="0"/>
                <a:ea typeface="JetBrains Mono" pitchFamily="34" charset="-122"/>
                <a:cs typeface="JetBrains Mono" pitchFamily="34" charset="-120"/>
              </a:rPr>
              <a:t>WHY THEY BRING OTHERS</a:t>
            </a:r>
            <a:endParaRPr lang="en-US" sz="1800" dirty="0"/>
          </a:p>
        </p:txBody>
      </p:sp>
      <p:sp>
        <p:nvSpPr>
          <p:cNvPr id="13" name="Text 11"/>
          <p:cNvSpPr/>
          <p:nvPr/>
        </p:nvSpPr>
        <p:spPr>
          <a:xfrm>
            <a:off x="8063359" y="3556546"/>
            <a:ext cx="9353937"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A referral loop that upsells itself.</a:t>
            </a:r>
            <a:endParaRPr lang="en-US" sz="3000" dirty="0"/>
          </a:p>
        </p:txBody>
      </p:sp>
      <p:sp>
        <p:nvSpPr>
          <p:cNvPr id="14" name="Text 12"/>
          <p:cNvSpPr/>
          <p:nvPr/>
        </p:nvSpPr>
        <p:spPr>
          <a:xfrm>
            <a:off x="8330059" y="4451896"/>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35BFD"/>
                </a:solidFill>
                <a:latin typeface="JetBrains Mono" pitchFamily="34" charset="0"/>
                <a:ea typeface="JetBrains Mono" pitchFamily="34" charset="-122"/>
                <a:cs typeface="JetBrains Mono" pitchFamily="34" charset="-120"/>
              </a:rPr>
              <a:t>1</a:t>
            </a:r>
            <a:endParaRPr lang="en-US" sz="1800" dirty="0"/>
          </a:p>
        </p:txBody>
      </p:sp>
      <p:sp>
        <p:nvSpPr>
          <p:cNvPr id="15" name="Text 13"/>
          <p:cNvSpPr/>
          <p:nvPr/>
        </p:nvSpPr>
        <p:spPr>
          <a:xfrm>
            <a:off x="8968234" y="4530923"/>
            <a:ext cx="1680270" cy="318046"/>
          </a:xfrm>
          <a:prstGeom prst="rect">
            <a:avLst/>
          </a:prstGeom>
          <a:noFill/>
          <a:ln/>
        </p:spPr>
        <p:txBody>
          <a:bodyPr wrap="square" lIns="25400" tIns="25400" rIns="25400" bIns="25400" rtlCol="0" anchor="t">
            <a:normAutofit/>
          </a:bodyPr>
          <a:lstStyle/>
          <a:p>
            <a:pPr algn="l" indent="0" marL="0">
              <a:lnSpc>
                <a:spcPct val="105000"/>
              </a:lnSpc>
              <a:buNone/>
            </a:pPr>
            <a:r>
              <a:rPr lang="en-US" sz="2100" b="1" spc="-21" kern="0" dirty="0">
                <a:solidFill>
                  <a:srgbClr val="000000"/>
                </a:solidFill>
                <a:latin typeface="Hanken Grotesk" pitchFamily="34" charset="0"/>
                <a:ea typeface="Hanken Grotesk" pitchFamily="34" charset="-122"/>
                <a:cs typeface="Hanken Grotesk" pitchFamily="34" charset="-120"/>
              </a:rPr>
              <a:t>Refer a friend</a:t>
            </a:r>
            <a:endParaRPr lang="en-US" sz="2100" dirty="0"/>
          </a:p>
        </p:txBody>
      </p:sp>
      <p:sp>
        <p:nvSpPr>
          <p:cNvPr id="16" name="Text 14"/>
          <p:cNvSpPr/>
          <p:nvPr/>
        </p:nvSpPr>
        <p:spPr>
          <a:xfrm>
            <a:off x="8358634" y="4994821"/>
            <a:ext cx="3970594"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They sign up and pay for a year — Plus or Pro.</a:t>
            </a:r>
            <a:endParaRPr lang="en-US" sz="1800" dirty="0"/>
          </a:p>
        </p:txBody>
      </p:sp>
      <p:sp>
        <p:nvSpPr>
          <p:cNvPr id="17" name="Text 15"/>
          <p:cNvSpPr/>
          <p:nvPr/>
        </p:nvSpPr>
        <p:spPr>
          <a:xfrm>
            <a:off x="12966055" y="4451896"/>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35BFD"/>
                </a:solidFill>
                <a:latin typeface="JetBrains Mono" pitchFamily="34" charset="0"/>
                <a:ea typeface="JetBrains Mono" pitchFamily="34" charset="-122"/>
                <a:cs typeface="JetBrains Mono" pitchFamily="34" charset="-120"/>
              </a:rPr>
              <a:t>2</a:t>
            </a:r>
            <a:endParaRPr lang="en-US" sz="1800" dirty="0"/>
          </a:p>
        </p:txBody>
      </p:sp>
      <p:sp>
        <p:nvSpPr>
          <p:cNvPr id="18" name="Text 16"/>
          <p:cNvSpPr/>
          <p:nvPr/>
        </p:nvSpPr>
        <p:spPr>
          <a:xfrm>
            <a:off x="13604230" y="4530923"/>
            <a:ext cx="1953667" cy="318046"/>
          </a:xfrm>
          <a:prstGeom prst="rect">
            <a:avLst/>
          </a:prstGeom>
          <a:noFill/>
          <a:ln/>
        </p:spPr>
        <p:txBody>
          <a:bodyPr wrap="square" lIns="25400" tIns="25400" rIns="25400" bIns="25400" rtlCol="0" anchor="t">
            <a:normAutofit/>
          </a:bodyPr>
          <a:lstStyle/>
          <a:p>
            <a:pPr algn="l" indent="0" marL="0">
              <a:lnSpc>
                <a:spcPct val="105000"/>
              </a:lnSpc>
              <a:buNone/>
            </a:pPr>
            <a:r>
              <a:rPr lang="en-US" sz="2100" b="1" spc="-21" kern="0" dirty="0">
                <a:solidFill>
                  <a:srgbClr val="000000"/>
                </a:solidFill>
                <a:latin typeface="Hanken Grotesk" pitchFamily="34" charset="0"/>
                <a:ea typeface="Hanken Grotesk" pitchFamily="34" charset="-122"/>
                <a:cs typeface="Hanken Grotesk" pitchFamily="34" charset="-120"/>
              </a:rPr>
              <a:t>You get Pro free</a:t>
            </a:r>
            <a:endParaRPr lang="en-US" sz="2100" dirty="0"/>
          </a:p>
        </p:txBody>
      </p:sp>
      <p:sp>
        <p:nvSpPr>
          <p:cNvPr id="19" name="Text 17"/>
          <p:cNvSpPr/>
          <p:nvPr/>
        </p:nvSpPr>
        <p:spPr>
          <a:xfrm>
            <a:off x="12994630" y="4994821"/>
            <a:ext cx="3970594"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A month of Pro per referral — even if you're on Free or Plus.</a:t>
            </a:r>
            <a:endParaRPr lang="en-US" sz="1800" dirty="0"/>
          </a:p>
        </p:txBody>
      </p:sp>
      <p:sp>
        <p:nvSpPr>
          <p:cNvPr id="20" name="Text 18"/>
          <p:cNvSpPr/>
          <p:nvPr/>
        </p:nvSpPr>
        <p:spPr>
          <a:xfrm>
            <a:off x="8330059" y="6349157"/>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35BFD"/>
                </a:solidFill>
                <a:latin typeface="JetBrains Mono" pitchFamily="34" charset="0"/>
                <a:ea typeface="JetBrains Mono" pitchFamily="34" charset="-122"/>
                <a:cs typeface="JetBrains Mono" pitchFamily="34" charset="-120"/>
              </a:rPr>
              <a:t>3</a:t>
            </a:r>
            <a:endParaRPr lang="en-US" sz="1800" dirty="0"/>
          </a:p>
        </p:txBody>
      </p:sp>
      <p:sp>
        <p:nvSpPr>
          <p:cNvPr id="21" name="Text 19"/>
          <p:cNvSpPr/>
          <p:nvPr/>
        </p:nvSpPr>
        <p:spPr>
          <a:xfrm>
            <a:off x="8968234" y="6428184"/>
            <a:ext cx="1793081" cy="318046"/>
          </a:xfrm>
          <a:prstGeom prst="rect">
            <a:avLst/>
          </a:prstGeom>
          <a:noFill/>
          <a:ln/>
        </p:spPr>
        <p:txBody>
          <a:bodyPr wrap="square" lIns="25400" tIns="25400" rIns="25400" bIns="25400" rtlCol="0" anchor="t">
            <a:normAutofit/>
          </a:bodyPr>
          <a:lstStyle/>
          <a:p>
            <a:pPr algn="l" indent="0" marL="0">
              <a:lnSpc>
                <a:spcPct val="105000"/>
              </a:lnSpc>
              <a:buNone/>
            </a:pPr>
            <a:r>
              <a:rPr lang="en-US" sz="2100" b="1" spc="-21" kern="0" dirty="0">
                <a:solidFill>
                  <a:srgbClr val="000000"/>
                </a:solidFill>
                <a:latin typeface="Hanken Grotesk" pitchFamily="34" charset="0"/>
                <a:ea typeface="Hanken Grotesk" pitchFamily="34" charset="-122"/>
                <a:cs typeface="Hanken Grotesk" pitchFamily="34" charset="-120"/>
              </a:rPr>
              <a:t>Rewards stack</a:t>
            </a:r>
            <a:endParaRPr lang="en-US" sz="2100" dirty="0"/>
          </a:p>
        </p:txBody>
      </p:sp>
      <p:sp>
        <p:nvSpPr>
          <p:cNvPr id="22" name="Text 20"/>
          <p:cNvSpPr/>
          <p:nvPr/>
        </p:nvSpPr>
        <p:spPr>
          <a:xfrm>
            <a:off x="8358634" y="6892082"/>
            <a:ext cx="3970594" cy="99804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Refer 12 annual payers and bank a year free — spent before your paid run.</a:t>
            </a:r>
            <a:endParaRPr lang="en-US" sz="1800" dirty="0"/>
          </a:p>
        </p:txBody>
      </p:sp>
      <p:sp>
        <p:nvSpPr>
          <p:cNvPr id="23" name="Shape 21"/>
          <p:cNvSpPr/>
          <p:nvPr/>
        </p:nvSpPr>
        <p:spPr>
          <a:xfrm rot="2700000">
            <a:off x="12994630" y="6431905"/>
            <a:ext cx="95250" cy="95250"/>
          </a:xfrm>
          <a:prstGeom prst="rect">
            <a:avLst/>
          </a:prstGeom>
          <a:solidFill>
            <a:srgbClr val="135BFD"/>
          </a:solidFill>
          <a:ln/>
        </p:spPr>
      </p:sp>
      <p:sp>
        <p:nvSpPr>
          <p:cNvPr id="24" name="Text 22"/>
          <p:cNvSpPr/>
          <p:nvPr/>
        </p:nvSpPr>
        <p:spPr>
          <a:xfrm>
            <a:off x="13242280" y="6339632"/>
            <a:ext cx="1175593" cy="318046"/>
          </a:xfrm>
          <a:prstGeom prst="rect">
            <a:avLst/>
          </a:prstGeom>
          <a:noFill/>
          <a:ln/>
        </p:spPr>
        <p:txBody>
          <a:bodyPr wrap="square" lIns="25400" tIns="25400" rIns="25400" bIns="25400" rtlCol="0" anchor="t">
            <a:normAutofit/>
          </a:bodyPr>
          <a:lstStyle/>
          <a:p>
            <a:pPr algn="l" indent="0" marL="0">
              <a:lnSpc>
                <a:spcPct val="105000"/>
              </a:lnSpc>
              <a:buNone/>
            </a:pPr>
            <a:r>
              <a:rPr lang="en-US" sz="2100" b="1" spc="-21" kern="0" dirty="0">
                <a:solidFill>
                  <a:srgbClr val="135BFD"/>
                </a:solidFill>
                <a:latin typeface="Hanken Grotesk" pitchFamily="34" charset="0"/>
                <a:ea typeface="Hanken Grotesk" pitchFamily="34" charset="-122"/>
                <a:cs typeface="Hanken Grotesk" pitchFamily="34" charset="-120"/>
              </a:rPr>
              <a:t>The hook</a:t>
            </a:r>
            <a:endParaRPr lang="en-US" sz="2100" dirty="0"/>
          </a:p>
        </p:txBody>
      </p:sp>
      <p:sp>
        <p:nvSpPr>
          <p:cNvPr id="25" name="Text 23"/>
          <p:cNvSpPr/>
          <p:nvPr/>
        </p:nvSpPr>
        <p:spPr>
          <a:xfrm>
            <a:off x="12994630" y="6714827"/>
            <a:ext cx="3970594" cy="99804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Free &amp; Plus users taste Pro — then drop back. Missing it drives the upgrade.</a:t>
            </a:r>
            <a:endParaRPr lang="en-US" sz="1800" dirty="0"/>
          </a:p>
        </p:txBody>
      </p:sp>
      <p:sp>
        <p:nvSpPr>
          <p:cNvPr id="26" name="Text 24"/>
          <p:cNvSpPr/>
          <p:nvPr/>
        </p:nvSpPr>
        <p:spPr>
          <a:xfrm>
            <a:off x="1143000" y="8620125"/>
            <a:ext cx="16350228"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Word of mouth from people who vet tools — our cheapest, highest-trust channel — wired straight into the product.</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1143000" y="1047750"/>
            <a:ext cx="1393031"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18 — TEAM</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4004221" y="4263479"/>
            <a:ext cx="373410" cy="533400"/>
          </a:xfrm>
          <a:prstGeom prst="rect">
            <a:avLst/>
          </a:prstGeom>
          <a:noFill/>
          <a:ln/>
        </p:spPr>
        <p:txBody>
          <a:bodyPr wrap="square" lIns="25400" tIns="25400" rIns="25400" bIns="25400" rtlCol="0" anchor="t">
            <a:normAutofit/>
          </a:bodyPr>
          <a:lstStyle/>
          <a:p>
            <a:pPr algn="ctr" indent="0" marL="0">
              <a:lnSpc>
                <a:spcPct val="100000"/>
              </a:lnSpc>
              <a:buNone/>
            </a:pPr>
            <a:r>
              <a:rPr lang="en-US" sz="3900" dirty="0">
                <a:solidFill>
                  <a:srgbClr val="000000"/>
                </a:solidFill>
                <a:latin typeface="JetBrains Mono" pitchFamily="34" charset="0"/>
                <a:ea typeface="JetBrains Mono" pitchFamily="34" charset="-122"/>
                <a:cs typeface="JetBrains Mono" pitchFamily="34" charset="-120"/>
              </a:rPr>
              <a:t>!</a:t>
            </a:r>
            <a:endParaRPr lang="en-US" sz="3900" dirty="0"/>
          </a:p>
        </p:txBody>
      </p:sp>
      <p:sp>
        <p:nvSpPr>
          <p:cNvPr id="5" name="Text 3"/>
          <p:cNvSpPr/>
          <p:nvPr/>
        </p:nvSpPr>
        <p:spPr>
          <a:xfrm>
            <a:off x="2952601" y="5196929"/>
            <a:ext cx="2476649" cy="390525"/>
          </a:xfrm>
          <a:prstGeom prst="rect">
            <a:avLst/>
          </a:prstGeom>
          <a:noFill/>
          <a:ln/>
        </p:spPr>
        <p:txBody>
          <a:bodyPr wrap="square" lIns="25400" tIns="25400" rIns="25400" bIns="25400" rtlCol="0" anchor="t">
            <a:normAutofit/>
          </a:bodyPr>
          <a:lstStyle/>
          <a:p>
            <a:pPr algn="ctr" indent="0" marL="0">
              <a:buNone/>
            </a:pPr>
            <a:r>
              <a:rPr lang="en-US" sz="2100" dirty="0">
                <a:solidFill>
                  <a:srgbClr val="000000"/>
                </a:solidFill>
                <a:latin typeface="JetBrains Mono" pitchFamily="34" charset="0"/>
                <a:ea typeface="JetBrains Mono" pitchFamily="34" charset="-122"/>
                <a:cs typeface="JetBrains Mono" pitchFamily="34" charset="-120"/>
              </a:rPr>
              <a:t>image not found</a:t>
            </a:r>
            <a:endParaRPr lang="en-US" sz="2100" dirty="0"/>
          </a:p>
        </p:txBody>
      </p:sp>
      <p:sp>
        <p:nvSpPr>
          <p:cNvPr id="6" name="Text 4"/>
          <p:cNvSpPr/>
          <p:nvPr/>
        </p:nvSpPr>
        <p:spPr>
          <a:xfrm>
            <a:off x="2848769" y="5777954"/>
            <a:ext cx="2684313" cy="333375"/>
          </a:xfrm>
          <a:prstGeom prst="rect">
            <a:avLst/>
          </a:prstGeom>
          <a:noFill/>
          <a:ln/>
        </p:spPr>
        <p:txBody>
          <a:bodyPr wrap="square" lIns="25400" tIns="25400" rIns="25400" bIns="25400" rtlCol="0" anchor="t">
            <a:normAutofit/>
          </a:bodyPr>
          <a:lstStyle/>
          <a:p>
            <a:pPr algn="ctr" indent="0" marL="0">
              <a:buNone/>
            </a:pPr>
            <a:r>
              <a:rPr lang="en-US" sz="1800" dirty="0">
                <a:solidFill>
                  <a:srgbClr val="000000"/>
                </a:solidFill>
                <a:latin typeface="JetBrains Mono" pitchFamily="34" charset="0"/>
                <a:ea typeface="JetBrains Mono" pitchFamily="34" charset="-122"/>
                <a:cs typeface="JetBrains Mono" pitchFamily="34" charset="-120"/>
              </a:rPr>
              <a:t>stephan-johnson.jpg</a:t>
            </a:r>
            <a:endParaRPr lang="en-US" sz="1800" dirty="0"/>
          </a:p>
        </p:txBody>
      </p:sp>
      <p:sp>
        <p:nvSpPr>
          <p:cNvPr id="7" name="Text 5"/>
          <p:cNvSpPr/>
          <p:nvPr/>
        </p:nvSpPr>
        <p:spPr>
          <a:xfrm>
            <a:off x="2608712" y="6358979"/>
            <a:ext cx="3164427" cy="998041"/>
          </a:xfrm>
          <a:prstGeom prst="rect">
            <a:avLst/>
          </a:prstGeom>
          <a:noFill/>
          <a:ln/>
        </p:spPr>
        <p:txBody>
          <a:bodyPr wrap="square" lIns="25400" tIns="25400" rIns="25400" bIns="25400" rtlCol="0" anchor="t">
            <a:normAutofit/>
          </a:bodyPr>
          <a:lstStyle/>
          <a:p>
            <a:pPr algn="ctr"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No photo, by choice. The same instinct that built Nullbox.</a:t>
            </a:r>
            <a:endParaRPr lang="en-US" sz="1800" dirty="0"/>
          </a:p>
        </p:txBody>
      </p:sp>
      <p:sp>
        <p:nvSpPr>
          <p:cNvPr id="8" name="Text 6"/>
          <p:cNvSpPr/>
          <p:nvPr/>
        </p:nvSpPr>
        <p:spPr>
          <a:xfrm>
            <a:off x="8001000" y="2945457"/>
            <a:ext cx="9418320"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FOUNDER</a:t>
            </a:r>
            <a:endParaRPr lang="en-US" sz="1800" dirty="0"/>
          </a:p>
        </p:txBody>
      </p:sp>
      <p:sp>
        <p:nvSpPr>
          <p:cNvPr id="9" name="Text 7"/>
          <p:cNvSpPr/>
          <p:nvPr/>
        </p:nvSpPr>
        <p:spPr>
          <a:xfrm>
            <a:off x="8001000" y="3412182"/>
            <a:ext cx="9418320" cy="672703"/>
          </a:xfrm>
          <a:prstGeom prst="rect">
            <a:avLst/>
          </a:prstGeom>
          <a:noFill/>
          <a:ln/>
        </p:spPr>
        <p:txBody>
          <a:bodyPr wrap="square" lIns="25400" tIns="25400" rIns="25400" bIns="25400" rtlCol="0" anchor="t">
            <a:normAutofit/>
          </a:bodyPr>
          <a:lstStyle/>
          <a:p>
            <a:pPr algn="l" indent="0" marL="0">
              <a:lnSpc>
                <a:spcPct val="98000"/>
              </a:lnSpc>
              <a:buNone/>
            </a:pPr>
            <a:r>
              <a:rPr lang="en-US" sz="5100" b="1" spc="-127" kern="0" dirty="0">
                <a:solidFill>
                  <a:srgbClr val="000000"/>
                </a:solidFill>
                <a:latin typeface="Hanken Grotesk" pitchFamily="34" charset="0"/>
                <a:ea typeface="Hanken Grotesk" pitchFamily="34" charset="-122"/>
                <a:cs typeface="Hanken Grotesk" pitchFamily="34" charset="-120"/>
              </a:rPr>
              <a:t>Stephan Johnson</a:t>
            </a:r>
            <a:endParaRPr lang="en-US" sz="5100" dirty="0"/>
          </a:p>
        </p:txBody>
      </p:sp>
      <p:sp>
        <p:nvSpPr>
          <p:cNvPr id="10" name="Text 8"/>
          <p:cNvSpPr/>
          <p:nvPr/>
        </p:nvSpPr>
        <p:spPr>
          <a:xfrm>
            <a:off x="8001000" y="4180136"/>
            <a:ext cx="5790642" cy="1596628"/>
          </a:xfrm>
          <a:prstGeom prst="rect">
            <a:avLst/>
          </a:prstGeom>
          <a:noFill/>
          <a:ln/>
        </p:spPr>
        <p:txBody>
          <a:bodyPr wrap="square" lIns="25400" tIns="25400" rIns="25400" bIns="25400" rtlCol="0" anchor="t">
            <a:normAutofit/>
          </a:bodyPr>
          <a:lstStyle/>
          <a:p>
            <a:pPr algn="l" indent="0" marL="0">
              <a:lnSpc>
                <a:spcPct val="132000"/>
              </a:lnSpc>
              <a:buNone/>
            </a:pPr>
            <a:r>
              <a:rPr lang="en-US" sz="2325" dirty="0">
                <a:solidFill>
                  <a:srgbClr val="000000"/>
                </a:solidFill>
                <a:latin typeface="Hanken Grotesk" pitchFamily="34" charset="0"/>
                <a:ea typeface="Hanken Grotesk" pitchFamily="34" charset="-122"/>
                <a:cs typeface="Hanken Grotesk" pitchFamily="34" charset="-120"/>
              </a:rPr>
              <a:t>Thirty years building software. From 2015 to 2019, he was the sole developer behind Makro.co.za — one of South Africa's largest retailers.</a:t>
            </a:r>
            <a:endParaRPr lang="en-US" sz="2325" dirty="0"/>
          </a:p>
        </p:txBody>
      </p:sp>
      <p:sp>
        <p:nvSpPr>
          <p:cNvPr id="11" name="Text 9"/>
          <p:cNvSpPr/>
          <p:nvPr/>
        </p:nvSpPr>
        <p:spPr>
          <a:xfrm>
            <a:off x="8001000" y="5967264"/>
            <a:ext cx="6823530" cy="2198191"/>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000000"/>
                </a:solidFill>
                <a:latin typeface="Hanken Grotesk" pitchFamily="34" charset="0"/>
                <a:ea typeface="Hanken Grotesk" pitchFamily="34" charset="-122"/>
                <a:cs typeface="Hanken Grotesk" pitchFamily="34" charset="-120"/>
              </a:rPr>
              <a:t>There he watched the company quietly feed customers' in-store purchases — tied to the loyalty card you need just to shop — to Facebook and Google. Nobody had knowingly agreed to it. That the physical world would leak into the digital one is why he walked away — and built Nullbox.</a:t>
            </a:r>
            <a:endParaRPr lang="en-US" sz="2025" dirty="0"/>
          </a:p>
        </p:txBody>
      </p:sp>
      <p:sp>
        <p:nvSpPr>
          <p:cNvPr id="12" name="Text 10"/>
          <p:cNvSpPr/>
          <p:nvPr/>
        </p:nvSpPr>
        <p:spPr>
          <a:xfrm>
            <a:off x="8001000" y="8355955"/>
            <a:ext cx="9418320" cy="338138"/>
          </a:xfrm>
          <a:prstGeom prst="rect">
            <a:avLst/>
          </a:prstGeom>
          <a:noFill/>
          <a:ln/>
        </p:spPr>
        <p:txBody>
          <a:bodyPr wrap="square" lIns="25400" tIns="25400" rIns="25400" bIns="25400" rtlCol="0" anchor="t">
            <a:normAutofit/>
          </a:bodyPr>
          <a:lstStyle/>
          <a:p>
            <a:pPr algn="l" indent="0" marL="0">
              <a:lnSpc>
                <a:spcPct val="105000"/>
              </a:lnSpc>
              <a:buNone/>
            </a:pPr>
            <a:r>
              <a:rPr lang="en-US" sz="2250" b="1" spc="-22" kern="0" dirty="0">
                <a:solidFill>
                  <a:srgbClr val="000000"/>
                </a:solidFill>
                <a:latin typeface="Hanken Grotesk" pitchFamily="34" charset="0"/>
                <a:ea typeface="Hanken Grotesk" pitchFamily="34" charset="-122"/>
                <a:cs typeface="Hanken Grotesk" pitchFamily="34" charset="-120"/>
              </a:rPr>
              <a:t>Privacy isn't a feature to him. </a:t>
            </a:r>
            <a:pPr algn="l" indent="0" marL="0">
              <a:lnSpc>
                <a:spcPct val="105000"/>
              </a:lnSpc>
              <a:buNone/>
            </a:pPr>
            <a:r>
              <a:rPr lang="en-US" sz="2250" b="1" spc="-22" kern="0" dirty="0">
                <a:solidFill>
                  <a:srgbClr val="135BFD"/>
                </a:solidFill>
                <a:latin typeface="Hanken Grotesk" pitchFamily="34" charset="0"/>
                <a:ea typeface="Hanken Grotesk" pitchFamily="34" charset="-122"/>
                <a:cs typeface="Hanken Grotesk" pitchFamily="34" charset="-120"/>
              </a:rPr>
              <a:t>It's a right.</a:t>
            </a:r>
            <a:endParaRPr lang="en-US" sz="2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1143000" y="1047750"/>
            <a:ext cx="1831925"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19 — THE ASK</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3752850"/>
            <a:ext cx="6629614"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PRE-SEED</a:t>
            </a:r>
            <a:endParaRPr lang="en-US" sz="1800" dirty="0"/>
          </a:p>
        </p:txBody>
      </p:sp>
      <p:sp>
        <p:nvSpPr>
          <p:cNvPr id="5" name="Text 3"/>
          <p:cNvSpPr/>
          <p:nvPr/>
        </p:nvSpPr>
        <p:spPr>
          <a:xfrm>
            <a:off x="1143000" y="4067175"/>
            <a:ext cx="6629614" cy="1266825"/>
          </a:xfrm>
          <a:prstGeom prst="rect">
            <a:avLst/>
          </a:prstGeom>
          <a:noFill/>
          <a:ln/>
        </p:spPr>
        <p:txBody>
          <a:bodyPr wrap="square" lIns="25400" tIns="25400" rIns="25400" bIns="25400" rtlCol="0" anchor="t">
            <a:normAutofit/>
          </a:bodyPr>
          <a:lstStyle/>
          <a:p>
            <a:pPr algn="l" indent="0" marL="0">
              <a:lnSpc>
                <a:spcPct val="86000"/>
              </a:lnSpc>
              <a:buNone/>
            </a:pPr>
            <a:r>
              <a:rPr lang="en-US" sz="11250" b="1" spc="-450" kern="0" dirty="0">
                <a:solidFill>
                  <a:srgbClr val="000000"/>
                </a:solidFill>
                <a:latin typeface="Hanken Grotesk" pitchFamily="34" charset="0"/>
                <a:ea typeface="Hanken Grotesk" pitchFamily="34" charset="-122"/>
                <a:cs typeface="Hanken Grotesk" pitchFamily="34" charset="-120"/>
              </a:rPr>
              <a:t>$500K</a:t>
            </a:r>
            <a:endParaRPr lang="en-US" sz="11250" dirty="0"/>
          </a:p>
        </p:txBody>
      </p:sp>
      <p:sp>
        <p:nvSpPr>
          <p:cNvPr id="6" name="Text 4"/>
          <p:cNvSpPr/>
          <p:nvPr/>
        </p:nvSpPr>
        <p:spPr>
          <a:xfrm>
            <a:off x="1143000" y="5448300"/>
            <a:ext cx="6629614"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NZD · ~18 months runway</a:t>
            </a:r>
            <a:endParaRPr lang="en-US" sz="3000" dirty="0"/>
          </a:p>
        </p:txBody>
      </p:sp>
      <p:sp>
        <p:nvSpPr>
          <p:cNvPr id="7" name="Text 5"/>
          <p:cNvSpPr/>
          <p:nvPr/>
        </p:nvSpPr>
        <p:spPr>
          <a:xfrm>
            <a:off x="1143000" y="6057900"/>
            <a:ext cx="5274198" cy="20383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Spent through a lean South Africa–based team, so it stretches — enough to pay a focused team, keep the relay running, and prove the growth engine before raising again.</a:t>
            </a:r>
            <a:endParaRPr lang="en-US" sz="2250" dirty="0"/>
          </a:p>
        </p:txBody>
      </p:sp>
      <p:sp>
        <p:nvSpPr>
          <p:cNvPr id="8" name="Text 6"/>
          <p:cNvSpPr/>
          <p:nvPr/>
        </p:nvSpPr>
        <p:spPr>
          <a:xfrm>
            <a:off x="8436769" y="3295650"/>
            <a:ext cx="8969478"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use of funds</a:t>
            </a:r>
            <a:endParaRPr lang="en-US" sz="1800" dirty="0"/>
          </a:p>
        </p:txBody>
      </p:sp>
      <p:sp>
        <p:nvSpPr>
          <p:cNvPr id="9" name="Text 7"/>
          <p:cNvSpPr/>
          <p:nvPr/>
        </p:nvSpPr>
        <p:spPr>
          <a:xfrm>
            <a:off x="8436769" y="3838575"/>
            <a:ext cx="4506507"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Team — developer + support lead</a:t>
            </a:r>
            <a:endParaRPr lang="en-US" sz="2250" dirty="0"/>
          </a:p>
        </p:txBody>
      </p:sp>
      <p:sp>
        <p:nvSpPr>
          <p:cNvPr id="10" name="Text 8"/>
          <p:cNvSpPr/>
          <p:nvPr/>
        </p:nvSpPr>
        <p:spPr>
          <a:xfrm>
            <a:off x="16733490" y="3838575"/>
            <a:ext cx="487710" cy="438150"/>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42%</a:t>
            </a:r>
            <a:endParaRPr lang="en-US" sz="1800" dirty="0"/>
          </a:p>
        </p:txBody>
      </p:sp>
      <p:sp>
        <p:nvSpPr>
          <p:cNvPr id="11" name="Shape 9"/>
          <p:cNvSpPr/>
          <p:nvPr/>
        </p:nvSpPr>
        <p:spPr>
          <a:xfrm>
            <a:off x="8436769" y="4324350"/>
            <a:ext cx="3657451" cy="209550"/>
          </a:xfrm>
          <a:prstGeom prst="roundRect">
            <a:avLst>
              <a:gd name="adj" fmla="val 50000"/>
            </a:avLst>
          </a:prstGeom>
          <a:solidFill>
            <a:srgbClr val="135BFD"/>
          </a:solidFill>
          <a:ln/>
        </p:spPr>
      </p:sp>
      <p:sp>
        <p:nvSpPr>
          <p:cNvPr id="12" name="Text 10"/>
          <p:cNvSpPr/>
          <p:nvPr/>
        </p:nvSpPr>
        <p:spPr>
          <a:xfrm>
            <a:off x="8436769" y="4781550"/>
            <a:ext cx="4259245"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Founder salary — full-time build</a:t>
            </a:r>
            <a:endParaRPr lang="en-US" sz="2250" dirty="0"/>
          </a:p>
        </p:txBody>
      </p:sp>
      <p:sp>
        <p:nvSpPr>
          <p:cNvPr id="13" name="Text 11"/>
          <p:cNvSpPr/>
          <p:nvPr/>
        </p:nvSpPr>
        <p:spPr>
          <a:xfrm>
            <a:off x="16733490" y="4781550"/>
            <a:ext cx="487710" cy="438150"/>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20%</a:t>
            </a:r>
            <a:endParaRPr lang="en-US" sz="1800" dirty="0"/>
          </a:p>
        </p:txBody>
      </p:sp>
      <p:sp>
        <p:nvSpPr>
          <p:cNvPr id="14" name="Shape 12"/>
          <p:cNvSpPr/>
          <p:nvPr/>
        </p:nvSpPr>
        <p:spPr>
          <a:xfrm>
            <a:off x="8436769" y="5267325"/>
            <a:ext cx="1741587" cy="209550"/>
          </a:xfrm>
          <a:prstGeom prst="roundRect">
            <a:avLst>
              <a:gd name="adj" fmla="val 50000"/>
            </a:avLst>
          </a:prstGeom>
          <a:solidFill>
            <a:srgbClr val="135BFD"/>
          </a:solidFill>
          <a:ln/>
        </p:spPr>
      </p:sp>
      <p:sp>
        <p:nvSpPr>
          <p:cNvPr id="15" name="Text 13"/>
          <p:cNvSpPr/>
          <p:nvPr/>
        </p:nvSpPr>
        <p:spPr>
          <a:xfrm>
            <a:off x="8436769" y="5724525"/>
            <a:ext cx="2582912"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Marketing &amp; growth</a:t>
            </a:r>
            <a:endParaRPr lang="en-US" sz="2250" dirty="0"/>
          </a:p>
        </p:txBody>
      </p:sp>
      <p:sp>
        <p:nvSpPr>
          <p:cNvPr id="16" name="Text 14"/>
          <p:cNvSpPr/>
          <p:nvPr/>
        </p:nvSpPr>
        <p:spPr>
          <a:xfrm>
            <a:off x="16733490" y="5724525"/>
            <a:ext cx="487710" cy="438150"/>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26%</a:t>
            </a:r>
            <a:endParaRPr lang="en-US" sz="1800" dirty="0"/>
          </a:p>
        </p:txBody>
      </p:sp>
      <p:sp>
        <p:nvSpPr>
          <p:cNvPr id="17" name="Shape 15"/>
          <p:cNvSpPr/>
          <p:nvPr/>
        </p:nvSpPr>
        <p:spPr>
          <a:xfrm>
            <a:off x="8436769" y="6210300"/>
            <a:ext cx="2264122" cy="209550"/>
          </a:xfrm>
          <a:prstGeom prst="roundRect">
            <a:avLst>
              <a:gd name="adj" fmla="val 50000"/>
            </a:avLst>
          </a:prstGeom>
          <a:solidFill>
            <a:srgbClr val="135BFD"/>
          </a:solidFill>
          <a:ln/>
        </p:spPr>
      </p:sp>
      <p:sp>
        <p:nvSpPr>
          <p:cNvPr id="18" name="Text 16"/>
          <p:cNvSpPr/>
          <p:nvPr/>
        </p:nvSpPr>
        <p:spPr>
          <a:xfrm>
            <a:off x="8436769" y="6667500"/>
            <a:ext cx="3118439"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Infrastructure &amp; hosting</a:t>
            </a:r>
            <a:endParaRPr lang="en-US" sz="2250" dirty="0"/>
          </a:p>
        </p:txBody>
      </p:sp>
      <p:sp>
        <p:nvSpPr>
          <p:cNvPr id="19" name="Text 17"/>
          <p:cNvSpPr/>
          <p:nvPr/>
        </p:nvSpPr>
        <p:spPr>
          <a:xfrm>
            <a:off x="16870561" y="6667500"/>
            <a:ext cx="350639" cy="438150"/>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6%</a:t>
            </a:r>
            <a:endParaRPr lang="en-US" sz="1800" dirty="0"/>
          </a:p>
        </p:txBody>
      </p:sp>
      <p:sp>
        <p:nvSpPr>
          <p:cNvPr id="20" name="Shape 18"/>
          <p:cNvSpPr/>
          <p:nvPr/>
        </p:nvSpPr>
        <p:spPr>
          <a:xfrm>
            <a:off x="8436769" y="7153275"/>
            <a:ext cx="522387" cy="209550"/>
          </a:xfrm>
          <a:prstGeom prst="roundRect">
            <a:avLst>
              <a:gd name="adj" fmla="val 50000"/>
            </a:avLst>
          </a:prstGeom>
          <a:solidFill>
            <a:srgbClr val="135BFD"/>
          </a:solidFill>
          <a:ln/>
        </p:spPr>
      </p:sp>
      <p:sp>
        <p:nvSpPr>
          <p:cNvPr id="21" name="Text 19"/>
          <p:cNvSpPr/>
          <p:nvPr/>
        </p:nvSpPr>
        <p:spPr>
          <a:xfrm>
            <a:off x="8436769" y="7610475"/>
            <a:ext cx="1670149"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Contingency</a:t>
            </a:r>
            <a:endParaRPr lang="en-US" sz="2250" dirty="0"/>
          </a:p>
        </p:txBody>
      </p:sp>
      <p:sp>
        <p:nvSpPr>
          <p:cNvPr id="22" name="Text 20"/>
          <p:cNvSpPr/>
          <p:nvPr/>
        </p:nvSpPr>
        <p:spPr>
          <a:xfrm>
            <a:off x="16870561" y="7610475"/>
            <a:ext cx="350639" cy="438150"/>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6%</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3000" y="1047750"/>
            <a:ext cx="1386334" cy="381000"/>
          </a:xfrm>
          <a:prstGeom prst="rect">
            <a:avLst/>
          </a:prstGeom>
        </p:spPr>
      </p:pic>
      <p:sp>
        <p:nvSpPr>
          <p:cNvPr id="3" name="Text 0"/>
          <p:cNvSpPr/>
          <p:nvPr/>
        </p:nvSpPr>
        <p:spPr>
          <a:xfrm>
            <a:off x="14218890" y="1090613"/>
            <a:ext cx="3013893"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20 — WHERE THIS GOES</a:t>
            </a:r>
            <a:endParaRPr lang="en-US" sz="1800" dirty="0"/>
          </a:p>
        </p:txBody>
      </p:sp>
      <p:sp>
        <p:nvSpPr>
          <p:cNvPr id="4" name="Text 1"/>
          <p:cNvSpPr/>
          <p:nvPr/>
        </p:nvSpPr>
        <p:spPr>
          <a:xfrm>
            <a:off x="1143000" y="3241030"/>
            <a:ext cx="11603358" cy="1714500"/>
          </a:xfrm>
          <a:prstGeom prst="rect">
            <a:avLst/>
          </a:prstGeom>
          <a:noFill/>
          <a:ln/>
        </p:spPr>
        <p:txBody>
          <a:bodyPr wrap="square" lIns="25400" tIns="25400" rIns="25400" bIns="25400" rtlCol="0" anchor="t">
            <a:normAutofit/>
          </a:bodyPr>
          <a:lstStyle/>
          <a:p>
            <a:pPr algn="l" indent="0" marL="0">
              <a:lnSpc>
                <a:spcPct val="100000"/>
              </a:lnSpc>
              <a:buNone/>
            </a:pPr>
            <a:r>
              <a:rPr lang="en-US" sz="6600" b="1" spc="-198" kern="0" dirty="0">
                <a:solidFill>
                  <a:srgbClr val="000000"/>
                </a:solidFill>
                <a:latin typeface="Hanken Grotesk" pitchFamily="34" charset="0"/>
                <a:ea typeface="Hanken Grotesk" pitchFamily="34" charset="-122"/>
                <a:cs typeface="Hanken Grotesk" pitchFamily="34" charset="-120"/>
              </a:rPr>
              <a:t>An inbox you actually control — and never have to hand out.</a:t>
            </a:r>
            <a:endParaRPr lang="en-US" sz="6600" dirty="0"/>
          </a:p>
        </p:txBody>
      </p:sp>
      <p:sp>
        <p:nvSpPr>
          <p:cNvPr id="5" name="Text 2"/>
          <p:cNvSpPr/>
          <p:nvPr/>
        </p:nvSpPr>
        <p:spPr>
          <a:xfrm>
            <a:off x="1143000" y="5260330"/>
            <a:ext cx="8350788" cy="1471315"/>
          </a:xfrm>
          <a:prstGeom prst="rect">
            <a:avLst/>
          </a:prstGeom>
          <a:noFill/>
          <a:ln/>
        </p:spPr>
        <p:txBody>
          <a:bodyPr wrap="square" lIns="25400" tIns="25400" rIns="25400" bIns="25400" rtlCol="0" anchor="t">
            <a:normAutofit/>
          </a:bodyPr>
          <a:lstStyle/>
          <a:p>
            <a:pPr algn="l" indent="0" marL="0">
              <a:lnSpc>
                <a:spcPct val="132000"/>
              </a:lnSpc>
              <a:buNone/>
            </a:pPr>
            <a:r>
              <a:rPr lang="en-US" sz="2850" dirty="0">
                <a:solidFill>
                  <a:srgbClr val="000000"/>
                </a:solidFill>
                <a:latin typeface="Hanken Grotesk" pitchFamily="34" charset="0"/>
                <a:ea typeface="Hanken Grotesk" pitchFamily="34" charset="-122"/>
                <a:cs typeface="Hanken Grotesk" pitchFamily="34" charset="-120"/>
              </a:rPr>
              <a:t>Spam stops being your problem. Trust becomes a decision you make once. And your real address stays yours.</a:t>
            </a:r>
            <a:endParaRPr lang="en-US" sz="2850" dirty="0"/>
          </a:p>
        </p:txBody>
      </p:sp>
      <p:sp>
        <p:nvSpPr>
          <p:cNvPr id="6" name="Text 3"/>
          <p:cNvSpPr/>
          <p:nvPr/>
        </p:nvSpPr>
        <p:spPr>
          <a:xfrm>
            <a:off x="1143000" y="9048750"/>
            <a:ext cx="4357966"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Live now at </a:t>
            </a:r>
            <a:pPr algn="l" indent="0" marL="0">
              <a:lnSpc>
                <a:spcPct val="105000"/>
              </a:lnSpc>
              <a:buNone/>
            </a:pPr>
            <a:r>
              <a:rPr lang="en-US" sz="3000" b="1" spc="-30" kern="0" dirty="0">
                <a:solidFill>
                  <a:srgbClr val="135BFD"/>
                </a:solidFill>
                <a:latin typeface="Hanken Grotesk" pitchFamily="34" charset="0"/>
                <a:ea typeface="Hanken Grotesk" pitchFamily="34" charset="-122"/>
                <a:cs typeface="Hanken Grotesk" pitchFamily="34" charset="-120"/>
              </a:rPr>
              <a:t>nullbox.email</a:t>
            </a:r>
            <a:endParaRPr lang="en-US" sz="3000" dirty="0"/>
          </a:p>
        </p:txBody>
      </p:sp>
      <p:sp>
        <p:nvSpPr>
          <p:cNvPr id="7" name="Text 4"/>
          <p:cNvSpPr/>
          <p:nvPr/>
        </p:nvSpPr>
        <p:spPr>
          <a:xfrm>
            <a:off x="9774882" y="9101138"/>
            <a:ext cx="7591221"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info@xwz9fa.nullbox.email · github.com/nullbox-email</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2026-06-05T02:52:02Z</dcterms:created>
  <dcterms:modified xsi:type="dcterms:W3CDTF">2026-06-05T02:52:02Z</dcterms:modified>
</cp:coreProperties>
</file>