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Stephan, and this is Nullbox. The simplest way to describe it: Nullbox gives you a unique email address for every service you sign up to, and quietly forwards the good mail to the inbox you already use. The part I care most about is on the right of this slide — we decide what reaches you based on metadata alone. We never open your mail. So as we go through this, hold onto two words: aliases, and trust. Everything else follows from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because it's one we all live with. Your email address is basically a permanent, public identifier. You hand the same one to every shop, every newsletter, every app. There are 376 billion emails sent a day now, and just under half of them are spam. Phishing alone is around three and a half billion a day, and thanks to AI it's grammatically perfect. Here's the kicker: once your address leaks, it leaks forever. You can filter, but you can't take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doesn't blocking fix this? Because blocking is broken by design. When you block a sender, you only stop that one domain — the next spammer walks right through. And you can't rotate your real inbox; it's the one everything is tied to. So the exposure is permanent. The honest conclusion is that the answer isn't a smarter filter. It's never handing out your real address in the first place. That's the door Nullbox walks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Nullbox actually is. Every service gets its own fresh alias on your private domain. Nullbox sits in the middle and forwards, quarantines, or drops — per alias, on your terms. And on the right: your real inbox, completely unchanged. Gmail, Outlook, Proton, whatever you use. Nothing to migrate. The line I'd underline is at the bottom: Nullbox doesn't replace your inbox, it sits in front of it. If one alias starts getting spam, you disable or rotate it and nothing else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makes us different — trust. Most relays forward everything and ask you to trust them with it. We built Nullbox so there's far less to trust in the first place. Three things. One: we never open your mail — routing uses a limited set of headers, including the sender, and the body is never read. Two: decide, then trust — unknown senders are quarantined, not delivered. Three: minimal by default — no long-term content storage, and we delete routing logs every ninety days. Less data held means less that can ever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how it works — in plain terms. When a message comes in to one of your aliases, the first thing Nullbox does is look at who actually sent it. Then one of three things happens: if it's someone you trust, it's forwarded straight to your normal inbox; if it's someone new, it's held for you to review; if it's someone you've refused, it's blocked. The thing I want you to take away is that nothing reaches your inbox until that check has happened. An email is never just dumped into your mailbox unscreened — every single one is a deliberate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slide, because it's where trust becomes something you can feel — so let me tell it as a story. A stranger emails you for the first time. Instead of landing in your inbox, the message is held to one side, locked away, and — this matters — we genuinely can't read it. When you're ready, only you can open it, privately, right in your browser. And then you make one decision: trust this sender, and their mail flows through from now on, or block them, and you never hear from them again. It's a single choice per sender, and we keep no lasting record of it — the whole trust history is wiped every ninety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model pays off in ways a spam filter never can — it designs out whole classes of attack. First, phishing. Look at the example: paypal.com versus a second address where one letter has been swapped for a look-alike from another alphabet — to your eye they're identical. That's how a lot of phishing works. Nullbox spots that trickery and stops it before it can fool your eye, because it checks who you've actually trusted, not how the address looks. Second, data brokers: if a company sells your details, the buyer's mail simply never reaches your inbox — and because that company had its own unique alias, you know exactly who sold you out. Third, breaches: a unique address per site means a login leaked in one breach can't be reused to break into your accounts everywhere else. And for organisations, point a custom domain at us and you get that phishing protection on ordinary business email — no aliasing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forces are lining up. First, AI has made phishing explode — reports were up over four hundred percent in early 2025, and you can't spot it by bad grammar anymore. Second, regulation and sovereignty — GDPR, NIS2, data-residency rules are pushing organisations toward minimal-data, privacy-first tools, which is exactly what we are. Third, plain fatigue — four point six billion people have an inbox, and they're each losing about three hours a week to spam. People want control back, and the tools to give it to them are finally 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Aliasing itself isn't new — Apple, Firefox, SimpleLogin, DuckDuckGo all do a version of it, and credit to them for normalising it. But look across the columns. They forward and trust. None of them combine never reading content, quarantine-and-trust, and automatic phishing defense. That row at the bottom is the gap we sit in. We decide first, we process the least, and we run wherever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have we actually done — and I want to be completely honest here. We've done essentially no marketing: about ten comments on a few privacy subreddits last December. That's it. From just that, we have twenty-three active users, sixty-two aliases, and five hundred and fifty-one real emails relayed through the system. Of those, five hundred and seventeen were forwarded from trusted senders, sixteen quarantined, eighteen dropped — which is the trust model working exactly as designed, in the wild. These are small, early-beta numbers and I won't dress them up. The point is the ratio: this is what organic pull looks like before we've spent a single cent on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freemium with three tiers, and the prices are real. Free keeps you protected — one mailbox, ten aliases, a hundred megabytes a month — enough to leave your real address behind. Plus, at three dollars a month, gives you five mailboxes, fifty aliases and a gigabyte; it's the plan most people land on. Pro, at five dollars, is unlimited mailboxes and aliases with ten gigs and faster support. And for organisations there's Team, at eight dollars a seat, with self-hosting available for sovereign deployments. Free drives adoption and trust; the paid tiers fund the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that growth durable. First, retention: alias services are naturally sticky. Once you've registered aliases across dozens of services, leaving means changing your address everywhere — so switching cost is high, churn is low, and the revenue is genuinely recurring. Second, a referral loop built into the product. Refer someone who pays for a year and you earn a free month of Pro — even if you're on Free or Plus — and the rewards stack: refer twelve annual payers and you've banked a year. Here's the clever part, the hook: when a Free or Plus user is gifted Pro, they get a taste of the full product, and when it drops back they feel the gap. That's what drives the upgrade. Our cheapest, highest-trust channel — word of mouth — wired straight into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who's building this. It's me — Stephan Johnson — and I'll tell you the moment this became personal. I've been building software for thirty years; from twenty-fifteen to twenty-nineteen I was the only developer behind Makro dot co dot za, one of South Africa's largest retailers. And there I watched the company quietly send customers' in-store purchases — tied to the loyalty card you need just to walk in the door — straight to Facebook and Google. Nobody had knowingly agreed to that. You might accept you have no privacy online, but you'd never expect a physical shop to leak your real-world life to ad platforms. That breach — the digital world reaching into the physical one — is why I walked away, and why I built Nullbox. Privacy isn't a feature to me, it's a right. I built it alone, end to end; the first thing this raise does is bring on a developer and a support lead so it can grow beyond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offer, and it's deliberately different from an investor pitch — I'm not asking you for money. I'm asking for your reach. You've earned trust with an audience that genuinely cares about privacy, and a recommendation from you is worth more than any advertising we could buy. Bring Nullbox to them and you earn a recurring thirty to fifty percent of everything they pay — every month, for as long as they stay, not a one-time bounty. We run the whole product: hosting, support, security, updates. You carry no infrastructure and no risk. And the incentives are aligned — the better Nullbox protects people, the longer they stay and the more you earn. Honestly, this is how we'd love to grow: funded by the users you bring, rather than by outside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the split actually works — it rewards you for growing. While you're bringing your first thousand users, you keep thirty percent of what they pay. As that base grows past ten thousand, then a hundred thousand, your share climbs to forty, forty-five, and ultimately fifty percent. The reason we can afford that is in the last column: the more users on the platform, the less it costs us to run each one, so we hand those savings back to you. And crucially, crossing into a new tier lifts the rate across your entire referred base, not just the new users — 100% of zero is zero, so we'd rather spread the reward. It's recurring, too: you earn every month a referred user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vision: an inbox people actually control, and an address they never have to hand out. Spam stops being their problem, trust becomes a decision they make once, and their real address stays theirs. Nullbox is live right now at nullbox dot email. If this is something you'd be proud to put your name behind, let's talk about getting you set up — and protect the next million inboxes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090613"/>
            <a:ext cx="1455688" cy="400050"/>
          </a:xfrm>
          <a:prstGeom prst="rect">
            <a:avLst/>
          </a:prstGeom>
        </p:spPr>
      </p:pic>
      <p:sp>
        <p:nvSpPr>
          <p:cNvPr id="3" name="Shape 0"/>
          <p:cNvSpPr/>
          <p:nvPr/>
        </p:nvSpPr>
        <p:spPr>
          <a:xfrm rot="2700000">
            <a:off x="13938796" y="1243013"/>
            <a:ext cx="95250" cy="95250"/>
          </a:xfrm>
          <a:prstGeom prst="rect">
            <a:avLst/>
          </a:prstGeom>
          <a:solidFill>
            <a:srgbClr val="135BFD"/>
          </a:solidFill>
          <a:ln/>
        </p:spPr>
      </p:sp>
      <p:sp>
        <p:nvSpPr>
          <p:cNvPr id="4" name="Text 1"/>
          <p:cNvSpPr/>
          <p:nvPr/>
        </p:nvSpPr>
        <p:spPr>
          <a:xfrm>
            <a:off x="14129296" y="1143000"/>
            <a:ext cx="2919771"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Partner brief · 2026</a:t>
            </a:r>
            <a:endParaRPr lang="en-US" sz="1800" dirty="0"/>
          </a:p>
        </p:txBody>
      </p:sp>
      <p:sp>
        <p:nvSpPr>
          <p:cNvPr id="5" name="Text 2"/>
          <p:cNvSpPr/>
          <p:nvPr/>
        </p:nvSpPr>
        <p:spPr>
          <a:xfrm>
            <a:off x="1143000" y="2824163"/>
            <a:ext cx="902589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EMAIL PRIVACY, BUILT ON TRUST</a:t>
            </a:r>
            <a:endParaRPr lang="en-US" sz="1800" dirty="0"/>
          </a:p>
        </p:txBody>
      </p:sp>
      <p:sp>
        <p:nvSpPr>
          <p:cNvPr id="6" name="Text 3"/>
          <p:cNvSpPr/>
          <p:nvPr/>
        </p:nvSpPr>
        <p:spPr>
          <a:xfrm>
            <a:off x="1143000" y="3195638"/>
            <a:ext cx="9025890" cy="2671465"/>
          </a:xfrm>
          <a:prstGeom prst="rect">
            <a:avLst/>
          </a:prstGeom>
          <a:noFill/>
          <a:ln/>
        </p:spPr>
        <p:txBody>
          <a:bodyPr wrap="square" lIns="25400" tIns="25400" rIns="25400" bIns="25400" rtlCol="0" anchor="t">
            <a:normAutofit/>
          </a:bodyPr>
          <a:lstStyle/>
          <a:p>
            <a:pPr algn="l" indent="0" marL="0">
              <a:lnSpc>
                <a:spcPct val="96000"/>
              </a:lnSpc>
              <a:buNone/>
            </a:pPr>
            <a:r>
              <a:rPr lang="en-US" sz="7200" b="1" spc="-216" kern="0" dirty="0">
                <a:solidFill>
                  <a:srgbClr val="000000"/>
                </a:solidFill>
                <a:latin typeface="Hanken Grotesk" pitchFamily="34" charset="0"/>
                <a:ea typeface="Hanken Grotesk" pitchFamily="34" charset="-122"/>
                <a:cs typeface="Hanken Grotesk" pitchFamily="34" charset="-120"/>
              </a:rPr>
              <a:t>Aliases that protect your inbox </a:t>
            </a:r>
            <a:pPr algn="l" indent="0" marL="0">
              <a:lnSpc>
                <a:spcPct val="96000"/>
              </a:lnSpc>
              <a:buNone/>
            </a:pPr>
            <a:r>
              <a:rPr lang="en-US" sz="7200" b="1" spc="-216" kern="0" dirty="0">
                <a:solidFill>
                  <a:srgbClr val="135BFD"/>
                </a:solidFill>
                <a:latin typeface="Hanken Grotesk" pitchFamily="34" charset="0"/>
                <a:ea typeface="Hanken Grotesk" pitchFamily="34" charset="-122"/>
                <a:cs typeface="Hanken Grotesk" pitchFamily="34" charset="-120"/>
              </a:rPr>
              <a:t>without replacing it.</a:t>
            </a:r>
            <a:endParaRPr lang="en-US" sz="7200" dirty="0"/>
          </a:p>
        </p:txBody>
      </p:sp>
      <p:sp>
        <p:nvSpPr>
          <p:cNvPr id="7" name="Text 4"/>
          <p:cNvSpPr/>
          <p:nvPr/>
        </p:nvSpPr>
        <p:spPr>
          <a:xfrm>
            <a:off x="1143000" y="6152852"/>
            <a:ext cx="5933511" cy="1395859"/>
          </a:xfrm>
          <a:prstGeom prst="rect">
            <a:avLst/>
          </a:prstGeom>
          <a:noFill/>
          <a:ln/>
        </p:spPr>
        <p:txBody>
          <a:bodyPr wrap="square" lIns="25400" tIns="25400" rIns="25400" bIns="25400" rtlCol="0" anchor="t">
            <a:normAutofit/>
          </a:bodyPr>
          <a:lstStyle/>
          <a:p>
            <a:pPr algn="l" indent="0" marL="0">
              <a:lnSpc>
                <a:spcPct val="132000"/>
              </a:lnSpc>
              <a:buNone/>
            </a:pPr>
            <a:r>
              <a:rPr lang="en-US" sz="2700" dirty="0">
                <a:solidFill>
                  <a:srgbClr val="000000"/>
                </a:solidFill>
                <a:latin typeface="Hanken Grotesk" pitchFamily="34" charset="0"/>
                <a:ea typeface="Hanken Grotesk" pitchFamily="34" charset="-122"/>
                <a:cs typeface="Hanken Grotesk" pitchFamily="34" charset="-120"/>
              </a:rPr>
              <a:t>A unique address for every service. We route on metadata alone — and never open your mail.</a:t>
            </a:r>
            <a:endParaRPr lang="en-US" sz="2700" dirty="0"/>
          </a:p>
        </p:txBody>
      </p:sp>
      <p:sp>
        <p:nvSpPr>
          <p:cNvPr id="8" name="Text 5"/>
          <p:cNvSpPr/>
          <p:nvPr/>
        </p:nvSpPr>
        <p:spPr>
          <a:xfrm>
            <a:off x="10944225" y="3262313"/>
            <a:ext cx="310816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shop@m3k.nullbox.email</a:t>
            </a:r>
            <a:endParaRPr lang="en-US" sz="1800" dirty="0"/>
          </a:p>
        </p:txBody>
      </p:sp>
      <p:sp>
        <p:nvSpPr>
          <p:cNvPr id="9" name="Text 6"/>
          <p:cNvSpPr/>
          <p:nvPr/>
        </p:nvSpPr>
        <p:spPr>
          <a:xfrm>
            <a:off x="14811226" y="3252788"/>
            <a:ext cx="2133749" cy="35242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 you@proton.me</a:t>
            </a:r>
            <a:endParaRPr lang="en-US" sz="1800" dirty="0"/>
          </a:p>
        </p:txBody>
      </p:sp>
      <p:sp>
        <p:nvSpPr>
          <p:cNvPr id="10" name="Text 7"/>
          <p:cNvSpPr/>
          <p:nvPr/>
        </p:nvSpPr>
        <p:spPr>
          <a:xfrm>
            <a:off x="10944225" y="3919537"/>
            <a:ext cx="6118289" cy="333375"/>
          </a:xfrm>
          <a:prstGeom prst="rect">
            <a:avLst/>
          </a:prstGeom>
          <a:noFill/>
          <a:ln/>
        </p:spPr>
        <p:txBody>
          <a:bodyPr wrap="square" lIns="25400" tIns="25400" rIns="25400" bIns="25400" rtlCol="0" anchor="t">
            <a:normAutofit/>
          </a:bodyPr>
          <a:lstStyle/>
          <a:p>
            <a:pPr algn="l" indent="0" marL="0">
              <a:buNone/>
            </a:pPr>
            <a:r>
              <a:rPr lang="en-US" sz="1800" spc="54" kern="0" dirty="0">
                <a:solidFill>
                  <a:srgbClr val="000000"/>
                </a:solidFill>
                <a:latin typeface="JetBrains Mono" pitchFamily="34" charset="0"/>
                <a:ea typeface="JetBrains Mono" pitchFamily="34" charset="-122"/>
                <a:cs typeface="JetBrains Mono" pitchFamily="34" charset="-120"/>
              </a:rPr>
              <a:t>senders to this alias</a:t>
            </a:r>
            <a:endParaRPr lang="en-US" sz="1800" dirty="0"/>
          </a:p>
        </p:txBody>
      </p:sp>
      <p:sp>
        <p:nvSpPr>
          <p:cNvPr id="11" name="Text 8"/>
          <p:cNvSpPr/>
          <p:nvPr/>
        </p:nvSpPr>
        <p:spPr>
          <a:xfrm>
            <a:off x="10944225" y="463391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2" name="Shape 9"/>
          <p:cNvSpPr/>
          <p:nvPr/>
        </p:nvSpPr>
        <p:spPr>
          <a:xfrm>
            <a:off x="15269319" y="4738688"/>
            <a:ext cx="85725" cy="85725"/>
          </a:xfrm>
          <a:prstGeom prst="ellipse">
            <a:avLst/>
          </a:prstGeom>
          <a:solidFill>
            <a:srgbClr val="135BFD"/>
          </a:solidFill>
          <a:ln/>
        </p:spPr>
      </p:sp>
      <p:sp>
        <p:nvSpPr>
          <p:cNvPr id="13" name="Text 10"/>
          <p:cNvSpPr/>
          <p:nvPr/>
        </p:nvSpPr>
        <p:spPr>
          <a:xfrm>
            <a:off x="15450294" y="463391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4" name="Text 11"/>
          <p:cNvSpPr/>
          <p:nvPr/>
        </p:nvSpPr>
        <p:spPr>
          <a:xfrm>
            <a:off x="10944225" y="549116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5" name="Shape 12"/>
          <p:cNvSpPr/>
          <p:nvPr/>
        </p:nvSpPr>
        <p:spPr>
          <a:xfrm>
            <a:off x="15269319" y="5595938"/>
            <a:ext cx="85725" cy="85725"/>
          </a:xfrm>
          <a:prstGeom prst="ellipse">
            <a:avLst/>
          </a:prstGeom>
          <a:solidFill>
            <a:srgbClr val="135BFD"/>
          </a:solidFill>
          <a:ln/>
        </p:spPr>
      </p:sp>
      <p:sp>
        <p:nvSpPr>
          <p:cNvPr id="16" name="Text 13"/>
          <p:cNvSpPr/>
          <p:nvPr/>
        </p:nvSpPr>
        <p:spPr>
          <a:xfrm>
            <a:off x="15450294" y="549116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7" name="Text 14"/>
          <p:cNvSpPr/>
          <p:nvPr/>
        </p:nvSpPr>
        <p:spPr>
          <a:xfrm>
            <a:off x="10944225" y="6281738"/>
            <a:ext cx="4005852" cy="6286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verify@shopify-secure-billing.net</a:t>
            </a:r>
            <a:endParaRPr lang="en-US" sz="1800" dirty="0"/>
          </a:p>
        </p:txBody>
      </p:sp>
      <p:sp>
        <p:nvSpPr>
          <p:cNvPr id="18" name="Shape 15"/>
          <p:cNvSpPr/>
          <p:nvPr/>
        </p:nvSpPr>
        <p:spPr>
          <a:xfrm rot="2700000">
            <a:off x="14976277" y="6529388"/>
            <a:ext cx="95250" cy="95250"/>
          </a:xfrm>
          <a:prstGeom prst="rect">
            <a:avLst/>
          </a:prstGeom>
          <a:solidFill>
            <a:srgbClr val="135BFD"/>
          </a:solidFill>
          <a:ln/>
        </p:spPr>
      </p:sp>
      <p:sp>
        <p:nvSpPr>
          <p:cNvPr id="19" name="Text 16"/>
          <p:cNvSpPr/>
          <p:nvPr/>
        </p:nvSpPr>
        <p:spPr>
          <a:xfrm>
            <a:off x="15166777" y="6429375"/>
            <a:ext cx="1635323"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20" name="Text 17"/>
          <p:cNvSpPr/>
          <p:nvPr/>
        </p:nvSpPr>
        <p:spPr>
          <a:xfrm>
            <a:off x="1143000" y="8801100"/>
            <a:ext cx="671530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Built on Cloudflare + .NET · Privacy by design</a:t>
            </a:r>
            <a:endParaRPr lang="en-US" sz="1800" dirty="0"/>
          </a:p>
        </p:txBody>
      </p:sp>
      <p:sp>
        <p:nvSpPr>
          <p:cNvPr id="21" name="Text 18"/>
          <p:cNvSpPr/>
          <p:nvPr/>
        </p:nvSpPr>
        <p:spPr>
          <a:xfrm>
            <a:off x="1143000" y="9153525"/>
            <a:ext cx="350366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github.com/nullbox-email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43000" y="1047750"/>
            <a:ext cx="2417118"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01 — THE PROBLEM</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8790279" cy="2278112"/>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Your email address is a permanent, public identifier.</a:t>
            </a:r>
            <a:endParaRPr lang="en-US" sz="6000" dirty="0"/>
          </a:p>
        </p:txBody>
      </p:sp>
      <p:sp>
        <p:nvSpPr>
          <p:cNvPr id="5" name="Text 3"/>
          <p:cNvSpPr/>
          <p:nvPr/>
        </p:nvSpPr>
        <p:spPr>
          <a:xfrm>
            <a:off x="114300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376</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6" name="Text 4"/>
          <p:cNvSpPr/>
          <p:nvPr/>
        </p:nvSpPr>
        <p:spPr>
          <a:xfrm>
            <a:off x="664845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~45</a:t>
            </a:r>
            <a:pPr algn="l" indent="0" marL="0">
              <a:lnSpc>
                <a:spcPct val="90000"/>
              </a:lnSpc>
              <a:buNone/>
            </a:pPr>
            <a:r>
              <a:rPr lang="en-US" sz="390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7" name="Text 5"/>
          <p:cNvSpPr/>
          <p:nvPr/>
        </p:nvSpPr>
        <p:spPr>
          <a:xfrm>
            <a:off x="12153900" y="5448598"/>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3.4</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8" name="Text 6"/>
          <p:cNvSpPr/>
          <p:nvPr/>
        </p:nvSpPr>
        <p:spPr>
          <a:xfrm>
            <a:off x="1143000" y="6831509"/>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emails sent every day — and the volume keeps climbing.</a:t>
            </a:r>
            <a:endParaRPr lang="en-US" sz="1800" dirty="0"/>
          </a:p>
        </p:txBody>
      </p:sp>
      <p:sp>
        <p:nvSpPr>
          <p:cNvPr id="9" name="Text 7"/>
          <p:cNvSpPr/>
          <p:nvPr/>
        </p:nvSpPr>
        <p:spPr>
          <a:xfrm>
            <a:off x="6648450" y="6511528"/>
            <a:ext cx="2380357"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of all email traffic is spam: roughly 176B unwanted messages a day.</a:t>
            </a:r>
            <a:endParaRPr lang="en-US" sz="1800" dirty="0"/>
          </a:p>
        </p:txBody>
      </p:sp>
      <p:sp>
        <p:nvSpPr>
          <p:cNvPr id="10" name="Text 8"/>
          <p:cNvSpPr/>
          <p:nvPr/>
        </p:nvSpPr>
        <p:spPr>
          <a:xfrm>
            <a:off x="12153900" y="6831509"/>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phishing emails a day — now AI-written and near flawless.</a:t>
            </a:r>
            <a:endParaRPr lang="en-US" sz="1800" dirty="0"/>
          </a:p>
        </p:txBody>
      </p:sp>
      <p:sp>
        <p:nvSpPr>
          <p:cNvPr id="11" name="Text 9"/>
          <p:cNvSpPr/>
          <p:nvPr/>
        </p:nvSpPr>
        <p:spPr>
          <a:xfrm>
            <a:off x="1143000" y="8267700"/>
            <a:ext cx="12116736"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Once your address leaks, it leaks forever. You can filter — you can't take it back.</a:t>
            </a:r>
            <a:endParaRPr lang="en-US" sz="1800" dirty="0"/>
          </a:p>
        </p:txBody>
      </p:sp>
      <p:sp>
        <p:nvSpPr>
          <p:cNvPr id="12" name="Text 10"/>
          <p:cNvSpPr/>
          <p:nvPr/>
        </p:nvSpPr>
        <p:spPr>
          <a:xfrm>
            <a:off x="1143000" y="8620125"/>
            <a:ext cx="481753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Kaspersky 2025 · emailwarmup 2025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02 — THE STATUS QUO</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3844677"/>
            <a:ext cx="7799546" cy="1307306"/>
          </a:xfrm>
          <a:prstGeom prst="rect">
            <a:avLst/>
          </a:prstGeom>
          <a:noFill/>
          <a:ln/>
        </p:spPr>
        <p:txBody>
          <a:bodyPr wrap="square" lIns="25400" tIns="25400" rIns="25400" bIns="25400" rtlCol="0" anchor="t">
            <a:normAutofit/>
          </a:bodyPr>
          <a:lstStyle/>
          <a:p>
            <a:pPr algn="l" indent="0" marL="0">
              <a:lnSpc>
                <a:spcPct val="98000"/>
              </a:lnSpc>
              <a:buNone/>
            </a:pPr>
            <a:r>
              <a:rPr lang="en-US" sz="5100" b="1" spc="-127" kern="0" dirty="0">
                <a:solidFill>
                  <a:srgbClr val="000000"/>
                </a:solidFill>
                <a:latin typeface="Hanken Grotesk" pitchFamily="34" charset="0"/>
                <a:ea typeface="Hanken Grotesk" pitchFamily="34" charset="-122"/>
                <a:cs typeface="Hanken Grotesk" pitchFamily="34" charset="-120"/>
              </a:rPr>
              <a:t>Blocking is broken by design.</a:t>
            </a:r>
            <a:endParaRPr lang="en-US" sz="5100" dirty="0"/>
          </a:p>
        </p:txBody>
      </p:sp>
      <p:sp>
        <p:nvSpPr>
          <p:cNvPr id="5" name="Text 3"/>
          <p:cNvSpPr/>
          <p:nvPr/>
        </p:nvSpPr>
        <p:spPr>
          <a:xfrm>
            <a:off x="1143000" y="5190083"/>
            <a:ext cx="5428104" cy="1471315"/>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Every site asks for the same address you use for everything. So when one leaks, they all do.</a:t>
            </a:r>
            <a:endParaRPr lang="en-US" sz="2850" dirty="0"/>
          </a:p>
        </p:txBody>
      </p:sp>
      <p:sp>
        <p:nvSpPr>
          <p:cNvPr id="6" name="Text 4"/>
          <p:cNvSpPr/>
          <p:nvPr/>
        </p:nvSpPr>
        <p:spPr>
          <a:xfrm>
            <a:off x="9877425" y="33099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7" name="Text 5"/>
          <p:cNvSpPr/>
          <p:nvPr/>
        </p:nvSpPr>
        <p:spPr>
          <a:xfrm>
            <a:off x="10591800" y="31289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One address sits behind dozens of accounts, newsletters and logins.</a:t>
            </a:r>
            <a:endParaRPr lang="en-US" sz="2250" dirty="0"/>
          </a:p>
        </p:txBody>
      </p:sp>
      <p:sp>
        <p:nvSpPr>
          <p:cNvPr id="8" name="Text 6"/>
          <p:cNvSpPr/>
          <p:nvPr/>
        </p:nvSpPr>
        <p:spPr>
          <a:xfrm>
            <a:off x="9877425" y="49101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9" name="Text 7"/>
          <p:cNvSpPr/>
          <p:nvPr/>
        </p:nvSpPr>
        <p:spPr>
          <a:xfrm>
            <a:off x="10591800" y="47291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Blocking a sender only stops </a:t>
            </a:r>
            <a:pPr algn="l" indent="0" marL="0">
              <a:lnSpc>
                <a:spcPct val="140000"/>
              </a:lnSpc>
              <a:buNone/>
            </a:pPr>
            <a:r>
              <a:rPr lang="en-US" sz="2250" b="1" dirty="0">
                <a:solidFill>
                  <a:srgbClr val="135BFD"/>
                </a:solidFill>
                <a:latin typeface="Hanken Grotesk" pitchFamily="34" charset="0"/>
                <a:ea typeface="Hanken Grotesk" pitchFamily="34" charset="-122"/>
                <a:cs typeface="Hanken Grotesk" pitchFamily="34" charset="-120"/>
              </a:rPr>
              <a:t>that one domain </a:t>
            </a:r>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 the next spammer gets through.</a:t>
            </a:r>
            <a:endParaRPr lang="en-US" sz="2250" dirty="0"/>
          </a:p>
        </p:txBody>
      </p:sp>
      <p:sp>
        <p:nvSpPr>
          <p:cNvPr id="10" name="Text 8"/>
          <p:cNvSpPr/>
          <p:nvPr/>
        </p:nvSpPr>
        <p:spPr>
          <a:xfrm>
            <a:off x="9877425" y="6510338"/>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11" name="Text 9"/>
          <p:cNvSpPr/>
          <p:nvPr/>
        </p:nvSpPr>
        <p:spPr>
          <a:xfrm>
            <a:off x="10591800" y="6329363"/>
            <a:ext cx="640642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You can't rotate your real inbox. The exposure is permanent.</a:t>
            </a:r>
            <a:endParaRPr lang="en-US" sz="2250" dirty="0"/>
          </a:p>
        </p:txBody>
      </p:sp>
      <p:sp>
        <p:nvSpPr>
          <p:cNvPr id="12" name="Text 10"/>
          <p:cNvSpPr/>
          <p:nvPr/>
        </p:nvSpPr>
        <p:spPr>
          <a:xfrm>
            <a:off x="1143000" y="8620125"/>
            <a:ext cx="134306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The fix isn't a smarter filter. It's never handing out your real address in the first place.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43000" y="1047750"/>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03 — WHAT NULLBOX IS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0548396" cy="2278112"/>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unique address per service, forwarding to the inbox you already use.</a:t>
            </a:r>
            <a:endParaRPr lang="en-US" sz="6000" dirty="0"/>
          </a:p>
        </p:txBody>
      </p:sp>
      <p:sp>
        <p:nvSpPr>
          <p:cNvPr id="5" name="Text 3"/>
          <p:cNvSpPr/>
          <p:nvPr/>
        </p:nvSpPr>
        <p:spPr>
          <a:xfrm>
            <a:off x="143827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EVERY SERVICE</a:t>
            </a:r>
            <a:endParaRPr lang="en-US" sz="1800" dirty="0"/>
          </a:p>
        </p:txBody>
      </p:sp>
      <p:sp>
        <p:nvSpPr>
          <p:cNvPr id="6" name="Text 4"/>
          <p:cNvSpPr/>
          <p:nvPr/>
        </p:nvSpPr>
        <p:spPr>
          <a:xfrm>
            <a:off x="143827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A fresh alias</a:t>
            </a:r>
            <a:endParaRPr lang="en-US" sz="2250" dirty="0"/>
          </a:p>
        </p:txBody>
      </p:sp>
      <p:sp>
        <p:nvSpPr>
          <p:cNvPr id="7" name="Text 5"/>
          <p:cNvSpPr/>
          <p:nvPr/>
        </p:nvSpPr>
        <p:spPr>
          <a:xfrm>
            <a:off x="1438275" y="6732538"/>
            <a:ext cx="44671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Shopping, newsletters, trials, forums — each gets its own address on your private domain.</a:t>
            </a:r>
            <a:endParaRPr lang="en-US" sz="1950" dirty="0"/>
          </a:p>
        </p:txBody>
      </p:sp>
      <p:sp>
        <p:nvSpPr>
          <p:cNvPr id="8" name="Text 6"/>
          <p:cNvSpPr/>
          <p:nvPr/>
        </p:nvSpPr>
        <p:spPr>
          <a:xfrm>
            <a:off x="60324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9" name="Text 7"/>
          <p:cNvSpPr/>
          <p:nvPr/>
        </p:nvSpPr>
        <p:spPr>
          <a:xfrm>
            <a:off x="6975425" y="5799088"/>
            <a:ext cx="4467264"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NULLBOX</a:t>
            </a:r>
            <a:endParaRPr lang="en-US" sz="1800" dirty="0"/>
          </a:p>
        </p:txBody>
      </p:sp>
      <p:sp>
        <p:nvSpPr>
          <p:cNvPr id="10" name="Text 8"/>
          <p:cNvSpPr/>
          <p:nvPr/>
        </p:nvSpPr>
        <p:spPr>
          <a:xfrm>
            <a:off x="6975425" y="6227713"/>
            <a:ext cx="4467264"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Sits in front</a:t>
            </a:r>
            <a:endParaRPr lang="en-US" sz="2250" dirty="0"/>
          </a:p>
        </p:txBody>
      </p:sp>
      <p:sp>
        <p:nvSpPr>
          <p:cNvPr id="11" name="Text 9"/>
          <p:cNvSpPr/>
          <p:nvPr/>
        </p:nvSpPr>
        <p:spPr>
          <a:xfrm>
            <a:off x="6975425" y="6732538"/>
            <a:ext cx="4467264"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Forwards, quarantines, or drops — per alias, on your terms.</a:t>
            </a:r>
            <a:endParaRPr lang="en-US" sz="1950" dirty="0"/>
          </a:p>
        </p:txBody>
      </p:sp>
      <p:sp>
        <p:nvSpPr>
          <p:cNvPr id="12" name="Text 10"/>
          <p:cNvSpPr/>
          <p:nvPr/>
        </p:nvSpPr>
        <p:spPr>
          <a:xfrm>
            <a:off x="115697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3" name="Text 11"/>
          <p:cNvSpPr/>
          <p:nvPr/>
        </p:nvSpPr>
        <p:spPr>
          <a:xfrm>
            <a:off x="1251272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UNCHANGED</a:t>
            </a:r>
            <a:endParaRPr lang="en-US" sz="1800" dirty="0"/>
          </a:p>
        </p:txBody>
      </p:sp>
      <p:sp>
        <p:nvSpPr>
          <p:cNvPr id="14" name="Text 12"/>
          <p:cNvSpPr/>
          <p:nvPr/>
        </p:nvSpPr>
        <p:spPr>
          <a:xfrm>
            <a:off x="1251272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Your real inbox</a:t>
            </a:r>
            <a:endParaRPr lang="en-US" sz="2250" dirty="0"/>
          </a:p>
        </p:txBody>
      </p:sp>
      <p:sp>
        <p:nvSpPr>
          <p:cNvPr id="15" name="Text 13"/>
          <p:cNvSpPr/>
          <p:nvPr/>
        </p:nvSpPr>
        <p:spPr>
          <a:xfrm>
            <a:off x="12512725" y="6732538"/>
            <a:ext cx="4467110"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Gmail, Outlook, Proton — whatever you use today. Nothing to migrate.</a:t>
            </a:r>
            <a:endParaRPr lang="en-US" sz="1950" dirty="0"/>
          </a:p>
        </p:txBody>
      </p:sp>
      <p:sp>
        <p:nvSpPr>
          <p:cNvPr id="16" name="Text 14"/>
          <p:cNvSpPr/>
          <p:nvPr/>
        </p:nvSpPr>
        <p:spPr>
          <a:xfrm>
            <a:off x="1143000" y="8575477"/>
            <a:ext cx="7947014"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Nullbox doesn't replace your inbox. It sits in front of it.</a:t>
            </a:r>
            <a:endParaRPr lang="en-US" sz="2550" dirty="0"/>
          </a:p>
        </p:txBody>
      </p:sp>
      <p:sp>
        <p:nvSpPr>
          <p:cNvPr id="17" name="Text 15"/>
          <p:cNvSpPr/>
          <p:nvPr/>
        </p:nvSpPr>
        <p:spPr>
          <a:xfrm>
            <a:off x="9491365" y="8597801"/>
            <a:ext cx="788324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Disable or rotate any alias without touching the rest.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43000" y="1047750"/>
            <a:ext cx="361664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04 — WHY WE'RE DIFFERENT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Trust by design, not by promise.</a:t>
            </a:r>
            <a:endParaRPr lang="en-US" sz="6000" dirty="0"/>
          </a:p>
        </p:txBody>
      </p:sp>
      <p:sp>
        <p:nvSpPr>
          <p:cNvPr id="5" name="Text 3"/>
          <p:cNvSpPr/>
          <p:nvPr/>
        </p:nvSpPr>
        <p:spPr>
          <a:xfrm>
            <a:off x="1143000" y="2804071"/>
            <a:ext cx="758171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Most relays forward everything and ask you to trust them. Nullbox is built so there's far less to trust.</a:t>
            </a:r>
            <a:endParaRPr lang="en-US" sz="2250" dirty="0"/>
          </a:p>
        </p:txBody>
      </p:sp>
      <p:sp>
        <p:nvSpPr>
          <p:cNvPr id="6" name="Text 4"/>
          <p:cNvSpPr/>
          <p:nvPr/>
        </p:nvSpPr>
        <p:spPr>
          <a:xfrm>
            <a:off x="15144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We never open your mail</a:t>
            </a:r>
            <a:endParaRPr lang="en-US" sz="3000" dirty="0"/>
          </a:p>
        </p:txBody>
      </p:sp>
      <p:sp>
        <p:nvSpPr>
          <p:cNvPr id="7" name="Text 5"/>
          <p:cNvSpPr/>
          <p:nvPr/>
        </p:nvSpPr>
        <p:spPr>
          <a:xfrm>
            <a:off x="1514475" y="5004346"/>
            <a:ext cx="4532567" cy="20383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Nullbox decides what to do using only the envelope — who it's from and which alias it's for. The message itself is never opened or read.</a:t>
            </a:r>
            <a:endParaRPr lang="en-US" sz="2250" dirty="0"/>
          </a:p>
        </p:txBody>
      </p:sp>
      <p:sp>
        <p:nvSpPr>
          <p:cNvPr id="8" name="Text 6"/>
          <p:cNvSpPr/>
          <p:nvPr/>
        </p:nvSpPr>
        <p:spPr>
          <a:xfrm>
            <a:off x="15144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we never read your mail</a:t>
            </a:r>
            <a:endParaRPr lang="en-US" sz="1800" dirty="0"/>
          </a:p>
        </p:txBody>
      </p:sp>
      <p:sp>
        <p:nvSpPr>
          <p:cNvPr id="9" name="Text 7"/>
          <p:cNvSpPr/>
          <p:nvPr/>
        </p:nvSpPr>
        <p:spPr>
          <a:xfrm>
            <a:off x="694372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Decide, then trust</a:t>
            </a:r>
            <a:endParaRPr lang="en-US" sz="3000" dirty="0"/>
          </a:p>
        </p:txBody>
      </p:sp>
      <p:sp>
        <p:nvSpPr>
          <p:cNvPr id="10" name="Text 8"/>
          <p:cNvSpPr/>
          <p:nvPr/>
        </p:nvSpPr>
        <p:spPr>
          <a:xfrm>
            <a:off x="694372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Unknown senders are quarantined, not delivered. You choose who earns a place in your inbox — once.</a:t>
            </a:r>
            <a:endParaRPr lang="en-US" sz="2250" dirty="0"/>
          </a:p>
        </p:txBody>
      </p:sp>
      <p:sp>
        <p:nvSpPr>
          <p:cNvPr id="11" name="Text 9"/>
          <p:cNvSpPr/>
          <p:nvPr/>
        </p:nvSpPr>
        <p:spPr>
          <a:xfrm>
            <a:off x="694372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 by default</a:t>
            </a:r>
            <a:endParaRPr lang="en-US" sz="1800" dirty="0"/>
          </a:p>
        </p:txBody>
      </p:sp>
      <p:sp>
        <p:nvSpPr>
          <p:cNvPr id="12" name="Text 10"/>
          <p:cNvSpPr/>
          <p:nvPr/>
        </p:nvSpPr>
        <p:spPr>
          <a:xfrm>
            <a:off x="123729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Minimal by default</a:t>
            </a:r>
            <a:endParaRPr lang="en-US" sz="3000" dirty="0"/>
          </a:p>
        </p:txBody>
      </p:sp>
      <p:sp>
        <p:nvSpPr>
          <p:cNvPr id="13" name="Text 11"/>
          <p:cNvSpPr/>
          <p:nvPr/>
        </p:nvSpPr>
        <p:spPr>
          <a:xfrm>
            <a:off x="1237297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We keep as little as possible, store no copies of your mail, and wipe our routing history every 90 days.</a:t>
            </a:r>
            <a:endParaRPr lang="en-US" sz="2250" dirty="0"/>
          </a:p>
        </p:txBody>
      </p:sp>
      <p:sp>
        <p:nvSpPr>
          <p:cNvPr id="14" name="Text 12"/>
          <p:cNvSpPr/>
          <p:nvPr/>
        </p:nvSpPr>
        <p:spPr>
          <a:xfrm>
            <a:off x="123729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90-day log deletion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43000" y="1047750"/>
            <a:ext cx="256341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05 — HOW IT WORKS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54100"/>
          </a:xfrm>
          <a:prstGeom prst="rect">
            <a:avLst/>
          </a:prstGeom>
          <a:noFill/>
          <a:ln/>
        </p:spPr>
        <p:txBody>
          <a:bodyPr wrap="square" lIns="25400" tIns="25400" rIns="25400" bIns="25400" rtlCol="0" anchor="t">
            <a:normAutofit/>
          </a:bodyPr>
          <a:lstStyle/>
          <a:p>
            <a:pPr algn="l" indent="0" marL="0">
              <a:lnSpc>
                <a:spcPct val="98000"/>
              </a:lnSpc>
              <a:buNone/>
            </a:pPr>
            <a:r>
              <a:rPr lang="en-US" sz="4950" b="1" spc="-124" kern="0" dirty="0">
                <a:solidFill>
                  <a:srgbClr val="000000"/>
                </a:solidFill>
                <a:latin typeface="Hanken Grotesk" pitchFamily="34" charset="0"/>
                <a:ea typeface="Hanken Grotesk" pitchFamily="34" charset="-122"/>
                <a:cs typeface="Hanken Grotesk" pitchFamily="34" charset="-120"/>
              </a:rPr>
              <a:t>Every email is checked before it reaches you.</a:t>
            </a:r>
            <a:endParaRPr lang="en-US" sz="4950" dirty="0"/>
          </a:p>
        </p:txBody>
      </p:sp>
      <p:sp>
        <p:nvSpPr>
          <p:cNvPr id="5" name="Text 3"/>
          <p:cNvSpPr/>
          <p:nvPr/>
        </p:nvSpPr>
        <p:spPr>
          <a:xfrm>
            <a:off x="1143000" y="2616250"/>
            <a:ext cx="857061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Nothing lands in your inbox until Nullbox has looked at who sent it — and decided what to do.</a:t>
            </a:r>
            <a:endParaRPr lang="en-US" sz="2250" dirty="0"/>
          </a:p>
        </p:txBody>
      </p:sp>
      <p:sp>
        <p:nvSpPr>
          <p:cNvPr id="6" name="Text 4"/>
          <p:cNvSpPr/>
          <p:nvPr/>
        </p:nvSpPr>
        <p:spPr>
          <a:xfrm>
            <a:off x="14382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1</a:t>
            </a:r>
            <a:endParaRPr lang="en-US" sz="1800" dirty="0"/>
          </a:p>
        </p:txBody>
      </p:sp>
      <p:sp>
        <p:nvSpPr>
          <p:cNvPr id="7" name="Text 5"/>
          <p:cNvSpPr/>
          <p:nvPr/>
        </p:nvSpPr>
        <p:spPr>
          <a:xfrm>
            <a:off x="14382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A message arrives</a:t>
            </a:r>
            <a:endParaRPr lang="en-US" sz="2250" dirty="0"/>
          </a:p>
        </p:txBody>
      </p:sp>
      <p:sp>
        <p:nvSpPr>
          <p:cNvPr id="8" name="Text 6"/>
          <p:cNvSpPr/>
          <p:nvPr/>
        </p:nvSpPr>
        <p:spPr>
          <a:xfrm>
            <a:off x="1438275" y="6786711"/>
            <a:ext cx="3041332"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Someone sends mail to one of your aliases.</a:t>
            </a:r>
            <a:endParaRPr lang="en-US" sz="1950" dirty="0"/>
          </a:p>
        </p:txBody>
      </p:sp>
      <p:sp>
        <p:nvSpPr>
          <p:cNvPr id="9" name="Text 7"/>
          <p:cNvSpPr/>
          <p:nvPr/>
        </p:nvSpPr>
        <p:spPr>
          <a:xfrm>
            <a:off x="46482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0" name="Text 8"/>
          <p:cNvSpPr/>
          <p:nvPr/>
        </p:nvSpPr>
        <p:spPr>
          <a:xfrm>
            <a:off x="55911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2</a:t>
            </a:r>
            <a:endParaRPr lang="en-US" sz="1800" dirty="0"/>
          </a:p>
        </p:txBody>
      </p:sp>
      <p:sp>
        <p:nvSpPr>
          <p:cNvPr id="11" name="Text 9"/>
          <p:cNvSpPr/>
          <p:nvPr/>
        </p:nvSpPr>
        <p:spPr>
          <a:xfrm>
            <a:off x="55911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We check the sender</a:t>
            </a:r>
            <a:endParaRPr lang="en-US" sz="2250" dirty="0"/>
          </a:p>
        </p:txBody>
      </p:sp>
      <p:sp>
        <p:nvSpPr>
          <p:cNvPr id="12" name="Text 10"/>
          <p:cNvSpPr/>
          <p:nvPr/>
        </p:nvSpPr>
        <p:spPr>
          <a:xfrm>
            <a:off x="5591175" y="6786711"/>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Before anything else, Nullbox looks at who it's really from.</a:t>
            </a:r>
            <a:endParaRPr lang="en-US" sz="1950" dirty="0"/>
          </a:p>
        </p:txBody>
      </p:sp>
      <p:sp>
        <p:nvSpPr>
          <p:cNvPr id="13" name="Text 11"/>
          <p:cNvSpPr/>
          <p:nvPr/>
        </p:nvSpPr>
        <p:spPr>
          <a:xfrm>
            <a:off x="88011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4" name="Text 12"/>
          <p:cNvSpPr/>
          <p:nvPr/>
        </p:nvSpPr>
        <p:spPr>
          <a:xfrm>
            <a:off x="9744075" y="5853261"/>
            <a:ext cx="3041332" cy="628650"/>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STEP 3 · THE DECISION</a:t>
            </a:r>
            <a:endParaRPr lang="en-US" sz="1800" dirty="0"/>
          </a:p>
        </p:txBody>
      </p:sp>
      <p:sp>
        <p:nvSpPr>
          <p:cNvPr id="15" name="Text 13"/>
          <p:cNvSpPr/>
          <p:nvPr/>
        </p:nvSpPr>
        <p:spPr>
          <a:xfrm>
            <a:off x="9744075" y="6577161"/>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Forward, hold or block</a:t>
            </a:r>
            <a:endParaRPr lang="en-US" sz="2250" dirty="0"/>
          </a:p>
        </p:txBody>
      </p:sp>
      <p:sp>
        <p:nvSpPr>
          <p:cNvPr id="16" name="Text 14"/>
          <p:cNvSpPr/>
          <p:nvPr/>
        </p:nvSpPr>
        <p:spPr>
          <a:xfrm>
            <a:off x="9744075" y="7081986"/>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One of three things happens — based on whether you trust them.</a:t>
            </a:r>
            <a:endParaRPr lang="en-US" sz="1950" dirty="0"/>
          </a:p>
        </p:txBody>
      </p:sp>
      <p:sp>
        <p:nvSpPr>
          <p:cNvPr id="17" name="Text 15"/>
          <p:cNvSpPr/>
          <p:nvPr/>
        </p:nvSpPr>
        <p:spPr>
          <a:xfrm>
            <a:off x="12954000" y="5538936"/>
            <a:ext cx="685800" cy="2890689"/>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8" name="Text 16"/>
          <p:cNvSpPr/>
          <p:nvPr/>
        </p:nvSpPr>
        <p:spPr>
          <a:xfrm>
            <a:off x="13896975" y="5853261"/>
            <a:ext cx="304133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STEP 4</a:t>
            </a:r>
            <a:endParaRPr lang="en-US" sz="1800" dirty="0"/>
          </a:p>
        </p:txBody>
      </p:sp>
      <p:sp>
        <p:nvSpPr>
          <p:cNvPr id="19" name="Text 17"/>
          <p:cNvSpPr/>
          <p:nvPr/>
        </p:nvSpPr>
        <p:spPr>
          <a:xfrm>
            <a:off x="13896975" y="6281886"/>
            <a:ext cx="3041332"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Your inbox</a:t>
            </a:r>
            <a:endParaRPr lang="en-US" sz="2250" dirty="0"/>
          </a:p>
        </p:txBody>
      </p:sp>
      <p:sp>
        <p:nvSpPr>
          <p:cNvPr id="20" name="Text 18"/>
          <p:cNvSpPr/>
          <p:nvPr/>
        </p:nvSpPr>
        <p:spPr>
          <a:xfrm>
            <a:off x="13896975" y="6786711"/>
            <a:ext cx="3041332"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Mail from people you trust arrives as normal. You never see the rest.</a:t>
            </a:r>
            <a:endParaRPr lang="en-US" sz="1950" dirty="0"/>
          </a:p>
        </p:txBody>
      </p:sp>
      <p:sp>
        <p:nvSpPr>
          <p:cNvPr id="21" name="Shape 19"/>
          <p:cNvSpPr/>
          <p:nvPr/>
        </p:nvSpPr>
        <p:spPr>
          <a:xfrm>
            <a:off x="1323975" y="9163050"/>
            <a:ext cx="85725" cy="85725"/>
          </a:xfrm>
          <a:prstGeom prst="ellipse">
            <a:avLst/>
          </a:prstGeom>
          <a:solidFill>
            <a:srgbClr val="135BFD"/>
          </a:solidFill>
          <a:ln/>
        </p:spPr>
      </p:sp>
      <p:sp>
        <p:nvSpPr>
          <p:cNvPr id="22" name="Text 20"/>
          <p:cNvSpPr/>
          <p:nvPr/>
        </p:nvSpPr>
        <p:spPr>
          <a:xfrm>
            <a:off x="1504950" y="9058275"/>
            <a:ext cx="3941622"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 — someone you trust</a:t>
            </a:r>
            <a:endParaRPr lang="en-US" sz="1800" dirty="0"/>
          </a:p>
        </p:txBody>
      </p:sp>
      <p:sp>
        <p:nvSpPr>
          <p:cNvPr id="23" name="Shape 21"/>
          <p:cNvSpPr/>
          <p:nvPr/>
        </p:nvSpPr>
        <p:spPr>
          <a:xfrm rot="2700000">
            <a:off x="5865168" y="9158288"/>
            <a:ext cx="95250" cy="95250"/>
          </a:xfrm>
          <a:prstGeom prst="rect">
            <a:avLst/>
          </a:prstGeom>
          <a:solidFill>
            <a:srgbClr val="135BFD"/>
          </a:solidFill>
          <a:ln/>
        </p:spPr>
      </p:sp>
      <p:sp>
        <p:nvSpPr>
          <p:cNvPr id="24" name="Text 22"/>
          <p:cNvSpPr/>
          <p:nvPr/>
        </p:nvSpPr>
        <p:spPr>
          <a:xfrm>
            <a:off x="6055668" y="9058275"/>
            <a:ext cx="2627748"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Hold — someone new</a:t>
            </a:r>
            <a:endParaRPr lang="en-US" sz="1800" dirty="0"/>
          </a:p>
        </p:txBody>
      </p:sp>
      <p:sp>
        <p:nvSpPr>
          <p:cNvPr id="25" name="Shape 23"/>
          <p:cNvSpPr/>
          <p:nvPr/>
        </p:nvSpPr>
        <p:spPr>
          <a:xfrm rot="2700000">
            <a:off x="9140279" y="9158288"/>
            <a:ext cx="95250" cy="95250"/>
          </a:xfrm>
          <a:prstGeom prst="rect">
            <a:avLst/>
          </a:prstGeom>
          <a:solidFill>
            <a:srgbClr val="135BFD"/>
          </a:solidFill>
          <a:ln/>
        </p:spPr>
      </p:sp>
      <p:sp>
        <p:nvSpPr>
          <p:cNvPr id="26" name="Text 24"/>
          <p:cNvSpPr/>
          <p:nvPr/>
        </p:nvSpPr>
        <p:spPr>
          <a:xfrm>
            <a:off x="9330779" y="9058275"/>
            <a:ext cx="4379580"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Block — someone you've refused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43000" y="1047750"/>
            <a:ext cx="391801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06 — THE QUARANTINE MOMENT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153144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Someone new? You decide before they ever reach you.</a:t>
            </a:r>
            <a:endParaRPr lang="en-US" sz="6000" dirty="0"/>
          </a:p>
        </p:txBody>
      </p:sp>
      <p:sp>
        <p:nvSpPr>
          <p:cNvPr id="5" name="Text 3"/>
          <p:cNvSpPr/>
          <p:nvPr/>
        </p:nvSpPr>
        <p:spPr>
          <a:xfrm>
            <a:off x="11144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6" name="Text 4"/>
          <p:cNvSpPr/>
          <p:nvPr/>
        </p:nvSpPr>
        <p:spPr>
          <a:xfrm>
            <a:off x="1143000" y="4598491"/>
            <a:ext cx="3757517"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A stranger emails you</a:t>
            </a:r>
            <a:endParaRPr lang="en-US" sz="2550" dirty="0"/>
          </a:p>
        </p:txBody>
      </p:sp>
      <p:sp>
        <p:nvSpPr>
          <p:cNvPr id="7" name="Text 5"/>
          <p:cNvSpPr/>
          <p:nvPr/>
        </p:nvSpPr>
        <p:spPr>
          <a:xfrm>
            <a:off x="1143000" y="5147965"/>
            <a:ext cx="3757517"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Nullbox doesn't just wave them through to your inbox.</a:t>
            </a:r>
            <a:endParaRPr lang="en-US" sz="1950" dirty="0"/>
          </a:p>
        </p:txBody>
      </p:sp>
      <p:sp>
        <p:nvSpPr>
          <p:cNvPr id="8" name="Text 6"/>
          <p:cNvSpPr/>
          <p:nvPr/>
        </p:nvSpPr>
        <p:spPr>
          <a:xfrm>
            <a:off x="5457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9" name="Text 7"/>
          <p:cNvSpPr/>
          <p:nvPr/>
        </p:nvSpPr>
        <p:spPr>
          <a:xfrm>
            <a:off x="54864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It's held, safely</a:t>
            </a:r>
            <a:endParaRPr lang="en-US" sz="2550" dirty="0"/>
          </a:p>
        </p:txBody>
      </p:sp>
      <p:sp>
        <p:nvSpPr>
          <p:cNvPr id="10" name="Text 8"/>
          <p:cNvSpPr/>
          <p:nvPr/>
        </p:nvSpPr>
        <p:spPr>
          <a:xfrm>
            <a:off x="5486400" y="5147965"/>
            <a:ext cx="340433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 message waits, locked away — and we can't read it.</a:t>
            </a:r>
            <a:endParaRPr lang="en-US" sz="1950" dirty="0"/>
          </a:p>
        </p:txBody>
      </p:sp>
      <p:sp>
        <p:nvSpPr>
          <p:cNvPr id="11" name="Text 9"/>
          <p:cNvSpPr/>
          <p:nvPr/>
        </p:nvSpPr>
        <p:spPr>
          <a:xfrm>
            <a:off x="94583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12" name="Text 10"/>
          <p:cNvSpPr/>
          <p:nvPr/>
        </p:nvSpPr>
        <p:spPr>
          <a:xfrm>
            <a:off x="94869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take a look</a:t>
            </a:r>
            <a:endParaRPr lang="en-US" sz="2550" dirty="0"/>
          </a:p>
        </p:txBody>
      </p:sp>
      <p:sp>
        <p:nvSpPr>
          <p:cNvPr id="13" name="Text 11"/>
          <p:cNvSpPr/>
          <p:nvPr/>
        </p:nvSpPr>
        <p:spPr>
          <a:xfrm>
            <a:off x="9486900" y="5147965"/>
            <a:ext cx="340433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Only you can open it — privately, right in your browser.</a:t>
            </a:r>
            <a:endParaRPr lang="en-US" sz="1950" dirty="0"/>
          </a:p>
        </p:txBody>
      </p:sp>
      <p:sp>
        <p:nvSpPr>
          <p:cNvPr id="14" name="Text 12"/>
          <p:cNvSpPr/>
          <p:nvPr/>
        </p:nvSpPr>
        <p:spPr>
          <a:xfrm>
            <a:off x="13458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4</a:t>
            </a:r>
            <a:endParaRPr lang="en-US" sz="1800" dirty="0"/>
          </a:p>
        </p:txBody>
      </p:sp>
      <p:sp>
        <p:nvSpPr>
          <p:cNvPr id="15" name="Text 13"/>
          <p:cNvSpPr/>
          <p:nvPr/>
        </p:nvSpPr>
        <p:spPr>
          <a:xfrm>
            <a:off x="13487400" y="4598491"/>
            <a:ext cx="3767328"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decide, once</a:t>
            </a:r>
            <a:endParaRPr lang="en-US" sz="2550" dirty="0"/>
          </a:p>
        </p:txBody>
      </p:sp>
      <p:sp>
        <p:nvSpPr>
          <p:cNvPr id="16" name="Text 14"/>
          <p:cNvSpPr/>
          <p:nvPr/>
        </p:nvSpPr>
        <p:spPr>
          <a:xfrm>
            <a:off x="13487400" y="5147965"/>
            <a:ext cx="3767328"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35BFD"/>
                </a:solidFill>
                <a:latin typeface="Hanken Grotesk" pitchFamily="34" charset="0"/>
                <a:ea typeface="Hanken Grotesk" pitchFamily="34" charset="-122"/>
                <a:cs typeface="Hanken Grotesk" pitchFamily="34" charset="-120"/>
              </a:rPr>
              <a:t>Trust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and their mail flows through from now on — or </a:t>
            </a:r>
            <a:pPr algn="l" indent="0" marL="0">
              <a:lnSpc>
                <a:spcPct val="140000"/>
              </a:lnSpc>
              <a:buNone/>
            </a:pPr>
            <a:r>
              <a:rPr lang="en-US" sz="1950" b="1" dirty="0">
                <a:solidFill>
                  <a:srgbClr val="000000"/>
                </a:solidFill>
                <a:latin typeface="Hanken Grotesk" pitchFamily="34" charset="0"/>
                <a:ea typeface="Hanken Grotesk" pitchFamily="34" charset="-122"/>
                <a:cs typeface="Hanken Grotesk" pitchFamily="34" charset="-120"/>
              </a:rPr>
              <a:t>block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for good.</a:t>
            </a:r>
            <a:endParaRPr lang="en-US" sz="1950" dirty="0"/>
          </a:p>
        </p:txBody>
      </p:sp>
      <p:sp>
        <p:nvSpPr>
          <p:cNvPr id="17" name="Text 15"/>
          <p:cNvSpPr/>
          <p:nvPr/>
        </p:nvSpPr>
        <p:spPr>
          <a:xfrm>
            <a:off x="1143000" y="8620125"/>
            <a:ext cx="1372248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One decision per sender — and we keep no lasting record. Trust history is wiped every 90 days.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43000" y="1047750"/>
            <a:ext cx="316458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07 — BUILT-IN DEFENSE</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16744"/>
          </a:xfrm>
          <a:prstGeom prst="rect">
            <a:avLst/>
          </a:prstGeom>
          <a:noFill/>
          <a:ln/>
        </p:spPr>
        <p:txBody>
          <a:bodyPr wrap="square" lIns="25400" tIns="25400" rIns="25400" bIns="25400" rtlCol="0" anchor="t">
            <a:normAutofit/>
          </a:bodyPr>
          <a:lstStyle/>
          <a:p>
            <a:pPr algn="l" indent="0" marL="0">
              <a:lnSpc>
                <a:spcPct val="98000"/>
              </a:lnSpc>
              <a:buNone/>
            </a:pPr>
            <a:r>
              <a:rPr lang="en-US" sz="4650" b="1" spc="-116" kern="0" dirty="0">
                <a:solidFill>
                  <a:srgbClr val="000000"/>
                </a:solidFill>
                <a:latin typeface="Hanken Grotesk" pitchFamily="34" charset="0"/>
                <a:ea typeface="Hanken Grotesk" pitchFamily="34" charset="-122"/>
                <a:cs typeface="Hanken Grotesk" pitchFamily="34" charset="-120"/>
              </a:rPr>
              <a:t>Whole classes of attack, designed out.</a:t>
            </a:r>
            <a:endParaRPr lang="en-US" sz="4650" dirty="0"/>
          </a:p>
        </p:txBody>
      </p:sp>
      <p:sp>
        <p:nvSpPr>
          <p:cNvPr id="5" name="Text 3"/>
          <p:cNvSpPr/>
          <p:nvPr/>
        </p:nvSpPr>
        <p:spPr>
          <a:xfrm>
            <a:off x="1143000" y="2578894"/>
            <a:ext cx="9559503"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unique address per service, plus trust-by-default, quietly neutralises threats that filters can't touch.</a:t>
            </a:r>
            <a:endParaRPr lang="en-US" sz="2250" dirty="0"/>
          </a:p>
        </p:txBody>
      </p:sp>
      <p:sp>
        <p:nvSpPr>
          <p:cNvPr id="6" name="Text 4"/>
          <p:cNvSpPr/>
          <p:nvPr/>
        </p:nvSpPr>
        <p:spPr>
          <a:xfrm>
            <a:off x="1457325" y="3960019"/>
            <a:ext cx="749637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the same name, a different sender</a:t>
            </a:r>
            <a:endParaRPr lang="en-US" sz="1800" dirty="0"/>
          </a:p>
        </p:txBody>
      </p:sp>
      <p:sp>
        <p:nvSpPr>
          <p:cNvPr id="7" name="Text 5"/>
          <p:cNvSpPr/>
          <p:nvPr/>
        </p:nvSpPr>
        <p:spPr>
          <a:xfrm>
            <a:off x="1457325" y="475059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support@paypal.com</a:t>
            </a:r>
            <a:endParaRPr lang="en-US" sz="1950" dirty="0"/>
          </a:p>
        </p:txBody>
      </p:sp>
      <p:sp>
        <p:nvSpPr>
          <p:cNvPr id="8" name="Shape 6"/>
          <p:cNvSpPr/>
          <p:nvPr/>
        </p:nvSpPr>
        <p:spPr>
          <a:xfrm>
            <a:off x="5700713" y="4874419"/>
            <a:ext cx="85725" cy="85725"/>
          </a:xfrm>
          <a:prstGeom prst="ellipse">
            <a:avLst/>
          </a:prstGeom>
          <a:solidFill>
            <a:srgbClr val="135BFD"/>
          </a:solidFill>
          <a:ln/>
        </p:spPr>
      </p:sp>
      <p:sp>
        <p:nvSpPr>
          <p:cNvPr id="9" name="Text 7"/>
          <p:cNvSpPr/>
          <p:nvPr/>
        </p:nvSpPr>
        <p:spPr>
          <a:xfrm>
            <a:off x="5881688" y="4769644"/>
            <a:ext cx="277383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trusted · forwarded</a:t>
            </a:r>
            <a:endParaRPr lang="en-US" sz="1800" dirty="0"/>
          </a:p>
        </p:txBody>
      </p:sp>
      <p:sp>
        <p:nvSpPr>
          <p:cNvPr id="10" name="Text 8"/>
          <p:cNvSpPr/>
          <p:nvPr/>
        </p:nvSpPr>
        <p:spPr>
          <a:xfrm>
            <a:off x="1457325" y="564594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support@pаypal.com</a:t>
            </a:r>
            <a:endParaRPr lang="en-US" sz="1950" dirty="0"/>
          </a:p>
        </p:txBody>
      </p:sp>
      <p:sp>
        <p:nvSpPr>
          <p:cNvPr id="11" name="Shape 9"/>
          <p:cNvSpPr/>
          <p:nvPr/>
        </p:nvSpPr>
        <p:spPr>
          <a:xfrm rot="2700000">
            <a:off x="4982617" y="5765006"/>
            <a:ext cx="95250" cy="95250"/>
          </a:xfrm>
          <a:prstGeom prst="rect">
            <a:avLst/>
          </a:prstGeom>
          <a:solidFill>
            <a:srgbClr val="135BFD"/>
          </a:solidFill>
          <a:ln/>
        </p:spPr>
      </p:sp>
      <p:sp>
        <p:nvSpPr>
          <p:cNvPr id="12" name="Text 10"/>
          <p:cNvSpPr/>
          <p:nvPr/>
        </p:nvSpPr>
        <p:spPr>
          <a:xfrm>
            <a:off x="5173117" y="5664994"/>
            <a:ext cx="3503664"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look-alike · quarantined</a:t>
            </a:r>
            <a:endParaRPr lang="en-US" sz="1800" dirty="0"/>
          </a:p>
        </p:txBody>
      </p:sp>
      <p:sp>
        <p:nvSpPr>
          <p:cNvPr id="13" name="Text 11"/>
          <p:cNvSpPr/>
          <p:nvPr/>
        </p:nvSpPr>
        <p:spPr>
          <a:xfrm>
            <a:off x="1457325" y="6875562"/>
            <a:ext cx="7496379" cy="163800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That second “a” isn't a normal letter — it's a Cyrillic character , a look-alike from another alphabet (the one used for Russian) that renders identically on screen. Scammers swap them in to fake a trusted address. Nullbox spots the trickery and stops it before it can fool your eye.</a:t>
            </a:r>
            <a:endParaRPr lang="en-US" sz="1800" dirty="0"/>
          </a:p>
        </p:txBody>
      </p:sp>
      <p:sp>
        <p:nvSpPr>
          <p:cNvPr id="14" name="Text 12"/>
          <p:cNvSpPr/>
          <p:nvPr/>
        </p:nvSpPr>
        <p:spPr>
          <a:xfrm>
            <a:off x="9860607" y="3998119"/>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Phishing &amp; homoglyphs</a:t>
            </a:r>
            <a:endParaRPr lang="en-US" sz="2250" dirty="0"/>
          </a:p>
        </p:txBody>
      </p:sp>
      <p:sp>
        <p:nvSpPr>
          <p:cNvPr id="15" name="Text 13"/>
          <p:cNvSpPr/>
          <p:nvPr/>
        </p:nvSpPr>
        <p:spPr>
          <a:xfrm>
            <a:off x="9860607" y="4374356"/>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Look-alike domains never cleared your trust list, so they're held — not delivered.</a:t>
            </a:r>
            <a:endParaRPr lang="en-US" sz="1800" dirty="0"/>
          </a:p>
        </p:txBody>
      </p:sp>
      <p:sp>
        <p:nvSpPr>
          <p:cNvPr id="16" name="Text 14"/>
          <p:cNvSpPr/>
          <p:nvPr/>
        </p:nvSpPr>
        <p:spPr>
          <a:xfrm>
            <a:off x="9860607" y="5719167"/>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Data brokers</a:t>
            </a:r>
            <a:endParaRPr lang="en-US" sz="2250" dirty="0"/>
          </a:p>
        </p:txBody>
      </p:sp>
      <p:sp>
        <p:nvSpPr>
          <p:cNvPr id="17" name="Text 15"/>
          <p:cNvSpPr/>
          <p:nvPr/>
        </p:nvSpPr>
        <p:spPr>
          <a:xfrm>
            <a:off x="9860607" y="6095405"/>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If a company sells your details, the buyer's mail never reaches your inbox — and the unique alias tells you exactly who sold you out.</a:t>
            </a:r>
            <a:endParaRPr lang="en-US" sz="1800" dirty="0"/>
          </a:p>
        </p:txBody>
      </p:sp>
      <p:sp>
        <p:nvSpPr>
          <p:cNvPr id="18" name="Text 16"/>
          <p:cNvSpPr/>
          <p:nvPr/>
        </p:nvSpPr>
        <p:spPr>
          <a:xfrm>
            <a:off x="9860607" y="7440216"/>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Breaches &amp; credential stuffing</a:t>
            </a:r>
            <a:endParaRPr lang="en-US" sz="2250" dirty="0"/>
          </a:p>
        </p:txBody>
      </p:sp>
      <p:sp>
        <p:nvSpPr>
          <p:cNvPr id="19" name="Text 17"/>
          <p:cNvSpPr/>
          <p:nvPr/>
        </p:nvSpPr>
        <p:spPr>
          <a:xfrm>
            <a:off x="9860607" y="7816453"/>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 unique address per site means a leaked login can't be reused to attack your accounts everywhere else.</a:t>
            </a:r>
            <a:endParaRPr lang="en-US" sz="1800" dirty="0"/>
          </a:p>
        </p:txBody>
      </p:sp>
      <p:sp>
        <p:nvSpPr>
          <p:cNvPr id="20" name="Text 18"/>
          <p:cNvSpPr/>
          <p:nvPr/>
        </p:nvSpPr>
        <p:spPr>
          <a:xfrm>
            <a:off x="1143000" y="8999339"/>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Point a custom domain at Nullbox and protect normal business email — no aliasing required. Real value for teams &amp; government.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43000" y="1047750"/>
            <a:ext cx="183192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08 — WHY NOW</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Three forces are converging.</a:t>
            </a:r>
            <a:endParaRPr lang="en-US" sz="6000" dirty="0"/>
          </a:p>
        </p:txBody>
      </p:sp>
      <p:sp>
        <p:nvSpPr>
          <p:cNvPr id="5" name="Text 3"/>
          <p:cNvSpPr/>
          <p:nvPr/>
        </p:nvSpPr>
        <p:spPr>
          <a:xfrm>
            <a:off x="1143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466</a:t>
            </a:r>
            <a:pPr algn="l" indent="0" marL="0">
              <a:lnSpc>
                <a:spcPct val="90000"/>
              </a:lnSpc>
              <a:buNone/>
            </a:pPr>
            <a:r>
              <a:rPr lang="en-US" sz="351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6" name="Text 4"/>
          <p:cNvSpPr/>
          <p:nvPr/>
        </p:nvSpPr>
        <p:spPr>
          <a:xfrm>
            <a:off x="1143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AI phishing is exploding</a:t>
            </a:r>
            <a:endParaRPr lang="en-US" sz="3000" dirty="0"/>
          </a:p>
        </p:txBody>
      </p:sp>
      <p:sp>
        <p:nvSpPr>
          <p:cNvPr id="7" name="Text 5"/>
          <p:cNvSpPr/>
          <p:nvPr/>
        </p:nvSpPr>
        <p:spPr>
          <a:xfrm>
            <a:off x="1143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Q1 2025 phishing reports surged 466%. Bad grammar no longer gives scams away.</a:t>
            </a:r>
            <a:endParaRPr lang="en-US" sz="1950" dirty="0"/>
          </a:p>
        </p:txBody>
      </p:sp>
      <p:sp>
        <p:nvSpPr>
          <p:cNvPr id="8" name="Text 6"/>
          <p:cNvSpPr/>
          <p:nvPr/>
        </p:nvSpPr>
        <p:spPr>
          <a:xfrm>
            <a:off x="66675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+NIS2</a:t>
            </a:r>
            <a:endParaRPr lang="en-US" sz="7800" dirty="0"/>
          </a:p>
        </p:txBody>
      </p:sp>
      <p:sp>
        <p:nvSpPr>
          <p:cNvPr id="9" name="Text 7"/>
          <p:cNvSpPr/>
          <p:nvPr/>
        </p:nvSpPr>
        <p:spPr>
          <a:xfrm>
            <a:off x="66675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Privacy &amp; sovereignty rules</a:t>
            </a:r>
            <a:endParaRPr lang="en-US" sz="3000" dirty="0"/>
          </a:p>
        </p:txBody>
      </p:sp>
      <p:sp>
        <p:nvSpPr>
          <p:cNvPr id="10" name="Text 8"/>
          <p:cNvSpPr/>
          <p:nvPr/>
        </p:nvSpPr>
        <p:spPr>
          <a:xfrm>
            <a:off x="6667500" y="6076057"/>
            <a:ext cx="510159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GDPR, NIS2 and data-residency mandates push organisations toward minimal-data, privacy-first tools.</a:t>
            </a:r>
            <a:endParaRPr lang="en-US" sz="1950" dirty="0"/>
          </a:p>
        </p:txBody>
      </p:sp>
      <p:sp>
        <p:nvSpPr>
          <p:cNvPr id="11" name="Text 9"/>
          <p:cNvSpPr/>
          <p:nvPr/>
        </p:nvSpPr>
        <p:spPr>
          <a:xfrm>
            <a:off x="12192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4.6</a:t>
            </a:r>
            <a:pPr algn="l" indent="0" marL="0">
              <a:lnSpc>
                <a:spcPct val="90000"/>
              </a:lnSpc>
              <a:buNone/>
            </a:pPr>
            <a:r>
              <a:rPr lang="en-US" sz="351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12" name="Text 10"/>
          <p:cNvSpPr/>
          <p:nvPr/>
        </p:nvSpPr>
        <p:spPr>
          <a:xfrm>
            <a:off x="12192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Inbox fatigue is universal</a:t>
            </a:r>
            <a:endParaRPr lang="en-US" sz="3000" dirty="0"/>
          </a:p>
        </p:txBody>
      </p:sp>
      <p:sp>
        <p:nvSpPr>
          <p:cNvPr id="13" name="Text 11"/>
          <p:cNvSpPr/>
          <p:nvPr/>
        </p:nvSpPr>
        <p:spPr>
          <a:xfrm>
            <a:off x="12192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4.6B email users, each burning ~3 hours a week on spam. People want control back.</a:t>
            </a:r>
            <a:endParaRPr lang="en-US" sz="1950" dirty="0"/>
          </a:p>
        </p:txBody>
      </p:sp>
      <p:sp>
        <p:nvSpPr>
          <p:cNvPr id="14" name="Text 12"/>
          <p:cNvSpPr/>
          <p:nvPr/>
        </p:nvSpPr>
        <p:spPr>
          <a:xfrm>
            <a:off x="1143000" y="8620125"/>
            <a:ext cx="8321202"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Gen Digital Q1 2025 · EU NIS2 · email-user estimates 2025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43000" y="838249"/>
            <a:ext cx="2712519"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09 — THE LANDSCAPE</a:t>
            </a:r>
            <a:endParaRPr lang="en-US" sz="1800" dirty="0"/>
          </a:p>
        </p:txBody>
      </p:sp>
      <p:sp>
        <p:nvSpPr>
          <p:cNvPr id="3" name="Text 1"/>
          <p:cNvSpPr/>
          <p:nvPr/>
        </p:nvSpPr>
        <p:spPr>
          <a:xfrm>
            <a:off x="16056769" y="838249"/>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99"/>
            <a:ext cx="16482060" cy="635496"/>
          </a:xfrm>
          <a:prstGeom prst="rect">
            <a:avLst/>
          </a:prstGeom>
          <a:noFill/>
          <a:ln/>
        </p:spPr>
        <p:txBody>
          <a:bodyPr wrap="square" lIns="25400" tIns="25400" rIns="25400" bIns="25400" rtlCol="0" anchor="t">
            <a:normAutofit/>
          </a:bodyPr>
          <a:lstStyle/>
          <a:p>
            <a:pPr algn="l" indent="0" marL="0">
              <a:lnSpc>
                <a:spcPct val="98000"/>
              </a:lnSpc>
              <a:buNone/>
            </a:pPr>
            <a:r>
              <a:rPr lang="en-US" sz="4800" b="1" spc="-120" kern="0" dirty="0">
                <a:solidFill>
                  <a:srgbClr val="000000"/>
                </a:solidFill>
                <a:latin typeface="Hanken Grotesk" pitchFamily="34" charset="0"/>
                <a:ea typeface="Hanken Grotesk" pitchFamily="34" charset="-122"/>
                <a:cs typeface="Hanken Grotesk" pitchFamily="34" charset="-120"/>
              </a:rPr>
              <a:t>Aliasing exists. Decide-then-trust doesn't.</a:t>
            </a:r>
            <a:endParaRPr lang="en-US" sz="4800" dirty="0"/>
          </a:p>
        </p:txBody>
      </p:sp>
      <p:sp>
        <p:nvSpPr>
          <p:cNvPr id="5" name="Text 3"/>
          <p:cNvSpPr/>
          <p:nvPr/>
        </p:nvSpPr>
        <p:spPr>
          <a:xfrm>
            <a:off x="1143000" y="3074479"/>
            <a:ext cx="4716018"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APPROACH</a:t>
            </a:r>
            <a:endParaRPr lang="en-US" sz="1800" dirty="0"/>
          </a:p>
        </p:txBody>
      </p:sp>
      <p:sp>
        <p:nvSpPr>
          <p:cNvPr id="6" name="Text 4"/>
          <p:cNvSpPr/>
          <p:nvPr/>
        </p:nvSpPr>
        <p:spPr>
          <a:xfrm>
            <a:off x="6172200" y="3074479"/>
            <a:ext cx="2192162"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PER-SERVICE ALIAS</a:t>
            </a:r>
            <a:endParaRPr lang="en-US" sz="1800" dirty="0"/>
          </a:p>
        </p:txBody>
      </p:sp>
      <p:sp>
        <p:nvSpPr>
          <p:cNvPr id="7" name="Text 5"/>
          <p:cNvSpPr/>
          <p:nvPr/>
        </p:nvSpPr>
        <p:spPr>
          <a:xfrm>
            <a:off x="8744396" y="3074479"/>
            <a:ext cx="2416890"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NEVER READS CONTENT</a:t>
            </a:r>
            <a:endParaRPr lang="en-US" sz="1800" dirty="0"/>
          </a:p>
        </p:txBody>
      </p:sp>
      <p:sp>
        <p:nvSpPr>
          <p:cNvPr id="8" name="Text 6"/>
          <p:cNvSpPr/>
          <p:nvPr/>
        </p:nvSpPr>
        <p:spPr>
          <a:xfrm>
            <a:off x="11534775" y="3074479"/>
            <a:ext cx="2419496"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QUARANTINE + TRUST</a:t>
            </a:r>
            <a:endParaRPr lang="en-US" sz="1800" dirty="0"/>
          </a:p>
        </p:txBody>
      </p:sp>
      <p:sp>
        <p:nvSpPr>
          <p:cNvPr id="9" name="Text 7"/>
          <p:cNvSpPr/>
          <p:nvPr/>
        </p:nvSpPr>
        <p:spPr>
          <a:xfrm>
            <a:off x="14327684" y="3074479"/>
            <a:ext cx="2680094"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AUTO PHISHING DEFENSE</a:t>
            </a:r>
            <a:endParaRPr lang="en-US" sz="1800" dirty="0"/>
          </a:p>
        </p:txBody>
      </p:sp>
      <p:sp>
        <p:nvSpPr>
          <p:cNvPr id="10" name="Text 8"/>
          <p:cNvSpPr/>
          <p:nvPr/>
        </p:nvSpPr>
        <p:spPr>
          <a:xfrm>
            <a:off x="1143000" y="4088891"/>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Apple Hide My Email</a:t>
            </a:r>
            <a:endParaRPr lang="en-US" sz="1800" dirty="0"/>
          </a:p>
        </p:txBody>
      </p:sp>
      <p:sp>
        <p:nvSpPr>
          <p:cNvPr id="11" name="Text 9"/>
          <p:cNvSpPr/>
          <p:nvPr/>
        </p:nvSpPr>
        <p:spPr>
          <a:xfrm>
            <a:off x="6172200" y="4088891"/>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2" name="Text 10"/>
          <p:cNvSpPr/>
          <p:nvPr/>
        </p:nvSpPr>
        <p:spPr>
          <a:xfrm>
            <a:off x="8744396" y="4088891"/>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3" name="Text 11"/>
          <p:cNvSpPr/>
          <p:nvPr/>
        </p:nvSpPr>
        <p:spPr>
          <a:xfrm>
            <a:off x="11534775" y="4088891"/>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4" name="Text 12"/>
          <p:cNvSpPr/>
          <p:nvPr/>
        </p:nvSpPr>
        <p:spPr>
          <a:xfrm>
            <a:off x="14327684" y="4088891"/>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5" name="Text 13"/>
          <p:cNvSpPr/>
          <p:nvPr/>
        </p:nvSpPr>
        <p:spPr>
          <a:xfrm>
            <a:off x="1143000" y="4812791"/>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Firefox Relay</a:t>
            </a:r>
            <a:endParaRPr lang="en-US" sz="1800" dirty="0"/>
          </a:p>
        </p:txBody>
      </p:sp>
      <p:sp>
        <p:nvSpPr>
          <p:cNvPr id="16" name="Text 14"/>
          <p:cNvSpPr/>
          <p:nvPr/>
        </p:nvSpPr>
        <p:spPr>
          <a:xfrm>
            <a:off x="6172200" y="4812791"/>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7" name="Text 15"/>
          <p:cNvSpPr/>
          <p:nvPr/>
        </p:nvSpPr>
        <p:spPr>
          <a:xfrm>
            <a:off x="8744396" y="4812791"/>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8" name="Text 16"/>
          <p:cNvSpPr/>
          <p:nvPr/>
        </p:nvSpPr>
        <p:spPr>
          <a:xfrm>
            <a:off x="11534775" y="4812791"/>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9" name="Text 17"/>
          <p:cNvSpPr/>
          <p:nvPr/>
        </p:nvSpPr>
        <p:spPr>
          <a:xfrm>
            <a:off x="14327684" y="4812791"/>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0" name="Text 18"/>
          <p:cNvSpPr/>
          <p:nvPr/>
        </p:nvSpPr>
        <p:spPr>
          <a:xfrm>
            <a:off x="1143000" y="5536691"/>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SimpleLogin / DuckDuckGo</a:t>
            </a:r>
            <a:endParaRPr lang="en-US" sz="1800" dirty="0"/>
          </a:p>
        </p:txBody>
      </p:sp>
      <p:sp>
        <p:nvSpPr>
          <p:cNvPr id="21" name="Text 19"/>
          <p:cNvSpPr/>
          <p:nvPr/>
        </p:nvSpPr>
        <p:spPr>
          <a:xfrm>
            <a:off x="6172200" y="5536691"/>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22" name="Text 20"/>
          <p:cNvSpPr/>
          <p:nvPr/>
        </p:nvSpPr>
        <p:spPr>
          <a:xfrm>
            <a:off x="8744396" y="5536691"/>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Partial</a:t>
            </a:r>
            <a:endParaRPr lang="en-US" sz="1800" dirty="0"/>
          </a:p>
        </p:txBody>
      </p:sp>
      <p:sp>
        <p:nvSpPr>
          <p:cNvPr id="23" name="Text 21"/>
          <p:cNvSpPr/>
          <p:nvPr/>
        </p:nvSpPr>
        <p:spPr>
          <a:xfrm>
            <a:off x="11534775" y="5536691"/>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4" name="Text 22"/>
          <p:cNvSpPr/>
          <p:nvPr/>
        </p:nvSpPr>
        <p:spPr>
          <a:xfrm>
            <a:off x="14327684" y="5536691"/>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5" name="Text 23"/>
          <p:cNvSpPr/>
          <p:nvPr/>
        </p:nvSpPr>
        <p:spPr>
          <a:xfrm>
            <a:off x="1371600" y="6260591"/>
            <a:ext cx="4487418"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Nullbox</a:t>
            </a:r>
            <a:endParaRPr lang="en-US" sz="1800" dirty="0"/>
          </a:p>
        </p:txBody>
      </p:sp>
      <p:sp>
        <p:nvSpPr>
          <p:cNvPr id="26" name="Text 24"/>
          <p:cNvSpPr/>
          <p:nvPr/>
        </p:nvSpPr>
        <p:spPr>
          <a:xfrm>
            <a:off x="6172200" y="6260591"/>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7" name="Text 25"/>
          <p:cNvSpPr/>
          <p:nvPr/>
        </p:nvSpPr>
        <p:spPr>
          <a:xfrm>
            <a:off x="8744396" y="6260591"/>
            <a:ext cx="2416890"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8" name="Text 26"/>
          <p:cNvSpPr/>
          <p:nvPr/>
        </p:nvSpPr>
        <p:spPr>
          <a:xfrm>
            <a:off x="11534775" y="6260591"/>
            <a:ext cx="2419496"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9" name="Text 27"/>
          <p:cNvSpPr/>
          <p:nvPr/>
        </p:nvSpPr>
        <p:spPr>
          <a:xfrm>
            <a:off x="14327684" y="6260591"/>
            <a:ext cx="2680094"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30" name="Text 28"/>
          <p:cNvSpPr/>
          <p:nvPr/>
        </p:nvSpPr>
        <p:spPr>
          <a:xfrm>
            <a:off x="1143000" y="7162713"/>
            <a:ext cx="1445246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Others forward-and-trust. Nullbox decides first, processes least, and stops phishing automatically.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43000" y="83820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10 — EARLY TRACTION</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5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Small numbers — but every one is organic.</a:t>
            </a:r>
            <a:endParaRPr lang="en-US" sz="6000" dirty="0"/>
          </a:p>
        </p:txBody>
      </p:sp>
      <p:sp>
        <p:nvSpPr>
          <p:cNvPr id="5" name="Text 3"/>
          <p:cNvSpPr/>
          <p:nvPr/>
        </p:nvSpPr>
        <p:spPr>
          <a:xfrm>
            <a:off x="1143000" y="2804156"/>
            <a:ext cx="8900190"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private beta seeded by about ten comments on privacy subreddits in December 2025 — the only marketing we've done. The forward / quarantine / drop split shows the trust model working in the wild.</a:t>
            </a:r>
            <a:endParaRPr lang="en-US" sz="2250" dirty="0"/>
          </a:p>
        </p:txBody>
      </p:sp>
      <p:sp>
        <p:nvSpPr>
          <p:cNvPr id="6" name="Text 4"/>
          <p:cNvSpPr/>
          <p:nvPr/>
        </p:nvSpPr>
        <p:spPr>
          <a:xfrm>
            <a:off x="1514475" y="515683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23</a:t>
            </a:r>
            <a:endParaRPr lang="en-US" sz="7800" dirty="0"/>
          </a:p>
        </p:txBody>
      </p:sp>
      <p:sp>
        <p:nvSpPr>
          <p:cNvPr id="7" name="Text 5"/>
          <p:cNvSpPr/>
          <p:nvPr/>
        </p:nvSpPr>
        <p:spPr>
          <a:xfrm>
            <a:off x="1514475" y="618166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active users</a:t>
            </a:r>
            <a:endParaRPr lang="en-US" sz="1800" dirty="0"/>
          </a:p>
        </p:txBody>
      </p:sp>
      <p:sp>
        <p:nvSpPr>
          <p:cNvPr id="8" name="Text 6"/>
          <p:cNvSpPr/>
          <p:nvPr/>
        </p:nvSpPr>
        <p:spPr>
          <a:xfrm>
            <a:off x="6924675" y="515683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62</a:t>
            </a:r>
            <a:endParaRPr lang="en-US" sz="7800" dirty="0"/>
          </a:p>
        </p:txBody>
      </p:sp>
      <p:sp>
        <p:nvSpPr>
          <p:cNvPr id="9" name="Text 7"/>
          <p:cNvSpPr/>
          <p:nvPr/>
        </p:nvSpPr>
        <p:spPr>
          <a:xfrm>
            <a:off x="6924675" y="618166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aliases in use</a:t>
            </a:r>
            <a:endParaRPr lang="en-US" sz="1800" dirty="0"/>
          </a:p>
        </p:txBody>
      </p:sp>
      <p:sp>
        <p:nvSpPr>
          <p:cNvPr id="10" name="Text 8"/>
          <p:cNvSpPr/>
          <p:nvPr/>
        </p:nvSpPr>
        <p:spPr>
          <a:xfrm>
            <a:off x="12334875" y="515683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551</a:t>
            </a:r>
            <a:endParaRPr lang="en-US" sz="7800" dirty="0"/>
          </a:p>
        </p:txBody>
      </p:sp>
      <p:sp>
        <p:nvSpPr>
          <p:cNvPr id="11" name="Text 9"/>
          <p:cNvSpPr/>
          <p:nvPr/>
        </p:nvSpPr>
        <p:spPr>
          <a:xfrm>
            <a:off x="12334875" y="618166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emails relayed</a:t>
            </a:r>
            <a:endParaRPr lang="en-US" sz="1800" dirty="0"/>
          </a:p>
        </p:txBody>
      </p:sp>
      <p:sp>
        <p:nvSpPr>
          <p:cNvPr id="12" name="Text 10"/>
          <p:cNvSpPr/>
          <p:nvPr/>
        </p:nvSpPr>
        <p:spPr>
          <a:xfrm>
            <a:off x="1514475" y="7449178"/>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517</a:t>
            </a:r>
            <a:endParaRPr lang="en-US" sz="7800" dirty="0"/>
          </a:p>
        </p:txBody>
      </p:sp>
      <p:sp>
        <p:nvSpPr>
          <p:cNvPr id="13" name="Text 11"/>
          <p:cNvSpPr/>
          <p:nvPr/>
        </p:nvSpPr>
        <p:spPr>
          <a:xfrm>
            <a:off x="1514475" y="8474008"/>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forwarded · trusted</a:t>
            </a:r>
            <a:endParaRPr lang="en-US" sz="1800" dirty="0"/>
          </a:p>
        </p:txBody>
      </p:sp>
      <p:sp>
        <p:nvSpPr>
          <p:cNvPr id="14" name="Text 12"/>
          <p:cNvSpPr/>
          <p:nvPr/>
        </p:nvSpPr>
        <p:spPr>
          <a:xfrm>
            <a:off x="6924675" y="7449178"/>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16</a:t>
            </a:r>
            <a:endParaRPr lang="en-US" sz="7800" dirty="0"/>
          </a:p>
        </p:txBody>
      </p:sp>
      <p:sp>
        <p:nvSpPr>
          <p:cNvPr id="15" name="Text 13"/>
          <p:cNvSpPr/>
          <p:nvPr/>
        </p:nvSpPr>
        <p:spPr>
          <a:xfrm>
            <a:off x="6924675" y="8474008"/>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16" name="Text 14"/>
          <p:cNvSpPr/>
          <p:nvPr/>
        </p:nvSpPr>
        <p:spPr>
          <a:xfrm>
            <a:off x="12334875" y="745158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18</a:t>
            </a:r>
            <a:endParaRPr lang="en-US" sz="7800" dirty="0"/>
          </a:p>
        </p:txBody>
      </p:sp>
      <p:sp>
        <p:nvSpPr>
          <p:cNvPr id="17" name="Text 15"/>
          <p:cNvSpPr/>
          <p:nvPr/>
        </p:nvSpPr>
        <p:spPr>
          <a:xfrm>
            <a:off x="12334875" y="8476417"/>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dropped · untrusted</a:t>
            </a:r>
            <a:endParaRPr lang="en-US" sz="1800" dirty="0"/>
          </a:p>
        </p:txBody>
      </p:sp>
      <p:sp>
        <p:nvSpPr>
          <p:cNvPr id="18" name="Text 16"/>
          <p:cNvSpPr/>
          <p:nvPr/>
        </p:nvSpPr>
        <p:spPr>
          <a:xfrm>
            <a:off x="1143000" y="9409867"/>
            <a:ext cx="16482060" cy="628651"/>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Honest early-beta numbers, zero paid acquisition. The point is the ratio — this is organic pull before we've spent a cent.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143000" y="83820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11 — BUSINESS MODEL</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5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Free to start. Paid as you rely on it.</a:t>
            </a:r>
            <a:endParaRPr lang="en-US" sz="6000" dirty="0"/>
          </a:p>
        </p:txBody>
      </p:sp>
      <p:sp>
        <p:nvSpPr>
          <p:cNvPr id="5" name="Text 3"/>
          <p:cNvSpPr/>
          <p:nvPr/>
        </p:nvSpPr>
        <p:spPr>
          <a:xfrm>
            <a:off x="1143000" y="2804156"/>
            <a:ext cx="824087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Freemium gets people protected. Paid plans add mailboxes, domains, headroom and faster support.</a:t>
            </a:r>
            <a:endParaRPr lang="en-US" sz="2250" dirty="0"/>
          </a:p>
        </p:txBody>
      </p:sp>
      <p:sp>
        <p:nvSpPr>
          <p:cNvPr id="6" name="Text 4"/>
          <p:cNvSpPr/>
          <p:nvPr/>
        </p:nvSpPr>
        <p:spPr>
          <a:xfrm>
            <a:off x="1514475" y="4356731"/>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FREE</a:t>
            </a:r>
            <a:endParaRPr lang="en-US" sz="1800" dirty="0"/>
          </a:p>
        </p:txBody>
      </p:sp>
      <p:sp>
        <p:nvSpPr>
          <p:cNvPr id="7" name="Text 5"/>
          <p:cNvSpPr/>
          <p:nvPr/>
        </p:nvSpPr>
        <p:spPr>
          <a:xfrm>
            <a:off x="1514475" y="4823456"/>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$0</a:t>
            </a:r>
            <a:endParaRPr lang="en-US" sz="4500" dirty="0"/>
          </a:p>
        </p:txBody>
      </p:sp>
      <p:sp>
        <p:nvSpPr>
          <p:cNvPr id="8" name="Text 6"/>
          <p:cNvSpPr/>
          <p:nvPr/>
        </p:nvSpPr>
        <p:spPr>
          <a:xfrm>
            <a:off x="1514475" y="5623556"/>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Leave your real address behind.</a:t>
            </a:r>
            <a:endParaRPr lang="en-US" sz="1800" dirty="0"/>
          </a:p>
        </p:txBody>
      </p:sp>
      <p:sp>
        <p:nvSpPr>
          <p:cNvPr id="9" name="Shape 7"/>
          <p:cNvSpPr/>
          <p:nvPr/>
        </p:nvSpPr>
        <p:spPr>
          <a:xfrm rot="2700000">
            <a:off x="1514475" y="6532152"/>
            <a:ext cx="76200" cy="76200"/>
          </a:xfrm>
          <a:prstGeom prst="rect">
            <a:avLst/>
          </a:prstGeom>
          <a:solidFill>
            <a:srgbClr val="135BFD"/>
          </a:solidFill>
          <a:ln/>
        </p:spPr>
      </p:sp>
      <p:sp>
        <p:nvSpPr>
          <p:cNvPr id="10" name="Text 8"/>
          <p:cNvSpPr/>
          <p:nvPr/>
        </p:nvSpPr>
        <p:spPr>
          <a:xfrm>
            <a:off x="1724025" y="6410262"/>
            <a:ext cx="106799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mailbox</a:t>
            </a:r>
            <a:endParaRPr lang="en-US" sz="1800" dirty="0"/>
          </a:p>
        </p:txBody>
      </p:sp>
      <p:sp>
        <p:nvSpPr>
          <p:cNvPr id="11" name="Shape 9"/>
          <p:cNvSpPr/>
          <p:nvPr/>
        </p:nvSpPr>
        <p:spPr>
          <a:xfrm rot="2700000">
            <a:off x="1514475" y="7004532"/>
            <a:ext cx="76200" cy="76200"/>
          </a:xfrm>
          <a:prstGeom prst="rect">
            <a:avLst/>
          </a:prstGeom>
          <a:solidFill>
            <a:srgbClr val="135BFD"/>
          </a:solidFill>
          <a:ln/>
        </p:spPr>
      </p:sp>
      <p:sp>
        <p:nvSpPr>
          <p:cNvPr id="12" name="Text 10"/>
          <p:cNvSpPr/>
          <p:nvPr/>
        </p:nvSpPr>
        <p:spPr>
          <a:xfrm>
            <a:off x="1724025" y="6882642"/>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aliases</a:t>
            </a:r>
            <a:endParaRPr lang="en-US" sz="1800" dirty="0"/>
          </a:p>
        </p:txBody>
      </p:sp>
      <p:sp>
        <p:nvSpPr>
          <p:cNvPr id="13" name="Shape 11"/>
          <p:cNvSpPr/>
          <p:nvPr/>
        </p:nvSpPr>
        <p:spPr>
          <a:xfrm rot="2700000">
            <a:off x="1514475" y="7476913"/>
            <a:ext cx="76200" cy="76200"/>
          </a:xfrm>
          <a:prstGeom prst="rect">
            <a:avLst/>
          </a:prstGeom>
          <a:solidFill>
            <a:srgbClr val="135BFD"/>
          </a:solidFill>
          <a:ln/>
        </p:spPr>
      </p:sp>
      <p:sp>
        <p:nvSpPr>
          <p:cNvPr id="14" name="Text 12"/>
          <p:cNvSpPr/>
          <p:nvPr/>
        </p:nvSpPr>
        <p:spPr>
          <a:xfrm>
            <a:off x="1724025" y="7355023"/>
            <a:ext cx="171375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100 MB / month</a:t>
            </a:r>
            <a:endParaRPr lang="en-US" sz="1800" dirty="0"/>
          </a:p>
        </p:txBody>
      </p:sp>
      <p:sp>
        <p:nvSpPr>
          <p:cNvPr id="15" name="Shape 13"/>
          <p:cNvSpPr/>
          <p:nvPr/>
        </p:nvSpPr>
        <p:spPr>
          <a:xfrm rot="2700000">
            <a:off x="1514475" y="7949293"/>
            <a:ext cx="76200" cy="76200"/>
          </a:xfrm>
          <a:prstGeom prst="rect">
            <a:avLst/>
          </a:prstGeom>
          <a:solidFill>
            <a:srgbClr val="135BFD"/>
          </a:solidFill>
          <a:ln/>
        </p:spPr>
      </p:sp>
      <p:sp>
        <p:nvSpPr>
          <p:cNvPr id="16" name="Text 14"/>
          <p:cNvSpPr/>
          <p:nvPr/>
        </p:nvSpPr>
        <p:spPr>
          <a:xfrm>
            <a:off x="1724025" y="7827403"/>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17" name="Text 15"/>
          <p:cNvSpPr/>
          <p:nvPr/>
        </p:nvSpPr>
        <p:spPr>
          <a:xfrm>
            <a:off x="6937325" y="4357423"/>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35BFD"/>
                </a:solidFill>
                <a:latin typeface="JetBrains Mono" pitchFamily="34" charset="0"/>
                <a:ea typeface="JetBrains Mono" pitchFamily="34" charset="-122"/>
                <a:cs typeface="JetBrains Mono" pitchFamily="34" charset="-120"/>
              </a:rPr>
              <a:t>PLUS · MOST POPULAR</a:t>
            </a:r>
            <a:endParaRPr lang="en-US" sz="1800" dirty="0"/>
          </a:p>
        </p:txBody>
      </p:sp>
      <p:sp>
        <p:nvSpPr>
          <p:cNvPr id="18" name="Text 16"/>
          <p:cNvSpPr/>
          <p:nvPr/>
        </p:nvSpPr>
        <p:spPr>
          <a:xfrm>
            <a:off x="6937325" y="4824148"/>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$3</a:t>
            </a:r>
            <a:endParaRPr lang="en-US" sz="4500" dirty="0"/>
          </a:p>
        </p:txBody>
      </p:sp>
      <p:sp>
        <p:nvSpPr>
          <p:cNvPr id="19" name="Text 17"/>
          <p:cNvSpPr/>
          <p:nvPr/>
        </p:nvSpPr>
        <p:spPr>
          <a:xfrm>
            <a:off x="7630864" y="5128948"/>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20" name="Text 18"/>
          <p:cNvSpPr/>
          <p:nvPr/>
        </p:nvSpPr>
        <p:spPr>
          <a:xfrm>
            <a:off x="6937325" y="5624248"/>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Room to organise everything.</a:t>
            </a:r>
            <a:endParaRPr lang="en-US" sz="1800" dirty="0"/>
          </a:p>
        </p:txBody>
      </p:sp>
      <p:sp>
        <p:nvSpPr>
          <p:cNvPr id="21" name="Shape 19"/>
          <p:cNvSpPr/>
          <p:nvPr/>
        </p:nvSpPr>
        <p:spPr>
          <a:xfrm rot="2700000">
            <a:off x="6937325" y="6532844"/>
            <a:ext cx="76200" cy="76200"/>
          </a:xfrm>
          <a:prstGeom prst="rect">
            <a:avLst/>
          </a:prstGeom>
          <a:solidFill>
            <a:srgbClr val="135BFD"/>
          </a:solidFill>
          <a:ln/>
        </p:spPr>
      </p:sp>
      <p:sp>
        <p:nvSpPr>
          <p:cNvPr id="22" name="Text 20"/>
          <p:cNvSpPr/>
          <p:nvPr/>
        </p:nvSpPr>
        <p:spPr>
          <a:xfrm>
            <a:off x="7146875" y="6410953"/>
            <a:ext cx="129316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 mailboxes</a:t>
            </a:r>
            <a:endParaRPr lang="en-US" sz="1800" dirty="0"/>
          </a:p>
        </p:txBody>
      </p:sp>
      <p:sp>
        <p:nvSpPr>
          <p:cNvPr id="23" name="Shape 21"/>
          <p:cNvSpPr/>
          <p:nvPr/>
        </p:nvSpPr>
        <p:spPr>
          <a:xfrm rot="2700000">
            <a:off x="6937325" y="7005224"/>
            <a:ext cx="76200" cy="76200"/>
          </a:xfrm>
          <a:prstGeom prst="rect">
            <a:avLst/>
          </a:prstGeom>
          <a:solidFill>
            <a:srgbClr val="135BFD"/>
          </a:solidFill>
          <a:ln/>
        </p:spPr>
      </p:sp>
      <p:sp>
        <p:nvSpPr>
          <p:cNvPr id="24" name="Text 22"/>
          <p:cNvSpPr/>
          <p:nvPr/>
        </p:nvSpPr>
        <p:spPr>
          <a:xfrm>
            <a:off x="7146875" y="6883334"/>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50 aliases</a:t>
            </a:r>
            <a:endParaRPr lang="en-US" sz="1800" dirty="0"/>
          </a:p>
        </p:txBody>
      </p:sp>
      <p:sp>
        <p:nvSpPr>
          <p:cNvPr id="25" name="Shape 23"/>
          <p:cNvSpPr/>
          <p:nvPr/>
        </p:nvSpPr>
        <p:spPr>
          <a:xfrm rot="2700000">
            <a:off x="6937325" y="7477605"/>
            <a:ext cx="76200" cy="76200"/>
          </a:xfrm>
          <a:prstGeom prst="rect">
            <a:avLst/>
          </a:prstGeom>
          <a:solidFill>
            <a:srgbClr val="135BFD"/>
          </a:solidFill>
          <a:ln/>
        </p:spPr>
      </p:sp>
      <p:sp>
        <p:nvSpPr>
          <p:cNvPr id="26" name="Text 24"/>
          <p:cNvSpPr/>
          <p:nvPr/>
        </p:nvSpPr>
        <p:spPr>
          <a:xfrm>
            <a:off x="7146875" y="7355714"/>
            <a:ext cx="143306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GB / month</a:t>
            </a:r>
            <a:endParaRPr lang="en-US" sz="1800" dirty="0"/>
          </a:p>
        </p:txBody>
      </p:sp>
      <p:sp>
        <p:nvSpPr>
          <p:cNvPr id="27" name="Shape 25"/>
          <p:cNvSpPr/>
          <p:nvPr/>
        </p:nvSpPr>
        <p:spPr>
          <a:xfrm rot="2700000">
            <a:off x="6937325" y="7949985"/>
            <a:ext cx="76200" cy="76200"/>
          </a:xfrm>
          <a:prstGeom prst="rect">
            <a:avLst/>
          </a:prstGeom>
          <a:solidFill>
            <a:srgbClr val="135BFD"/>
          </a:solidFill>
          <a:ln/>
        </p:spPr>
      </p:sp>
      <p:sp>
        <p:nvSpPr>
          <p:cNvPr id="28" name="Text 26"/>
          <p:cNvSpPr/>
          <p:nvPr/>
        </p:nvSpPr>
        <p:spPr>
          <a:xfrm>
            <a:off x="7146875" y="7828095"/>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29" name="Text 27"/>
          <p:cNvSpPr/>
          <p:nvPr/>
        </p:nvSpPr>
        <p:spPr>
          <a:xfrm>
            <a:off x="12360176" y="4359833"/>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PRO</a:t>
            </a:r>
            <a:endParaRPr lang="en-US" sz="1800" dirty="0"/>
          </a:p>
        </p:txBody>
      </p:sp>
      <p:sp>
        <p:nvSpPr>
          <p:cNvPr id="30" name="Text 28"/>
          <p:cNvSpPr/>
          <p:nvPr/>
        </p:nvSpPr>
        <p:spPr>
          <a:xfrm>
            <a:off x="12360176" y="4826558"/>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$5</a:t>
            </a:r>
            <a:endParaRPr lang="en-US" sz="4500" dirty="0"/>
          </a:p>
        </p:txBody>
      </p:sp>
      <p:sp>
        <p:nvSpPr>
          <p:cNvPr id="31" name="Text 29"/>
          <p:cNvSpPr/>
          <p:nvPr/>
        </p:nvSpPr>
        <p:spPr>
          <a:xfrm>
            <a:off x="13053715" y="5131358"/>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32" name="Text 30"/>
          <p:cNvSpPr/>
          <p:nvPr/>
        </p:nvSpPr>
        <p:spPr>
          <a:xfrm>
            <a:off x="12360176" y="5626658"/>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Power and headroom.</a:t>
            </a:r>
            <a:endParaRPr lang="en-US" sz="1800" dirty="0"/>
          </a:p>
        </p:txBody>
      </p:sp>
      <p:sp>
        <p:nvSpPr>
          <p:cNvPr id="33" name="Shape 31"/>
          <p:cNvSpPr/>
          <p:nvPr/>
        </p:nvSpPr>
        <p:spPr>
          <a:xfrm rot="2700000">
            <a:off x="12360176" y="6535253"/>
            <a:ext cx="76200" cy="76200"/>
          </a:xfrm>
          <a:prstGeom prst="rect">
            <a:avLst/>
          </a:prstGeom>
          <a:solidFill>
            <a:srgbClr val="135BFD"/>
          </a:solidFill>
          <a:ln/>
        </p:spPr>
      </p:sp>
      <p:sp>
        <p:nvSpPr>
          <p:cNvPr id="34" name="Text 32"/>
          <p:cNvSpPr/>
          <p:nvPr/>
        </p:nvSpPr>
        <p:spPr>
          <a:xfrm>
            <a:off x="12569726" y="6413364"/>
            <a:ext cx="21277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mailboxes</a:t>
            </a:r>
            <a:endParaRPr lang="en-US" sz="1800" dirty="0"/>
          </a:p>
        </p:txBody>
      </p:sp>
      <p:sp>
        <p:nvSpPr>
          <p:cNvPr id="35" name="Shape 33"/>
          <p:cNvSpPr/>
          <p:nvPr/>
        </p:nvSpPr>
        <p:spPr>
          <a:xfrm rot="2700000">
            <a:off x="12360176" y="7007634"/>
            <a:ext cx="76200" cy="76200"/>
          </a:xfrm>
          <a:prstGeom prst="rect">
            <a:avLst/>
          </a:prstGeom>
          <a:solidFill>
            <a:srgbClr val="135BFD"/>
          </a:solidFill>
          <a:ln/>
        </p:spPr>
      </p:sp>
      <p:sp>
        <p:nvSpPr>
          <p:cNvPr id="36" name="Text 34"/>
          <p:cNvSpPr/>
          <p:nvPr/>
        </p:nvSpPr>
        <p:spPr>
          <a:xfrm>
            <a:off x="12569726" y="6885744"/>
            <a:ext cx="179576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aliases</a:t>
            </a:r>
            <a:endParaRPr lang="en-US" sz="1800" dirty="0"/>
          </a:p>
        </p:txBody>
      </p:sp>
      <p:sp>
        <p:nvSpPr>
          <p:cNvPr id="37" name="Shape 35"/>
          <p:cNvSpPr/>
          <p:nvPr/>
        </p:nvSpPr>
        <p:spPr>
          <a:xfrm rot="2700000">
            <a:off x="12360176" y="7480014"/>
            <a:ext cx="76200" cy="76200"/>
          </a:xfrm>
          <a:prstGeom prst="rect">
            <a:avLst/>
          </a:prstGeom>
          <a:solidFill>
            <a:srgbClr val="135BFD"/>
          </a:solidFill>
          <a:ln/>
        </p:spPr>
      </p:sp>
      <p:sp>
        <p:nvSpPr>
          <p:cNvPr id="38" name="Text 36"/>
          <p:cNvSpPr/>
          <p:nvPr/>
        </p:nvSpPr>
        <p:spPr>
          <a:xfrm>
            <a:off x="12569726" y="7358124"/>
            <a:ext cx="156105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GB / month</a:t>
            </a:r>
            <a:endParaRPr lang="en-US" sz="1800" dirty="0"/>
          </a:p>
        </p:txBody>
      </p:sp>
      <p:sp>
        <p:nvSpPr>
          <p:cNvPr id="39" name="Shape 37"/>
          <p:cNvSpPr/>
          <p:nvPr/>
        </p:nvSpPr>
        <p:spPr>
          <a:xfrm rot="2700000">
            <a:off x="12360176" y="7952395"/>
            <a:ext cx="76200" cy="76200"/>
          </a:xfrm>
          <a:prstGeom prst="rect">
            <a:avLst/>
          </a:prstGeom>
          <a:solidFill>
            <a:srgbClr val="135BFD"/>
          </a:solidFill>
          <a:ln/>
        </p:spPr>
      </p:sp>
      <p:sp>
        <p:nvSpPr>
          <p:cNvPr id="40" name="Text 38"/>
          <p:cNvSpPr/>
          <p:nvPr/>
        </p:nvSpPr>
        <p:spPr>
          <a:xfrm>
            <a:off x="12569726" y="7830505"/>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24h support</a:t>
            </a:r>
            <a:endParaRPr lang="en-US" sz="1800" dirty="0"/>
          </a:p>
        </p:txBody>
      </p:sp>
      <p:sp>
        <p:nvSpPr>
          <p:cNvPr id="41" name="Text 39"/>
          <p:cNvSpPr/>
          <p:nvPr/>
        </p:nvSpPr>
        <p:spPr>
          <a:xfrm>
            <a:off x="1143000" y="8788661"/>
            <a:ext cx="875916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Team — $8 / seat — Pro for organisations, centrally managed.</a:t>
            </a:r>
            <a:endParaRPr lang="en-US" sz="1800" dirty="0"/>
          </a:p>
        </p:txBody>
      </p:sp>
      <p:sp>
        <p:nvSpPr>
          <p:cNvPr id="42" name="Text 40"/>
          <p:cNvSpPr/>
          <p:nvPr/>
        </p:nvSpPr>
        <p:spPr>
          <a:xfrm>
            <a:off x="1143000" y="9141086"/>
            <a:ext cx="4671603"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Billed monthly or annually · USD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43000" y="838200"/>
            <a:ext cx="391801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12 — RETENTION &amp; REFERRALS</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5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Sticky by nature. Viral by design.</a:t>
            </a:r>
            <a:endParaRPr lang="en-US" sz="6000" dirty="0"/>
          </a:p>
        </p:txBody>
      </p:sp>
      <p:sp>
        <p:nvSpPr>
          <p:cNvPr id="5" name="Text 3"/>
          <p:cNvSpPr/>
          <p:nvPr/>
        </p:nvSpPr>
        <p:spPr>
          <a:xfrm>
            <a:off x="1143000" y="3089906"/>
            <a:ext cx="650008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WHY THEY STAY</a:t>
            </a:r>
            <a:endParaRPr lang="en-US" sz="1800" dirty="0"/>
          </a:p>
        </p:txBody>
      </p:sp>
      <p:sp>
        <p:nvSpPr>
          <p:cNvPr id="6" name="Text 4"/>
          <p:cNvSpPr/>
          <p:nvPr/>
        </p:nvSpPr>
        <p:spPr>
          <a:xfrm>
            <a:off x="1143000" y="3556631"/>
            <a:ext cx="6500082"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The nature of aliases keeps you.</a:t>
            </a:r>
            <a:endParaRPr lang="en-US" sz="3000" dirty="0"/>
          </a:p>
        </p:txBody>
      </p:sp>
      <p:sp>
        <p:nvSpPr>
          <p:cNvPr id="7" name="Text 5"/>
          <p:cNvSpPr/>
          <p:nvPr/>
        </p:nvSpPr>
        <p:spPr>
          <a:xfrm>
            <a:off x="1143000" y="4128131"/>
            <a:ext cx="6500082" cy="2558207"/>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000000"/>
                </a:solidFill>
                <a:latin typeface="Hanken Grotesk" pitchFamily="34" charset="0"/>
                <a:ea typeface="Hanken Grotesk" pitchFamily="34" charset="-122"/>
                <a:cs typeface="Hanken Grotesk" pitchFamily="34" charset="-120"/>
              </a:rPr>
              <a:t>It isn't lock-in we engineer — it's just how aliases work. Once yours are spread across dozens of services, leaving means updating your address at every one. Miss a single account and you may lose the confirmation emails you'd need to move it. That natural switching cost means low churn and durable, recurring revenue.</a:t>
            </a:r>
            <a:endParaRPr lang="en-US" sz="2025" dirty="0"/>
          </a:p>
        </p:txBody>
      </p:sp>
      <p:sp>
        <p:nvSpPr>
          <p:cNvPr id="8" name="Shape 6"/>
          <p:cNvSpPr/>
          <p:nvPr/>
        </p:nvSpPr>
        <p:spPr>
          <a:xfrm>
            <a:off x="1323975" y="8067760"/>
            <a:ext cx="85725" cy="85725"/>
          </a:xfrm>
          <a:prstGeom prst="ellipse">
            <a:avLst/>
          </a:prstGeom>
          <a:solidFill>
            <a:srgbClr val="135BFD"/>
          </a:solidFill>
          <a:ln/>
        </p:spPr>
      </p:sp>
      <p:sp>
        <p:nvSpPr>
          <p:cNvPr id="9" name="Text 7"/>
          <p:cNvSpPr/>
          <p:nvPr/>
        </p:nvSpPr>
        <p:spPr>
          <a:xfrm>
            <a:off x="1504950" y="7962985"/>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Low churn</a:t>
            </a:r>
            <a:endParaRPr lang="en-US" sz="1800" dirty="0"/>
          </a:p>
        </p:txBody>
      </p:sp>
      <p:sp>
        <p:nvSpPr>
          <p:cNvPr id="10" name="Shape 8"/>
          <p:cNvSpPr/>
          <p:nvPr/>
        </p:nvSpPr>
        <p:spPr>
          <a:xfrm>
            <a:off x="3256806" y="8067760"/>
            <a:ext cx="85725" cy="85725"/>
          </a:xfrm>
          <a:prstGeom prst="ellipse">
            <a:avLst/>
          </a:prstGeom>
          <a:solidFill>
            <a:srgbClr val="135BFD"/>
          </a:solidFill>
          <a:ln/>
        </p:spPr>
      </p:sp>
      <p:sp>
        <p:nvSpPr>
          <p:cNvPr id="11" name="Text 9"/>
          <p:cNvSpPr/>
          <p:nvPr/>
        </p:nvSpPr>
        <p:spPr>
          <a:xfrm>
            <a:off x="3437781" y="7962985"/>
            <a:ext cx="2485727"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Recurring revenue</a:t>
            </a:r>
            <a:endParaRPr lang="en-US" sz="1800" dirty="0"/>
          </a:p>
        </p:txBody>
      </p:sp>
      <p:sp>
        <p:nvSpPr>
          <p:cNvPr id="12" name="Text 10"/>
          <p:cNvSpPr/>
          <p:nvPr/>
        </p:nvSpPr>
        <p:spPr>
          <a:xfrm>
            <a:off x="8063359" y="3090596"/>
            <a:ext cx="9353937"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WHY THEY BRING OTHERS</a:t>
            </a:r>
            <a:endParaRPr lang="en-US" sz="1800" dirty="0"/>
          </a:p>
        </p:txBody>
      </p:sp>
      <p:sp>
        <p:nvSpPr>
          <p:cNvPr id="13" name="Text 11"/>
          <p:cNvSpPr/>
          <p:nvPr/>
        </p:nvSpPr>
        <p:spPr>
          <a:xfrm>
            <a:off x="8063359" y="3557321"/>
            <a:ext cx="935393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A referral loop that upsells itself.</a:t>
            </a:r>
            <a:endParaRPr lang="en-US" sz="3000" dirty="0"/>
          </a:p>
        </p:txBody>
      </p:sp>
      <p:sp>
        <p:nvSpPr>
          <p:cNvPr id="14" name="Text 12"/>
          <p:cNvSpPr/>
          <p:nvPr/>
        </p:nvSpPr>
        <p:spPr>
          <a:xfrm>
            <a:off x="8330059" y="4452671"/>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15" name="Text 13"/>
          <p:cNvSpPr/>
          <p:nvPr/>
        </p:nvSpPr>
        <p:spPr>
          <a:xfrm>
            <a:off x="8968234" y="4531698"/>
            <a:ext cx="1680270"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Refer a friend</a:t>
            </a:r>
            <a:endParaRPr lang="en-US" sz="2100" dirty="0"/>
          </a:p>
        </p:txBody>
      </p:sp>
      <p:sp>
        <p:nvSpPr>
          <p:cNvPr id="16" name="Text 14"/>
          <p:cNvSpPr/>
          <p:nvPr/>
        </p:nvSpPr>
        <p:spPr>
          <a:xfrm>
            <a:off x="8358634" y="4995596"/>
            <a:ext cx="39705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They sign up and pay for a year — Plus or Pro.</a:t>
            </a:r>
            <a:endParaRPr lang="en-US" sz="1800" dirty="0"/>
          </a:p>
        </p:txBody>
      </p:sp>
      <p:sp>
        <p:nvSpPr>
          <p:cNvPr id="17" name="Text 15"/>
          <p:cNvSpPr/>
          <p:nvPr/>
        </p:nvSpPr>
        <p:spPr>
          <a:xfrm>
            <a:off x="12966055" y="4452671"/>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18" name="Text 16"/>
          <p:cNvSpPr/>
          <p:nvPr/>
        </p:nvSpPr>
        <p:spPr>
          <a:xfrm>
            <a:off x="13604230" y="4531698"/>
            <a:ext cx="1953667"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You get Pro free</a:t>
            </a:r>
            <a:endParaRPr lang="en-US" sz="2100" dirty="0"/>
          </a:p>
        </p:txBody>
      </p:sp>
      <p:sp>
        <p:nvSpPr>
          <p:cNvPr id="19" name="Text 17"/>
          <p:cNvSpPr/>
          <p:nvPr/>
        </p:nvSpPr>
        <p:spPr>
          <a:xfrm>
            <a:off x="12994630" y="4995596"/>
            <a:ext cx="39705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 month of Pro per referral — even if you're on Free or Plus.</a:t>
            </a:r>
            <a:endParaRPr lang="en-US" sz="1800" dirty="0"/>
          </a:p>
        </p:txBody>
      </p:sp>
      <p:sp>
        <p:nvSpPr>
          <p:cNvPr id="20" name="Text 18"/>
          <p:cNvSpPr/>
          <p:nvPr/>
        </p:nvSpPr>
        <p:spPr>
          <a:xfrm>
            <a:off x="8330059" y="6349932"/>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21" name="Text 19"/>
          <p:cNvSpPr/>
          <p:nvPr/>
        </p:nvSpPr>
        <p:spPr>
          <a:xfrm>
            <a:off x="8968234" y="6428959"/>
            <a:ext cx="1793081"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Rewards stack</a:t>
            </a:r>
            <a:endParaRPr lang="en-US" sz="2100" dirty="0"/>
          </a:p>
        </p:txBody>
      </p:sp>
      <p:sp>
        <p:nvSpPr>
          <p:cNvPr id="22" name="Text 20"/>
          <p:cNvSpPr/>
          <p:nvPr/>
        </p:nvSpPr>
        <p:spPr>
          <a:xfrm>
            <a:off x="8358634" y="6892857"/>
            <a:ext cx="3970594"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Refer 12 annual payers and bank a year free — spent before your paid run.</a:t>
            </a:r>
            <a:endParaRPr lang="en-US" sz="1800" dirty="0"/>
          </a:p>
        </p:txBody>
      </p:sp>
      <p:sp>
        <p:nvSpPr>
          <p:cNvPr id="23" name="Shape 21"/>
          <p:cNvSpPr/>
          <p:nvPr/>
        </p:nvSpPr>
        <p:spPr>
          <a:xfrm rot="2700000">
            <a:off x="12994630" y="6432680"/>
            <a:ext cx="95250" cy="95250"/>
          </a:xfrm>
          <a:prstGeom prst="rect">
            <a:avLst/>
          </a:prstGeom>
          <a:solidFill>
            <a:srgbClr val="135BFD"/>
          </a:solidFill>
          <a:ln/>
        </p:spPr>
      </p:sp>
      <p:sp>
        <p:nvSpPr>
          <p:cNvPr id="24" name="Text 22"/>
          <p:cNvSpPr/>
          <p:nvPr/>
        </p:nvSpPr>
        <p:spPr>
          <a:xfrm>
            <a:off x="13242280" y="6340407"/>
            <a:ext cx="1175593"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135BFD"/>
                </a:solidFill>
                <a:latin typeface="Hanken Grotesk" pitchFamily="34" charset="0"/>
                <a:ea typeface="Hanken Grotesk" pitchFamily="34" charset="-122"/>
                <a:cs typeface="Hanken Grotesk" pitchFamily="34" charset="-120"/>
              </a:rPr>
              <a:t>The hook</a:t>
            </a:r>
            <a:endParaRPr lang="en-US" sz="2100" dirty="0"/>
          </a:p>
        </p:txBody>
      </p:sp>
      <p:sp>
        <p:nvSpPr>
          <p:cNvPr id="25" name="Text 23"/>
          <p:cNvSpPr/>
          <p:nvPr/>
        </p:nvSpPr>
        <p:spPr>
          <a:xfrm>
            <a:off x="12994630" y="6715602"/>
            <a:ext cx="3970594"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Free &amp; Plus users taste Pro — then drop back. Missing it drives the upgrade.</a:t>
            </a:r>
            <a:endParaRPr lang="en-US" sz="1800" dirty="0"/>
          </a:p>
        </p:txBody>
      </p:sp>
      <p:sp>
        <p:nvSpPr>
          <p:cNvPr id="26" name="Text 24"/>
          <p:cNvSpPr/>
          <p:nvPr/>
        </p:nvSpPr>
        <p:spPr>
          <a:xfrm>
            <a:off x="1143000" y="8623306"/>
            <a:ext cx="1635022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Word of mouth from people who vet tools — our cheapest, highest-trust channel — wired straight into the product.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43000" y="838200"/>
            <a:ext cx="139303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13 — TEAM</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4004221" y="4263565"/>
            <a:ext cx="373410" cy="533400"/>
          </a:xfrm>
          <a:prstGeom prst="rect">
            <a:avLst/>
          </a:prstGeom>
          <a:noFill/>
          <a:ln/>
        </p:spPr>
        <p:txBody>
          <a:bodyPr wrap="square" lIns="25400" tIns="25400" rIns="25400" bIns="25400" rtlCol="0" anchor="t">
            <a:normAutofit/>
          </a:bodyPr>
          <a:lstStyle/>
          <a:p>
            <a:pPr algn="ctr" indent="0" marL="0">
              <a:lnSpc>
                <a:spcPct val="100000"/>
              </a:lnSpc>
              <a:buNone/>
            </a:pPr>
            <a:r>
              <a:rPr lang="en-US" sz="3900" dirty="0">
                <a:solidFill>
                  <a:srgbClr val="000000"/>
                </a:solidFill>
                <a:latin typeface="JetBrains Mono" pitchFamily="34" charset="0"/>
                <a:ea typeface="JetBrains Mono" pitchFamily="34" charset="-122"/>
                <a:cs typeface="JetBrains Mono" pitchFamily="34" charset="-120"/>
              </a:rPr>
              <a:t>!</a:t>
            </a:r>
            <a:endParaRPr lang="en-US" sz="3900" dirty="0"/>
          </a:p>
        </p:txBody>
      </p:sp>
      <p:sp>
        <p:nvSpPr>
          <p:cNvPr id="5" name="Text 3"/>
          <p:cNvSpPr/>
          <p:nvPr/>
        </p:nvSpPr>
        <p:spPr>
          <a:xfrm>
            <a:off x="2952601" y="5197015"/>
            <a:ext cx="2476649" cy="390525"/>
          </a:xfrm>
          <a:prstGeom prst="rect">
            <a:avLst/>
          </a:prstGeom>
          <a:noFill/>
          <a:ln/>
        </p:spPr>
        <p:txBody>
          <a:bodyPr wrap="square" lIns="25400" tIns="25400" rIns="25400" bIns="25400" rtlCol="0" anchor="t">
            <a:normAutofit/>
          </a:bodyPr>
          <a:lstStyle/>
          <a:p>
            <a:pPr algn="ctr" indent="0" marL="0">
              <a:buNone/>
            </a:pPr>
            <a:r>
              <a:rPr lang="en-US" sz="2100" dirty="0">
                <a:solidFill>
                  <a:srgbClr val="000000"/>
                </a:solidFill>
                <a:latin typeface="JetBrains Mono" pitchFamily="34" charset="0"/>
                <a:ea typeface="JetBrains Mono" pitchFamily="34" charset="-122"/>
                <a:cs typeface="JetBrains Mono" pitchFamily="34" charset="-120"/>
              </a:rPr>
              <a:t>image not found</a:t>
            </a:r>
            <a:endParaRPr lang="en-US" sz="2100" dirty="0"/>
          </a:p>
        </p:txBody>
      </p:sp>
      <p:sp>
        <p:nvSpPr>
          <p:cNvPr id="6" name="Text 4"/>
          <p:cNvSpPr/>
          <p:nvPr/>
        </p:nvSpPr>
        <p:spPr>
          <a:xfrm>
            <a:off x="2848769" y="5778040"/>
            <a:ext cx="2684313"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000000"/>
                </a:solidFill>
                <a:latin typeface="JetBrains Mono" pitchFamily="34" charset="0"/>
                <a:ea typeface="JetBrains Mono" pitchFamily="34" charset="-122"/>
                <a:cs typeface="JetBrains Mono" pitchFamily="34" charset="-120"/>
              </a:rPr>
              <a:t>stephan-johnson.jpg</a:t>
            </a:r>
            <a:endParaRPr lang="en-US" sz="1800" dirty="0"/>
          </a:p>
        </p:txBody>
      </p:sp>
      <p:sp>
        <p:nvSpPr>
          <p:cNvPr id="7" name="Text 5"/>
          <p:cNvSpPr/>
          <p:nvPr/>
        </p:nvSpPr>
        <p:spPr>
          <a:xfrm>
            <a:off x="2608712" y="6359065"/>
            <a:ext cx="3164427" cy="998041"/>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No photo, by choice. The same instinct that built Nullbox.</a:t>
            </a:r>
            <a:endParaRPr lang="en-US" sz="1800" dirty="0"/>
          </a:p>
        </p:txBody>
      </p:sp>
      <p:sp>
        <p:nvSpPr>
          <p:cNvPr id="8" name="Text 6"/>
          <p:cNvSpPr/>
          <p:nvPr/>
        </p:nvSpPr>
        <p:spPr>
          <a:xfrm>
            <a:off x="8001000" y="2945543"/>
            <a:ext cx="941832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FOUNDER</a:t>
            </a:r>
            <a:endParaRPr lang="en-US" sz="1800" dirty="0"/>
          </a:p>
        </p:txBody>
      </p:sp>
      <p:sp>
        <p:nvSpPr>
          <p:cNvPr id="9" name="Text 7"/>
          <p:cNvSpPr/>
          <p:nvPr/>
        </p:nvSpPr>
        <p:spPr>
          <a:xfrm>
            <a:off x="8001000" y="3412268"/>
            <a:ext cx="9418320" cy="672703"/>
          </a:xfrm>
          <a:prstGeom prst="rect">
            <a:avLst/>
          </a:prstGeom>
          <a:noFill/>
          <a:ln/>
        </p:spPr>
        <p:txBody>
          <a:bodyPr wrap="square" lIns="25400" tIns="25400" rIns="25400" bIns="25400" rtlCol="0" anchor="t">
            <a:normAutofit/>
          </a:bodyPr>
          <a:lstStyle/>
          <a:p>
            <a:pPr algn="l" indent="0" marL="0">
              <a:lnSpc>
                <a:spcPct val="98000"/>
              </a:lnSpc>
              <a:buNone/>
            </a:pPr>
            <a:r>
              <a:rPr lang="en-US" sz="5100" b="1" spc="-127" kern="0" dirty="0">
                <a:solidFill>
                  <a:srgbClr val="000000"/>
                </a:solidFill>
                <a:latin typeface="Hanken Grotesk" pitchFamily="34" charset="0"/>
                <a:ea typeface="Hanken Grotesk" pitchFamily="34" charset="-122"/>
                <a:cs typeface="Hanken Grotesk" pitchFamily="34" charset="-120"/>
              </a:rPr>
              <a:t>Stephan Johnson</a:t>
            </a:r>
            <a:endParaRPr lang="en-US" sz="5100" dirty="0"/>
          </a:p>
        </p:txBody>
      </p:sp>
      <p:sp>
        <p:nvSpPr>
          <p:cNvPr id="10" name="Text 8"/>
          <p:cNvSpPr/>
          <p:nvPr/>
        </p:nvSpPr>
        <p:spPr>
          <a:xfrm>
            <a:off x="8001000" y="4180914"/>
            <a:ext cx="5790642" cy="1596628"/>
          </a:xfrm>
          <a:prstGeom prst="rect">
            <a:avLst/>
          </a:prstGeom>
          <a:noFill/>
          <a:ln/>
        </p:spPr>
        <p:txBody>
          <a:bodyPr wrap="square" lIns="25400" tIns="25400" rIns="25400" bIns="25400" rtlCol="0" anchor="t">
            <a:normAutofit/>
          </a:bodyPr>
          <a:lstStyle/>
          <a:p>
            <a:pPr algn="l" indent="0" marL="0">
              <a:lnSpc>
                <a:spcPct val="132000"/>
              </a:lnSpc>
              <a:buNone/>
            </a:pPr>
            <a:r>
              <a:rPr lang="en-US" sz="2325" dirty="0">
                <a:solidFill>
                  <a:srgbClr val="000000"/>
                </a:solidFill>
                <a:latin typeface="Hanken Grotesk" pitchFamily="34" charset="0"/>
                <a:ea typeface="Hanken Grotesk" pitchFamily="34" charset="-122"/>
                <a:cs typeface="Hanken Grotesk" pitchFamily="34" charset="-120"/>
              </a:rPr>
              <a:t>Thirty years building software. From 2015 to 2019, he was the sole developer behind Makro.co.za — one of South Africa's largest retailers.</a:t>
            </a:r>
            <a:endParaRPr lang="en-US" sz="2325" dirty="0"/>
          </a:p>
        </p:txBody>
      </p:sp>
      <p:sp>
        <p:nvSpPr>
          <p:cNvPr id="11" name="Text 9"/>
          <p:cNvSpPr/>
          <p:nvPr/>
        </p:nvSpPr>
        <p:spPr>
          <a:xfrm>
            <a:off x="8001000" y="5970455"/>
            <a:ext cx="6823530" cy="2198191"/>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000000"/>
                </a:solidFill>
                <a:latin typeface="Hanken Grotesk" pitchFamily="34" charset="0"/>
                <a:ea typeface="Hanken Grotesk" pitchFamily="34" charset="-122"/>
                <a:cs typeface="Hanken Grotesk" pitchFamily="34" charset="-120"/>
              </a:rPr>
              <a:t>There he watched the company quietly feed customers' in-store purchases — tied to the loyalty card you need just to shop — to Facebook and Google. Nobody had knowingly agreed to it. That the physical world would leak into the digital one is why he walked away — and built Nullbox.</a:t>
            </a:r>
            <a:endParaRPr lang="en-US" sz="2025" dirty="0"/>
          </a:p>
        </p:txBody>
      </p:sp>
      <p:sp>
        <p:nvSpPr>
          <p:cNvPr id="12" name="Text 10"/>
          <p:cNvSpPr/>
          <p:nvPr/>
        </p:nvSpPr>
        <p:spPr>
          <a:xfrm>
            <a:off x="8001000" y="8359147"/>
            <a:ext cx="9418320"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Privacy isn't a feature to him. </a:t>
            </a:r>
            <a:pPr algn="l" indent="0" marL="0">
              <a:lnSpc>
                <a:spcPct val="105000"/>
              </a:lnSpc>
              <a:buNone/>
            </a:pPr>
            <a:r>
              <a:rPr lang="en-US" sz="2250" b="1" spc="-22" kern="0" dirty="0">
                <a:solidFill>
                  <a:srgbClr val="135BFD"/>
                </a:solidFill>
                <a:latin typeface="Hanken Grotesk" pitchFamily="34" charset="0"/>
                <a:ea typeface="Hanken Grotesk" pitchFamily="34" charset="-122"/>
                <a:cs typeface="Hanken Grotesk" pitchFamily="34" charset="-120"/>
              </a:rPr>
              <a:t>It's a right.</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143000" y="838200"/>
            <a:ext cx="212452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14 — THE OFFER</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50"/>
            <a:ext cx="16482060" cy="654100"/>
          </a:xfrm>
          <a:prstGeom prst="rect">
            <a:avLst/>
          </a:prstGeom>
          <a:noFill/>
          <a:ln/>
        </p:spPr>
        <p:txBody>
          <a:bodyPr wrap="square" lIns="25400" tIns="25400" rIns="25400" bIns="25400" rtlCol="0" anchor="t">
            <a:normAutofit/>
          </a:bodyPr>
          <a:lstStyle/>
          <a:p>
            <a:pPr algn="l" indent="0" marL="0">
              <a:lnSpc>
                <a:spcPct val="98000"/>
              </a:lnSpc>
              <a:buNone/>
            </a:pPr>
            <a:r>
              <a:rPr lang="en-US" sz="4950" b="1" spc="-124" kern="0" dirty="0">
                <a:solidFill>
                  <a:srgbClr val="000000"/>
                </a:solidFill>
                <a:latin typeface="Hanken Grotesk" pitchFamily="34" charset="0"/>
                <a:ea typeface="Hanken Grotesk" pitchFamily="34" charset="-122"/>
                <a:cs typeface="Hanken Grotesk" pitchFamily="34" charset="-120"/>
              </a:rPr>
              <a:t>Sell Nullbox. Keep 30–50%.</a:t>
            </a:r>
            <a:endParaRPr lang="en-US" sz="4950" dirty="0"/>
          </a:p>
        </p:txBody>
      </p:sp>
      <p:sp>
        <p:nvSpPr>
          <p:cNvPr id="5" name="Text 3"/>
          <p:cNvSpPr/>
          <p:nvPr/>
        </p:nvSpPr>
        <p:spPr>
          <a:xfrm>
            <a:off x="1143000" y="2673485"/>
            <a:ext cx="9559503"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We're not asking you for money — we're asking for your reach. Bring Nullbox to the people who already trust you, and earn a recurring share of everything they pay, for as long as they stay.</a:t>
            </a:r>
            <a:endParaRPr lang="en-US" sz="2250" dirty="0"/>
          </a:p>
        </p:txBody>
      </p:sp>
      <p:sp>
        <p:nvSpPr>
          <p:cNvPr id="6" name="Text 4"/>
          <p:cNvSpPr/>
          <p:nvPr/>
        </p:nvSpPr>
        <p:spPr>
          <a:xfrm>
            <a:off x="1143000" y="4873760"/>
            <a:ext cx="7134255" cy="955476"/>
          </a:xfrm>
          <a:prstGeom prst="rect">
            <a:avLst/>
          </a:prstGeom>
          <a:noFill/>
          <a:ln/>
        </p:spPr>
        <p:txBody>
          <a:bodyPr wrap="square" lIns="25400" tIns="25400" rIns="25400" bIns="25400" rtlCol="0" anchor="t">
            <a:normAutofit/>
          </a:bodyPr>
          <a:lstStyle/>
          <a:p>
            <a:pPr algn="l" indent="0" marL="0">
              <a:lnSpc>
                <a:spcPct val="86000"/>
              </a:lnSpc>
              <a:buNone/>
            </a:pPr>
            <a:r>
              <a:rPr lang="en-US" sz="8400" b="1" spc="-336" kern="0" dirty="0">
                <a:solidFill>
                  <a:srgbClr val="000000"/>
                </a:solidFill>
                <a:latin typeface="Hanken Grotesk" pitchFamily="34" charset="0"/>
                <a:ea typeface="Hanken Grotesk" pitchFamily="34" charset="-122"/>
                <a:cs typeface="Hanken Grotesk" pitchFamily="34" charset="-120"/>
              </a:rPr>
              <a:t>30–50</a:t>
            </a:r>
            <a:pPr algn="l" indent="0" marL="0">
              <a:lnSpc>
                <a:spcPct val="86000"/>
              </a:lnSpc>
              <a:buNone/>
            </a:pPr>
            <a:r>
              <a:rPr lang="en-US" sz="3360" b="1" spc="-336" kern="0" dirty="0">
                <a:solidFill>
                  <a:srgbClr val="000000"/>
                </a:solidFill>
                <a:latin typeface="Hanken Grotesk" pitchFamily="34" charset="0"/>
                <a:ea typeface="Hanken Grotesk" pitchFamily="34" charset="-122"/>
                <a:cs typeface="Hanken Grotesk" pitchFamily="34" charset="-120"/>
              </a:rPr>
              <a:t>%</a:t>
            </a:r>
            <a:endParaRPr lang="en-US" sz="8400" dirty="0"/>
          </a:p>
        </p:txBody>
      </p:sp>
      <p:sp>
        <p:nvSpPr>
          <p:cNvPr id="7" name="Text 5"/>
          <p:cNvSpPr/>
          <p:nvPr/>
        </p:nvSpPr>
        <p:spPr>
          <a:xfrm>
            <a:off x="1143000" y="5924486"/>
            <a:ext cx="7134255"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recurring revenue share</a:t>
            </a:r>
            <a:endParaRPr lang="en-US" sz="3000" dirty="0"/>
          </a:p>
        </p:txBody>
      </p:sp>
      <p:sp>
        <p:nvSpPr>
          <p:cNvPr id="8" name="Text 6"/>
          <p:cNvSpPr/>
          <p:nvPr/>
        </p:nvSpPr>
        <p:spPr>
          <a:xfrm>
            <a:off x="1143000" y="6419786"/>
            <a:ext cx="4285305"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Of everything your referred users pay — every month, not a one-time bounty.</a:t>
            </a:r>
            <a:endParaRPr lang="en-US" sz="2250" dirty="0"/>
          </a:p>
        </p:txBody>
      </p:sp>
      <p:sp>
        <p:nvSpPr>
          <p:cNvPr id="9" name="Text 7"/>
          <p:cNvSpPr/>
          <p:nvPr/>
        </p:nvSpPr>
        <p:spPr>
          <a:xfrm>
            <a:off x="8955286" y="4290746"/>
            <a:ext cx="8150894" cy="328017"/>
          </a:xfrm>
          <a:prstGeom prst="rect">
            <a:avLst/>
          </a:prstGeom>
          <a:noFill/>
          <a:ln/>
        </p:spPr>
        <p:txBody>
          <a:bodyPr wrap="square" lIns="25400" tIns="25400" rIns="25400" bIns="25400" rtlCol="0" anchor="t">
            <a:normAutofit/>
          </a:bodyPr>
          <a:lstStyle/>
          <a:p>
            <a:pPr algn="l" indent="0" marL="0">
              <a:lnSpc>
                <a:spcPct val="105000"/>
              </a:lnSpc>
              <a:buNone/>
            </a:pPr>
            <a:r>
              <a:rPr lang="en-US" sz="2175" b="1" spc="-22" kern="0" dirty="0">
                <a:solidFill>
                  <a:srgbClr val="000000"/>
                </a:solidFill>
                <a:latin typeface="Hanken Grotesk" pitchFamily="34" charset="0"/>
                <a:ea typeface="Hanken Grotesk" pitchFamily="34" charset="-122"/>
                <a:cs typeface="Hanken Grotesk" pitchFamily="34" charset="-120"/>
              </a:rPr>
              <a:t>You bring trust &amp; reach</a:t>
            </a:r>
            <a:endParaRPr lang="en-US" sz="2175" dirty="0"/>
          </a:p>
        </p:txBody>
      </p:sp>
      <p:sp>
        <p:nvSpPr>
          <p:cNvPr id="10" name="Text 8"/>
          <p:cNvSpPr/>
          <p:nvPr/>
        </p:nvSpPr>
        <p:spPr>
          <a:xfrm>
            <a:off x="8955286" y="4637813"/>
            <a:ext cx="81508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Your audience already listens to you on privacy. A word from you is worth more than any ad we could buy.</a:t>
            </a:r>
            <a:endParaRPr lang="en-US" sz="1800" dirty="0"/>
          </a:p>
        </p:txBody>
      </p:sp>
      <p:sp>
        <p:nvSpPr>
          <p:cNvPr id="11" name="Text 9"/>
          <p:cNvSpPr/>
          <p:nvPr/>
        </p:nvSpPr>
        <p:spPr>
          <a:xfrm>
            <a:off x="8955286" y="5754024"/>
            <a:ext cx="8150894" cy="328017"/>
          </a:xfrm>
          <a:prstGeom prst="rect">
            <a:avLst/>
          </a:prstGeom>
          <a:noFill/>
          <a:ln/>
        </p:spPr>
        <p:txBody>
          <a:bodyPr wrap="square" lIns="25400" tIns="25400" rIns="25400" bIns="25400" rtlCol="0" anchor="t">
            <a:normAutofit/>
          </a:bodyPr>
          <a:lstStyle/>
          <a:p>
            <a:pPr algn="l" indent="0" marL="0">
              <a:lnSpc>
                <a:spcPct val="105000"/>
              </a:lnSpc>
              <a:buNone/>
            </a:pPr>
            <a:r>
              <a:rPr lang="en-US" sz="2175" b="1" spc="-22" kern="0" dirty="0">
                <a:solidFill>
                  <a:srgbClr val="000000"/>
                </a:solidFill>
                <a:latin typeface="Hanken Grotesk" pitchFamily="34" charset="0"/>
                <a:ea typeface="Hanken Grotesk" pitchFamily="34" charset="-122"/>
                <a:cs typeface="Hanken Grotesk" pitchFamily="34" charset="-120"/>
              </a:rPr>
              <a:t>We run the product</a:t>
            </a:r>
            <a:endParaRPr lang="en-US" sz="2175" dirty="0"/>
          </a:p>
        </p:txBody>
      </p:sp>
      <p:sp>
        <p:nvSpPr>
          <p:cNvPr id="12" name="Text 10"/>
          <p:cNvSpPr/>
          <p:nvPr/>
        </p:nvSpPr>
        <p:spPr>
          <a:xfrm>
            <a:off x="8955286" y="6101092"/>
            <a:ext cx="81508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Hosting, support, security, updates — all handled. No infrastructure and no risk on your side.</a:t>
            </a:r>
            <a:endParaRPr lang="en-US" sz="1800" dirty="0"/>
          </a:p>
        </p:txBody>
      </p:sp>
      <p:sp>
        <p:nvSpPr>
          <p:cNvPr id="13" name="Text 11"/>
          <p:cNvSpPr/>
          <p:nvPr/>
        </p:nvSpPr>
        <p:spPr>
          <a:xfrm>
            <a:off x="8955286" y="7217302"/>
            <a:ext cx="8150894" cy="328017"/>
          </a:xfrm>
          <a:prstGeom prst="rect">
            <a:avLst/>
          </a:prstGeom>
          <a:noFill/>
          <a:ln/>
        </p:spPr>
        <p:txBody>
          <a:bodyPr wrap="square" lIns="25400" tIns="25400" rIns="25400" bIns="25400" rtlCol="0" anchor="t">
            <a:normAutofit/>
          </a:bodyPr>
          <a:lstStyle/>
          <a:p>
            <a:pPr algn="l" indent="0" marL="0">
              <a:lnSpc>
                <a:spcPct val="105000"/>
              </a:lnSpc>
              <a:buNone/>
            </a:pPr>
            <a:r>
              <a:rPr lang="en-US" sz="2175" b="1" spc="-22" kern="0" dirty="0">
                <a:solidFill>
                  <a:srgbClr val="135BFD"/>
                </a:solidFill>
                <a:latin typeface="Hanken Grotesk" pitchFamily="34" charset="0"/>
                <a:ea typeface="Hanken Grotesk" pitchFamily="34" charset="-122"/>
                <a:cs typeface="Hanken Grotesk" pitchFamily="34" charset="-120"/>
              </a:rPr>
              <a:t>Aligned by design</a:t>
            </a:r>
            <a:endParaRPr lang="en-US" sz="2175" dirty="0"/>
          </a:p>
        </p:txBody>
      </p:sp>
      <p:sp>
        <p:nvSpPr>
          <p:cNvPr id="14" name="Text 12"/>
          <p:cNvSpPr/>
          <p:nvPr/>
        </p:nvSpPr>
        <p:spPr>
          <a:xfrm>
            <a:off x="8955286" y="7564370"/>
            <a:ext cx="815089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The better Nullbox protects people, the longer they stay — and the more you earn. No upfront cost.</a:t>
            </a:r>
            <a:endParaRPr lang="en-US" sz="1800" dirty="0"/>
          </a:p>
        </p:txBody>
      </p:sp>
      <p:sp>
        <p:nvSpPr>
          <p:cNvPr id="15" name="Text 13"/>
          <p:cNvSpPr/>
          <p:nvPr/>
        </p:nvSpPr>
        <p:spPr>
          <a:xfrm>
            <a:off x="1143000" y="8623307"/>
            <a:ext cx="1474448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This is how Nullbox grows without leaning on investor capital — the users you bring fund the product.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43000" y="838200"/>
            <a:ext cx="212452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15 — THE SPLIT</a:t>
            </a:r>
            <a:endParaRPr lang="en-US" sz="1800" dirty="0"/>
          </a:p>
        </p:txBody>
      </p:sp>
      <p:sp>
        <p:nvSpPr>
          <p:cNvPr id="3" name="Text 1"/>
          <p:cNvSpPr/>
          <p:nvPr/>
        </p:nvSpPr>
        <p:spPr>
          <a:xfrm>
            <a:off x="16056769" y="838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192405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The more you grow it, the bigger your share.</a:t>
            </a:r>
            <a:endParaRPr lang="en-US" sz="6000" dirty="0"/>
          </a:p>
        </p:txBody>
      </p:sp>
      <p:sp>
        <p:nvSpPr>
          <p:cNvPr id="5" name="Text 3"/>
          <p:cNvSpPr/>
          <p:nvPr/>
        </p:nvSpPr>
        <p:spPr>
          <a:xfrm>
            <a:off x="1143000" y="2804156"/>
            <a:ext cx="9559503"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As your referred base grows, our cost to run each user falls — so we hand more of the revenue back to you.</a:t>
            </a:r>
            <a:endParaRPr lang="en-US" sz="2250" dirty="0"/>
          </a:p>
        </p:txBody>
      </p:sp>
      <p:sp>
        <p:nvSpPr>
          <p:cNvPr id="6" name="Text 4"/>
          <p:cNvSpPr/>
          <p:nvPr/>
        </p:nvSpPr>
        <p:spPr>
          <a:xfrm>
            <a:off x="1143000" y="3956681"/>
            <a:ext cx="4716018"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USERS YOU'VE REFERRED</a:t>
            </a:r>
            <a:endParaRPr lang="en-US" sz="1800" dirty="0"/>
          </a:p>
        </p:txBody>
      </p:sp>
      <p:sp>
        <p:nvSpPr>
          <p:cNvPr id="7" name="Text 5"/>
          <p:cNvSpPr/>
          <p:nvPr/>
        </p:nvSpPr>
        <p:spPr>
          <a:xfrm>
            <a:off x="6172200" y="3956681"/>
            <a:ext cx="2739112"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YOUR SHARE</a:t>
            </a:r>
            <a:endParaRPr lang="en-US" sz="1800" dirty="0"/>
          </a:p>
        </p:txBody>
      </p:sp>
      <p:sp>
        <p:nvSpPr>
          <p:cNvPr id="8" name="Text 6"/>
          <p:cNvSpPr/>
          <p:nvPr/>
        </p:nvSpPr>
        <p:spPr>
          <a:xfrm>
            <a:off x="9275415" y="3956681"/>
            <a:ext cx="2495682"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OUR SHARE</a:t>
            </a:r>
            <a:endParaRPr lang="en-US" sz="1800" dirty="0"/>
          </a:p>
        </p:txBody>
      </p:sp>
      <p:sp>
        <p:nvSpPr>
          <p:cNvPr id="9" name="Text 7"/>
          <p:cNvSpPr/>
          <p:nvPr/>
        </p:nvSpPr>
        <p:spPr>
          <a:xfrm>
            <a:off x="12142291" y="3956681"/>
            <a:ext cx="4931048"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OUR RUN COST / USER</a:t>
            </a:r>
            <a:endParaRPr lang="en-US" sz="1800" dirty="0"/>
          </a:p>
        </p:txBody>
      </p:sp>
      <p:sp>
        <p:nvSpPr>
          <p:cNvPr id="10" name="Text 8"/>
          <p:cNvSpPr/>
          <p:nvPr/>
        </p:nvSpPr>
        <p:spPr>
          <a:xfrm>
            <a:off x="1143000" y="450436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 – 1,000</a:t>
            </a:r>
            <a:endParaRPr lang="en-US" sz="1800" dirty="0"/>
          </a:p>
        </p:txBody>
      </p:sp>
      <p:sp>
        <p:nvSpPr>
          <p:cNvPr id="11" name="Text 9"/>
          <p:cNvSpPr/>
          <p:nvPr/>
        </p:nvSpPr>
        <p:spPr>
          <a:xfrm>
            <a:off x="6172200" y="4504369"/>
            <a:ext cx="273911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30%</a:t>
            </a:r>
            <a:endParaRPr lang="en-US" sz="1800" dirty="0"/>
          </a:p>
        </p:txBody>
      </p:sp>
      <p:sp>
        <p:nvSpPr>
          <p:cNvPr id="12" name="Text 10"/>
          <p:cNvSpPr/>
          <p:nvPr/>
        </p:nvSpPr>
        <p:spPr>
          <a:xfrm>
            <a:off x="9275415" y="4504369"/>
            <a:ext cx="249568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70%</a:t>
            </a:r>
            <a:endParaRPr lang="en-US" sz="1800" dirty="0"/>
          </a:p>
        </p:txBody>
      </p:sp>
      <p:sp>
        <p:nvSpPr>
          <p:cNvPr id="13" name="Text 11"/>
          <p:cNvSpPr/>
          <p:nvPr/>
        </p:nvSpPr>
        <p:spPr>
          <a:xfrm>
            <a:off x="12142291" y="4504369"/>
            <a:ext cx="493104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~$0.30</a:t>
            </a:r>
            <a:endParaRPr lang="en-US" sz="1800" dirty="0"/>
          </a:p>
        </p:txBody>
      </p:sp>
      <p:sp>
        <p:nvSpPr>
          <p:cNvPr id="14" name="Text 12"/>
          <p:cNvSpPr/>
          <p:nvPr/>
        </p:nvSpPr>
        <p:spPr>
          <a:xfrm>
            <a:off x="1143000" y="505681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1,000 – 10,000</a:t>
            </a:r>
            <a:endParaRPr lang="en-US" sz="1800" dirty="0"/>
          </a:p>
        </p:txBody>
      </p:sp>
      <p:sp>
        <p:nvSpPr>
          <p:cNvPr id="15" name="Text 13"/>
          <p:cNvSpPr/>
          <p:nvPr/>
        </p:nvSpPr>
        <p:spPr>
          <a:xfrm>
            <a:off x="6172200" y="5056819"/>
            <a:ext cx="273911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40%</a:t>
            </a:r>
            <a:endParaRPr lang="en-US" sz="1800" dirty="0"/>
          </a:p>
        </p:txBody>
      </p:sp>
      <p:sp>
        <p:nvSpPr>
          <p:cNvPr id="16" name="Text 14"/>
          <p:cNvSpPr/>
          <p:nvPr/>
        </p:nvSpPr>
        <p:spPr>
          <a:xfrm>
            <a:off x="9275415" y="5056819"/>
            <a:ext cx="249568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60%</a:t>
            </a:r>
            <a:endParaRPr lang="en-US" sz="1800" dirty="0"/>
          </a:p>
        </p:txBody>
      </p:sp>
      <p:sp>
        <p:nvSpPr>
          <p:cNvPr id="17" name="Text 15"/>
          <p:cNvSpPr/>
          <p:nvPr/>
        </p:nvSpPr>
        <p:spPr>
          <a:xfrm>
            <a:off x="12142291" y="5056819"/>
            <a:ext cx="493104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8" name="Text 16"/>
          <p:cNvSpPr/>
          <p:nvPr/>
        </p:nvSpPr>
        <p:spPr>
          <a:xfrm>
            <a:off x="1143000" y="560926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10,000 – 100,000</a:t>
            </a:r>
            <a:endParaRPr lang="en-US" sz="1800" dirty="0"/>
          </a:p>
        </p:txBody>
      </p:sp>
      <p:sp>
        <p:nvSpPr>
          <p:cNvPr id="19" name="Text 17"/>
          <p:cNvSpPr/>
          <p:nvPr/>
        </p:nvSpPr>
        <p:spPr>
          <a:xfrm>
            <a:off x="6172200" y="5609269"/>
            <a:ext cx="273911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45%</a:t>
            </a:r>
            <a:endParaRPr lang="en-US" sz="1800" dirty="0"/>
          </a:p>
        </p:txBody>
      </p:sp>
      <p:sp>
        <p:nvSpPr>
          <p:cNvPr id="20" name="Text 18"/>
          <p:cNvSpPr/>
          <p:nvPr/>
        </p:nvSpPr>
        <p:spPr>
          <a:xfrm>
            <a:off x="9275415" y="5609269"/>
            <a:ext cx="249568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55%</a:t>
            </a:r>
            <a:endParaRPr lang="en-US" sz="1800" dirty="0"/>
          </a:p>
        </p:txBody>
      </p:sp>
      <p:sp>
        <p:nvSpPr>
          <p:cNvPr id="21" name="Text 19"/>
          <p:cNvSpPr/>
          <p:nvPr/>
        </p:nvSpPr>
        <p:spPr>
          <a:xfrm>
            <a:off x="12142291" y="5609269"/>
            <a:ext cx="493104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~$0.02</a:t>
            </a:r>
            <a:endParaRPr lang="en-US" sz="1800" dirty="0"/>
          </a:p>
        </p:txBody>
      </p:sp>
      <p:sp>
        <p:nvSpPr>
          <p:cNvPr id="22" name="Text 20"/>
          <p:cNvSpPr/>
          <p:nvPr/>
        </p:nvSpPr>
        <p:spPr>
          <a:xfrm>
            <a:off x="1371600" y="6161719"/>
            <a:ext cx="4487418"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100,000+</a:t>
            </a:r>
            <a:endParaRPr lang="en-US" sz="1800" dirty="0"/>
          </a:p>
        </p:txBody>
      </p:sp>
      <p:sp>
        <p:nvSpPr>
          <p:cNvPr id="23" name="Text 21"/>
          <p:cNvSpPr/>
          <p:nvPr/>
        </p:nvSpPr>
        <p:spPr>
          <a:xfrm>
            <a:off x="6172200" y="6161719"/>
            <a:ext cx="273911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50%</a:t>
            </a:r>
            <a:endParaRPr lang="en-US" sz="1800" dirty="0"/>
          </a:p>
        </p:txBody>
      </p:sp>
      <p:sp>
        <p:nvSpPr>
          <p:cNvPr id="24" name="Text 22"/>
          <p:cNvSpPr/>
          <p:nvPr/>
        </p:nvSpPr>
        <p:spPr>
          <a:xfrm>
            <a:off x="9275415" y="6161719"/>
            <a:ext cx="249568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50%</a:t>
            </a:r>
            <a:endParaRPr lang="en-US" sz="1800" dirty="0"/>
          </a:p>
        </p:txBody>
      </p:sp>
      <p:sp>
        <p:nvSpPr>
          <p:cNvPr id="25" name="Text 23"/>
          <p:cNvSpPr/>
          <p:nvPr/>
        </p:nvSpPr>
        <p:spPr>
          <a:xfrm>
            <a:off x="12142291" y="6161719"/>
            <a:ext cx="4931048"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~$0.01</a:t>
            </a:r>
            <a:endParaRPr lang="en-US" sz="1800" dirty="0"/>
          </a:p>
        </p:txBody>
      </p:sp>
      <p:sp>
        <p:nvSpPr>
          <p:cNvPr id="26" name="Text 24"/>
          <p:cNvSpPr/>
          <p:nvPr/>
        </p:nvSpPr>
        <p:spPr>
          <a:xfrm>
            <a:off x="1438275" y="7255405"/>
            <a:ext cx="2835767"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Recurring, not one-off</a:t>
            </a:r>
            <a:endParaRPr lang="en-US" sz="2250" dirty="0"/>
          </a:p>
        </p:txBody>
      </p:sp>
      <p:sp>
        <p:nvSpPr>
          <p:cNvPr id="27" name="Text 25"/>
          <p:cNvSpPr/>
          <p:nvPr/>
        </p:nvSpPr>
        <p:spPr>
          <a:xfrm>
            <a:off x="4477196" y="7005374"/>
            <a:ext cx="1274370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You earn your share every month a referred user stays — and reaching a higher tier lifts the rate across your </a:t>
            </a:r>
            <a:pPr algn="l" indent="0" marL="0">
              <a:lnSpc>
                <a:spcPct val="140000"/>
              </a:lnSpc>
              <a:buNone/>
            </a:pPr>
            <a:r>
              <a:rPr lang="en-US" sz="2250" b="1" dirty="0">
                <a:solidFill>
                  <a:srgbClr val="000000"/>
                </a:solidFill>
                <a:latin typeface="Hanken Grotesk" pitchFamily="34" charset="0"/>
                <a:ea typeface="Hanken Grotesk" pitchFamily="34" charset="-122"/>
                <a:cs typeface="Hanken Grotesk" pitchFamily="34" charset="-120"/>
              </a:rPr>
              <a:t>entire </a:t>
            </a:r>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base, not just the new users.</a:t>
            </a:r>
            <a:endParaRPr lang="en-US" sz="2250" dirty="0"/>
          </a:p>
        </p:txBody>
      </p:sp>
      <p:sp>
        <p:nvSpPr>
          <p:cNvPr id="28" name="Text 26"/>
          <p:cNvSpPr/>
          <p:nvPr/>
        </p:nvSpPr>
        <p:spPr>
          <a:xfrm>
            <a:off x="1143000" y="8179360"/>
            <a:ext cx="1576633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Share applies to revenue from users you refer. Run cost/user illustrative — it falls as the platform scales.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838200"/>
            <a:ext cx="1386334" cy="381000"/>
          </a:xfrm>
          <a:prstGeom prst="rect">
            <a:avLst/>
          </a:prstGeom>
        </p:spPr>
      </p:pic>
      <p:sp>
        <p:nvSpPr>
          <p:cNvPr id="3" name="Text 0"/>
          <p:cNvSpPr/>
          <p:nvPr/>
        </p:nvSpPr>
        <p:spPr>
          <a:xfrm>
            <a:off x="14218890" y="881063"/>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16 — WHERE THIS GOES</a:t>
            </a:r>
            <a:endParaRPr lang="en-US" sz="1800" dirty="0"/>
          </a:p>
        </p:txBody>
      </p:sp>
      <p:sp>
        <p:nvSpPr>
          <p:cNvPr id="4" name="Text 1"/>
          <p:cNvSpPr/>
          <p:nvPr/>
        </p:nvSpPr>
        <p:spPr>
          <a:xfrm>
            <a:off x="1143000" y="3241116"/>
            <a:ext cx="11603358" cy="17145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0000"/>
                </a:solidFill>
                <a:latin typeface="Hanken Grotesk" pitchFamily="34" charset="0"/>
                <a:ea typeface="Hanken Grotesk" pitchFamily="34" charset="-122"/>
                <a:cs typeface="Hanken Grotesk" pitchFamily="34" charset="-120"/>
              </a:rPr>
              <a:t>An inbox you actually control — and never have to hand out.</a:t>
            </a:r>
            <a:endParaRPr lang="en-US" sz="6600" dirty="0"/>
          </a:p>
        </p:txBody>
      </p:sp>
      <p:sp>
        <p:nvSpPr>
          <p:cNvPr id="5" name="Text 2"/>
          <p:cNvSpPr/>
          <p:nvPr/>
        </p:nvSpPr>
        <p:spPr>
          <a:xfrm>
            <a:off x="1143000" y="5261108"/>
            <a:ext cx="8350788" cy="1471315"/>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Spam stops being your problem. Trust becomes a decision you make once. And your real address stays yours.</a:t>
            </a:r>
            <a:endParaRPr lang="en-US" sz="2850" dirty="0"/>
          </a:p>
        </p:txBody>
      </p:sp>
      <p:sp>
        <p:nvSpPr>
          <p:cNvPr id="6" name="Text 3"/>
          <p:cNvSpPr/>
          <p:nvPr/>
        </p:nvSpPr>
        <p:spPr>
          <a:xfrm>
            <a:off x="1143000" y="9051939"/>
            <a:ext cx="4357966"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Live now at </a:t>
            </a:r>
            <a:pPr algn="l" indent="0" marL="0">
              <a:lnSpc>
                <a:spcPct val="105000"/>
              </a:lnSpc>
              <a:buNone/>
            </a:pPr>
            <a:r>
              <a:rPr lang="en-US" sz="3000" b="1" spc="-30" kern="0" dirty="0">
                <a:solidFill>
                  <a:srgbClr val="135BFD"/>
                </a:solidFill>
                <a:latin typeface="Hanken Grotesk" pitchFamily="34" charset="0"/>
                <a:ea typeface="Hanken Grotesk" pitchFamily="34" charset="-122"/>
                <a:cs typeface="Hanken Grotesk" pitchFamily="34" charset="-120"/>
              </a:rPr>
              <a:t>nullbox.email</a:t>
            </a:r>
            <a:endParaRPr lang="en-US" sz="3000" dirty="0"/>
          </a:p>
        </p:txBody>
      </p:sp>
      <p:sp>
        <p:nvSpPr>
          <p:cNvPr id="7" name="Text 4"/>
          <p:cNvSpPr/>
          <p:nvPr/>
        </p:nvSpPr>
        <p:spPr>
          <a:xfrm>
            <a:off x="9774882" y="9104326"/>
            <a:ext cx="759122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info@xwz9fa.nullbox.email · github.com/nullbox-email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2026-06-05T02:52:39Z</dcterms:created>
  <dcterms:modified xsi:type="dcterms:W3CDTF">2026-06-05T02:52:39Z</dcterms:modified>
</cp:coreProperties>
</file>