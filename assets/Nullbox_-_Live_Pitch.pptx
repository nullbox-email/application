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Stephan, and this is Nullbox. The simplest way to describe it: Nullbox gives you a unique email address for every service you sign up to, and quietly forwards the good mail to the inbox you already use. The part I care most about is on the right of this slide — we decide what reaches you based on metadata alone. We never open your mail. So as we go through this, hold onto two words: aliases, and trust. Everything else follows from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because we all live it. Your email address is a permanent, public identifier — you hand the same one to every service, so the moment any of them leaks it, every one of them can be spammed or phished, and you can't take it back. Blocking doesn't fix that: block one sender and the next just walks through, and you can't rotate the inbox everything is tied to. The scale is staggering — three hundred and seventy-six billion emails a day, nearly half of them spam, three and a half billion phishing attempts daily, now written flawlessly by AI. The real fix isn't a smarter filter. It's never handing out your real address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Nullbox actually is. Every service gets its own fresh alias on your private domain. Nullbox sits in the middle and forwards, quarantines, or drops — per alias, on your terms. And on the right: your real inbox, completely unchanged. Gmail, Outlook, Proton, whatever you use. Nothing to migrate. The line I'd underline is at the bottom: Nullbox doesn't replace your inbox, it sits in front of it. If one alias starts getting spam, you disable or rotate it and nothing else is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makes us different — trust. Most relays forward everything and ask you to trust them with it. We built Nullbox so there's far less to trust in the first place. Three things. One: we never open your mail — routing uses a limited set of headers, including the sender, and the body is never read. Two: decide, then trust — unknown senders are quarantined, not delivered. Three: minimal by default — no long-term content storage, and we delete routing logs every ninety days. Less data held means less that can ever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favourite slide, because it's where trust becomes something you can feel — so let me tell it as a story. A stranger emails you for the first time. Instead of landing in your inbox, the message is held to one side, locked away, and — this matters — we genuinely can't read it. When you're ready, only you can open it, privately, right in your browser. And then you make one decision: trust this sender, and their mail flows through from now on, or block them, and you never hear from them again. It's a single choice per sender, and we keep no lasting record of it — the whole trust history is wiped every ninety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the model pays off in ways a spam filter never can — it designs out whole classes of attack. First, phishing. Look at the example: paypal.com versus a second address where one letter has been swapped for a look-alike from another alphabet — to your eye they're identical. That's how a lot of phishing works. Nullbox spots that trickery and stops it before it can fool your eye, because it checks who you've actually trusted, not how the address looks. Second, data brokers: if a company sells your details, the buyer's mail simply never reaches your inbox — and because that company had its own unique alias, you know exactly who sold you out. Third, breaches: a unique address per site means a login leaked in one breach can't be reused to break into your accounts everywhere else. And for organisations, point a custom domain at us and you get that phishing protection on ordinary business email — no aliasing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Three forces are lining up. First, AI has made phishing explode — reports were up over four hundred percent in early 2025, and you can't spot it by bad grammar anymore. Second, regulation and sovereignty — GDPR, NIS2, data-residency rules are pushing organisations toward minimal-data, privacy-first tools, which is exactly what we are. Third, plain fatigue — four point six billion people have an inbox, and they're each losing about three hours a week to spam. People want control back, and the tools to give it to them are finally mature.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Aliasing itself isn't new — Apple, Firefox, SimpleLogin, DuckDuckGo all do a version of it, and credit to them for normalising it. But look across the columns. They forward and trust. None of them combine never reading content, quarantine-and-trust, and automatic phishing defense. That row at the bottom is the gap we sit in. We decide first, we process the least, and we run wherever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question investors always ask — what's the moat, and doesn't open source give it away? Our answer is that we're open-core. The personal, lite version of Nullbox is open source and self-hostable under the Elastic License, so anyone can audit exactly how we treat their mail — and in a privacy product, that verifiability is how you earn trust. But the part that creates the value stays commercial: the trusted-sender intelligence, the quarantine service, the team and admin tools, and our managed cloud. That gives us three ways to make money — managed-cloud subscriptions for the ninety-odd percent who'd rather we run it, commercial licences for businesses and government running it in production, and support and deployment contracts on top. The transparency builds the trust; the licence and the hosting capture the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market — let me be clear about what these numbers are. The big one on the left: four point six billion people use email, so the base of people with this problem is basically everyone. On the right is the market we actually sell into — what the world spends every year on email-security products. That's about six billion US dollars today, forecast to roughly double to fourteen billion over the next decade, growing around ten percent a year. To be clear, that's spending on protection, not losses to fraud. These are third-party estimates and I've labelled them as such. Our wedge is to start with privacy-first consumers, where we already have pull, and grow into organisations and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have we actually done — and I want to be completely honest here. We've done essentially no marketing: about ten comments on a few privacy subreddits last December. That's it. From just that, we have twenty-three active users, sixty-two aliases, and five hundred and fifty-one real emails relayed through the system. Of those, five hundred and seventeen were forwarded from trusted senders, sixteen quarantined, eighteen dropped — which is the trust model working exactly as designed, in the wild. These are small, early-beta numbers and I won't dress them up. The point is the ratio: this is what organic pull looks like before we've spent a single cent on 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freemium with three tiers, and the prices are real. Free keeps you protected — one mailbox, ten aliases, a hundred megabytes a month — enough to leave your real address behind. Plus, at three dollars a month, gives you five mailboxes, fifty aliases and a gigabyte; it's the plan most people land on. Pro, at five dollars, is unlimited mailboxes and aliases with ten gigs and faster support. And for organisations there's Team, at eight dollars a seat, with self-hosting available for sovereign deployments. Free drives adoption and trust; the paid tiers fund the relay.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economics are genuinely good. The entire platform runs on about two hundred and eighty US dollars a month today — one small Azure cluster plus Mailgun. A free account costs us roughly five cents a month, so every paying user carries a whole crowd of free ones; one Plus subscriber alone covers around sixty. Cost per user collapses as we scale — from a few dollars today down to about five cents at ten thousand users. And the max-CAC column shows the headroom: we could spend thirty to ninety-five dollars to win a user and still break even within a year — though, as the growth plan shows, we intend to acquire for a fraction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the discipline on growth. At a few dollars a month, broad paid advertising simply doesn't pay back, so I'm not going to stand here and tell you we'll buy our way to a hundred thousand users. Instead it's low-CAC and trust-led, and we only spend where the payback is inside six to twelve months. The first hundred customers are founder- and community-led, to prove willingness to pay. From a hundred to a thousand we add only high-intent acquisition — search, comparison pages against SimpleLogin and the rest, retargeting — plus pilots with the champions in this room. From a thousand to ten thousand it compounds through SEO, referrals and partnerships. Only at real scale do we layer in selective paid, always capped by payback. That discipline is exactly what this raise buys time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on who's building this. It's me — Stephan Johnson — and I'll tell you the moment this became personal. I've been building software for thirty years; from twenty-fifteen to twenty-nineteen I was the only developer behind Makro dot co dot za, one of South Africa's largest retailers. And there I watched the company quietly send customers' in-store purchases — tied to the loyalty card you need just to walk in the door — straight to Facebook and Google. Nobody had knowingly agreed to that. You might accept you have no privacy online, but you'd never expect a physical shop to leak your real-world life to ad platforms. That breach — the digital world reaching into the physical one — is why I walked away, and why I built Nullbox. Privacy isn't a feature to me, it's a right. I built it alone, end to end; the first thing this raise does is bring on a developer and a support lead so it can grow beyond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ask. I'm raising five hundred thousand New Zealand dollars at pre-seed, for around eighteen months of runway. The team is based in South Africa, which is deliberate — the same money buys far more engineering and support time, so this stretches further than it would anywhere else. Just over forty percent goes to the team, a developer and a support lead. About a fifth lets me work on this full-time. A quarter goes to a focused, payback-disciplined marketing push, and the rest to infrastructure and a small contingency. This isn't a number to make a splash; it's sized to reach real, fundable growth without me back here raising in six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leave you with the picture of where this goes. An inbox you actually control, and an address you never have to hand out. Spam stops being your problem. Trust becomes a decision you make once, deliberately. And your real address simply stays yours. And this isn't a someday — Nullbox is live right now at nullbox dot email; you could create your first alias before you leave the room. If you can help — by backing us, or by opening doors inside the privacy and government world — let's protect the next million inboxes together. Thank you. My contact's on the screen, and I'd love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3000" y="1090613"/>
            <a:ext cx="1455688" cy="400050"/>
          </a:xfrm>
          <a:prstGeom prst="rect">
            <a:avLst/>
          </a:prstGeom>
        </p:spPr>
      </p:pic>
      <p:sp>
        <p:nvSpPr>
          <p:cNvPr id="3" name="Shape 0"/>
          <p:cNvSpPr/>
          <p:nvPr/>
        </p:nvSpPr>
        <p:spPr>
          <a:xfrm rot="2700000">
            <a:off x="13797111" y="1243013"/>
            <a:ext cx="95250" cy="95250"/>
          </a:xfrm>
          <a:prstGeom prst="rect">
            <a:avLst/>
          </a:prstGeom>
          <a:solidFill>
            <a:srgbClr val="135BFD"/>
          </a:solidFill>
          <a:ln/>
        </p:spPr>
      </p:sp>
      <p:sp>
        <p:nvSpPr>
          <p:cNvPr id="4" name="Text 1"/>
          <p:cNvSpPr/>
          <p:nvPr/>
        </p:nvSpPr>
        <p:spPr>
          <a:xfrm>
            <a:off x="13987611" y="1143000"/>
            <a:ext cx="3065706"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Investor brief · 2026</a:t>
            </a:r>
            <a:endParaRPr lang="en-US" sz="1800" dirty="0"/>
          </a:p>
        </p:txBody>
      </p:sp>
      <p:sp>
        <p:nvSpPr>
          <p:cNvPr id="5" name="Text 2"/>
          <p:cNvSpPr/>
          <p:nvPr/>
        </p:nvSpPr>
        <p:spPr>
          <a:xfrm>
            <a:off x="1143000" y="2824163"/>
            <a:ext cx="9025890"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EMAIL PRIVACY, BUILT ON TRUST</a:t>
            </a:r>
            <a:endParaRPr lang="en-US" sz="1800" dirty="0"/>
          </a:p>
        </p:txBody>
      </p:sp>
      <p:sp>
        <p:nvSpPr>
          <p:cNvPr id="6" name="Text 3"/>
          <p:cNvSpPr/>
          <p:nvPr/>
        </p:nvSpPr>
        <p:spPr>
          <a:xfrm>
            <a:off x="1143000" y="3195638"/>
            <a:ext cx="9025890" cy="2671465"/>
          </a:xfrm>
          <a:prstGeom prst="rect">
            <a:avLst/>
          </a:prstGeom>
          <a:noFill/>
          <a:ln/>
        </p:spPr>
        <p:txBody>
          <a:bodyPr wrap="square" lIns="25400" tIns="25400" rIns="25400" bIns="25400" rtlCol="0" anchor="t">
            <a:normAutofit/>
          </a:bodyPr>
          <a:lstStyle/>
          <a:p>
            <a:pPr algn="l" indent="0" marL="0">
              <a:lnSpc>
                <a:spcPct val="96000"/>
              </a:lnSpc>
              <a:buNone/>
            </a:pPr>
            <a:r>
              <a:rPr lang="en-US" sz="7200" b="1" spc="-216" kern="0" dirty="0">
                <a:solidFill>
                  <a:srgbClr val="000000"/>
                </a:solidFill>
                <a:latin typeface="Hanken Grotesk" pitchFamily="34" charset="0"/>
                <a:ea typeface="Hanken Grotesk" pitchFamily="34" charset="-122"/>
                <a:cs typeface="Hanken Grotesk" pitchFamily="34" charset="-120"/>
              </a:rPr>
              <a:t>Aliases that protect your inbox </a:t>
            </a:r>
            <a:pPr algn="l" indent="0" marL="0">
              <a:lnSpc>
                <a:spcPct val="96000"/>
              </a:lnSpc>
              <a:buNone/>
            </a:pPr>
            <a:r>
              <a:rPr lang="en-US" sz="7200" b="1" spc="-216" kern="0" dirty="0">
                <a:solidFill>
                  <a:srgbClr val="135BFD"/>
                </a:solidFill>
                <a:latin typeface="Hanken Grotesk" pitchFamily="34" charset="0"/>
                <a:ea typeface="Hanken Grotesk" pitchFamily="34" charset="-122"/>
                <a:cs typeface="Hanken Grotesk" pitchFamily="34" charset="-120"/>
              </a:rPr>
              <a:t>without replacing it.</a:t>
            </a:r>
            <a:endParaRPr lang="en-US" sz="7200" dirty="0"/>
          </a:p>
        </p:txBody>
      </p:sp>
      <p:sp>
        <p:nvSpPr>
          <p:cNvPr id="7" name="Text 4"/>
          <p:cNvSpPr/>
          <p:nvPr/>
        </p:nvSpPr>
        <p:spPr>
          <a:xfrm>
            <a:off x="1143000" y="6152852"/>
            <a:ext cx="5933511" cy="1395859"/>
          </a:xfrm>
          <a:prstGeom prst="rect">
            <a:avLst/>
          </a:prstGeom>
          <a:noFill/>
          <a:ln/>
        </p:spPr>
        <p:txBody>
          <a:bodyPr wrap="square" lIns="25400" tIns="25400" rIns="25400" bIns="25400" rtlCol="0" anchor="t">
            <a:normAutofit/>
          </a:bodyPr>
          <a:lstStyle/>
          <a:p>
            <a:pPr algn="l" indent="0" marL="0">
              <a:lnSpc>
                <a:spcPct val="132000"/>
              </a:lnSpc>
              <a:buNone/>
            </a:pPr>
            <a:r>
              <a:rPr lang="en-US" sz="2700" dirty="0">
                <a:solidFill>
                  <a:srgbClr val="000000"/>
                </a:solidFill>
                <a:latin typeface="Hanken Grotesk" pitchFamily="34" charset="0"/>
                <a:ea typeface="Hanken Grotesk" pitchFamily="34" charset="-122"/>
                <a:cs typeface="Hanken Grotesk" pitchFamily="34" charset="-120"/>
              </a:rPr>
              <a:t>A unique address for every service. We route on metadata alone — and never open your mail.</a:t>
            </a:r>
            <a:endParaRPr lang="en-US" sz="2700" dirty="0"/>
          </a:p>
        </p:txBody>
      </p:sp>
      <p:sp>
        <p:nvSpPr>
          <p:cNvPr id="8" name="Text 5"/>
          <p:cNvSpPr/>
          <p:nvPr/>
        </p:nvSpPr>
        <p:spPr>
          <a:xfrm>
            <a:off x="10944225" y="3262313"/>
            <a:ext cx="310816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shop@m3k.nullbox.email</a:t>
            </a:r>
            <a:endParaRPr lang="en-US" sz="1800" dirty="0"/>
          </a:p>
        </p:txBody>
      </p:sp>
      <p:sp>
        <p:nvSpPr>
          <p:cNvPr id="9" name="Text 6"/>
          <p:cNvSpPr/>
          <p:nvPr/>
        </p:nvSpPr>
        <p:spPr>
          <a:xfrm>
            <a:off x="14811226" y="3252788"/>
            <a:ext cx="2133749" cy="35242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 you@proton.me</a:t>
            </a:r>
            <a:endParaRPr lang="en-US" sz="1800" dirty="0"/>
          </a:p>
        </p:txBody>
      </p:sp>
      <p:sp>
        <p:nvSpPr>
          <p:cNvPr id="10" name="Text 7"/>
          <p:cNvSpPr/>
          <p:nvPr/>
        </p:nvSpPr>
        <p:spPr>
          <a:xfrm>
            <a:off x="10944225" y="3919537"/>
            <a:ext cx="6118289" cy="333375"/>
          </a:xfrm>
          <a:prstGeom prst="rect">
            <a:avLst/>
          </a:prstGeom>
          <a:noFill/>
          <a:ln/>
        </p:spPr>
        <p:txBody>
          <a:bodyPr wrap="square" lIns="25400" tIns="25400" rIns="25400" bIns="25400" rtlCol="0" anchor="t">
            <a:normAutofit/>
          </a:bodyPr>
          <a:lstStyle/>
          <a:p>
            <a:pPr algn="l" indent="0" marL="0">
              <a:buNone/>
            </a:pPr>
            <a:r>
              <a:rPr lang="en-US" sz="1800" spc="54" kern="0" dirty="0">
                <a:solidFill>
                  <a:srgbClr val="000000"/>
                </a:solidFill>
                <a:latin typeface="JetBrains Mono" pitchFamily="34" charset="0"/>
                <a:ea typeface="JetBrains Mono" pitchFamily="34" charset="-122"/>
                <a:cs typeface="JetBrains Mono" pitchFamily="34" charset="-120"/>
              </a:rPr>
              <a:t>senders to this alias</a:t>
            </a:r>
            <a:endParaRPr lang="en-US" sz="1800" dirty="0"/>
          </a:p>
        </p:txBody>
      </p:sp>
      <p:sp>
        <p:nvSpPr>
          <p:cNvPr id="11" name="Text 8"/>
          <p:cNvSpPr/>
          <p:nvPr/>
        </p:nvSpPr>
        <p:spPr>
          <a:xfrm>
            <a:off x="10944225" y="4633913"/>
            <a:ext cx="25451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orders@shopify.com</a:t>
            </a:r>
            <a:endParaRPr lang="en-US" sz="1800" dirty="0"/>
          </a:p>
        </p:txBody>
      </p:sp>
      <p:sp>
        <p:nvSpPr>
          <p:cNvPr id="12" name="Shape 9"/>
          <p:cNvSpPr/>
          <p:nvPr/>
        </p:nvSpPr>
        <p:spPr>
          <a:xfrm>
            <a:off x="15269319" y="4738688"/>
            <a:ext cx="85725" cy="85725"/>
          </a:xfrm>
          <a:prstGeom prst="ellipse">
            <a:avLst/>
          </a:prstGeom>
          <a:solidFill>
            <a:srgbClr val="135BFD"/>
          </a:solidFill>
          <a:ln/>
        </p:spPr>
      </p:sp>
      <p:sp>
        <p:nvSpPr>
          <p:cNvPr id="13" name="Text 10"/>
          <p:cNvSpPr/>
          <p:nvPr/>
        </p:nvSpPr>
        <p:spPr>
          <a:xfrm>
            <a:off x="15450294" y="4633913"/>
            <a:ext cx="135180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forwarded</a:t>
            </a:r>
            <a:endParaRPr lang="en-US" sz="1800" dirty="0"/>
          </a:p>
        </p:txBody>
      </p:sp>
      <p:sp>
        <p:nvSpPr>
          <p:cNvPr id="14" name="Text 11"/>
          <p:cNvSpPr/>
          <p:nvPr/>
        </p:nvSpPr>
        <p:spPr>
          <a:xfrm>
            <a:off x="10944225" y="5491163"/>
            <a:ext cx="25451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orders@shopify.com</a:t>
            </a:r>
            <a:endParaRPr lang="en-US" sz="1800" dirty="0"/>
          </a:p>
        </p:txBody>
      </p:sp>
      <p:sp>
        <p:nvSpPr>
          <p:cNvPr id="15" name="Shape 12"/>
          <p:cNvSpPr/>
          <p:nvPr/>
        </p:nvSpPr>
        <p:spPr>
          <a:xfrm>
            <a:off x="15269319" y="5595938"/>
            <a:ext cx="85725" cy="85725"/>
          </a:xfrm>
          <a:prstGeom prst="ellipse">
            <a:avLst/>
          </a:prstGeom>
          <a:solidFill>
            <a:srgbClr val="135BFD"/>
          </a:solidFill>
          <a:ln/>
        </p:spPr>
      </p:sp>
      <p:sp>
        <p:nvSpPr>
          <p:cNvPr id="16" name="Text 13"/>
          <p:cNvSpPr/>
          <p:nvPr/>
        </p:nvSpPr>
        <p:spPr>
          <a:xfrm>
            <a:off x="15450294" y="5491163"/>
            <a:ext cx="135180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forwarded</a:t>
            </a:r>
            <a:endParaRPr lang="en-US" sz="1800" dirty="0"/>
          </a:p>
        </p:txBody>
      </p:sp>
      <p:sp>
        <p:nvSpPr>
          <p:cNvPr id="17" name="Text 14"/>
          <p:cNvSpPr/>
          <p:nvPr/>
        </p:nvSpPr>
        <p:spPr>
          <a:xfrm>
            <a:off x="10944225" y="6281738"/>
            <a:ext cx="4005852" cy="6286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verify@shopify-secure-billing.net</a:t>
            </a:r>
            <a:endParaRPr lang="en-US" sz="1800" dirty="0"/>
          </a:p>
        </p:txBody>
      </p:sp>
      <p:sp>
        <p:nvSpPr>
          <p:cNvPr id="18" name="Shape 15"/>
          <p:cNvSpPr/>
          <p:nvPr/>
        </p:nvSpPr>
        <p:spPr>
          <a:xfrm rot="2700000">
            <a:off x="14976277" y="6529388"/>
            <a:ext cx="95250" cy="95250"/>
          </a:xfrm>
          <a:prstGeom prst="rect">
            <a:avLst/>
          </a:prstGeom>
          <a:solidFill>
            <a:srgbClr val="135BFD"/>
          </a:solidFill>
          <a:ln/>
        </p:spPr>
      </p:sp>
      <p:sp>
        <p:nvSpPr>
          <p:cNvPr id="19" name="Text 16"/>
          <p:cNvSpPr/>
          <p:nvPr/>
        </p:nvSpPr>
        <p:spPr>
          <a:xfrm>
            <a:off x="15166777" y="6429375"/>
            <a:ext cx="1635323"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quarantined</a:t>
            </a:r>
            <a:endParaRPr lang="en-US" sz="1800" dirty="0"/>
          </a:p>
        </p:txBody>
      </p:sp>
      <p:sp>
        <p:nvSpPr>
          <p:cNvPr id="20" name="Text 17"/>
          <p:cNvSpPr/>
          <p:nvPr/>
        </p:nvSpPr>
        <p:spPr>
          <a:xfrm>
            <a:off x="1143000" y="8801100"/>
            <a:ext cx="6715305"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Built on Cloudflare + .NET · Privacy by design</a:t>
            </a:r>
            <a:endParaRPr lang="en-US" sz="1800" dirty="0"/>
          </a:p>
        </p:txBody>
      </p:sp>
      <p:sp>
        <p:nvSpPr>
          <p:cNvPr id="21" name="Text 18"/>
          <p:cNvSpPr/>
          <p:nvPr/>
        </p:nvSpPr>
        <p:spPr>
          <a:xfrm>
            <a:off x="1143000" y="9153525"/>
            <a:ext cx="3503664"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github.com/nullbox-email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143000" y="1047750"/>
            <a:ext cx="2417118"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01 — THE PROBLEM</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9669414" cy="153144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Your inbox problem isn't spam. It's exposure.</a:t>
            </a:r>
            <a:endParaRPr lang="en-US" sz="6000" dirty="0"/>
          </a:p>
        </p:txBody>
      </p:sp>
      <p:sp>
        <p:nvSpPr>
          <p:cNvPr id="5" name="Text 3"/>
          <p:cNvSpPr/>
          <p:nvPr/>
        </p:nvSpPr>
        <p:spPr>
          <a:xfrm>
            <a:off x="1143000" y="3665041"/>
            <a:ext cx="10856208" cy="1949053"/>
          </a:xfrm>
          <a:prstGeom prst="rect">
            <a:avLst/>
          </a:prstGeom>
          <a:noFill/>
          <a:ln/>
        </p:spPr>
        <p:txBody>
          <a:bodyPr wrap="square" lIns="25400" tIns="25400" rIns="25400" bIns="25400" rtlCol="0" anchor="t">
            <a:normAutofit/>
          </a:bodyPr>
          <a:lstStyle/>
          <a:p>
            <a:pPr algn="l" indent="0" marL="0">
              <a:lnSpc>
                <a:spcPct val="132000"/>
              </a:lnSpc>
              <a:buNone/>
            </a:pPr>
            <a:r>
              <a:rPr lang="en-US" sz="2850" dirty="0">
                <a:solidFill>
                  <a:srgbClr val="000000"/>
                </a:solidFill>
                <a:latin typeface="Hanken Grotesk" pitchFamily="34" charset="0"/>
                <a:ea typeface="Hanken Grotesk" pitchFamily="34" charset="-122"/>
                <a:cs typeface="Hanken Grotesk" pitchFamily="34" charset="-120"/>
              </a:rPr>
              <a:t>You hand the same address to every service — so when one site leaks it, they all suffer. Blocking a sender only stops that one domain; the next gets through. And you can't rotate the inbox everything is tied to, so the exposure is permanent.</a:t>
            </a:r>
            <a:endParaRPr lang="en-US" sz="2850" dirty="0"/>
          </a:p>
        </p:txBody>
      </p:sp>
      <p:sp>
        <p:nvSpPr>
          <p:cNvPr id="6" name="Text 4"/>
          <p:cNvSpPr/>
          <p:nvPr/>
        </p:nvSpPr>
        <p:spPr>
          <a:xfrm>
            <a:off x="1143000" y="5575995"/>
            <a:ext cx="5140833"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376</a:t>
            </a:r>
            <a:pPr algn="l" indent="0" marL="0">
              <a:lnSpc>
                <a:spcPct val="90000"/>
              </a:lnSpc>
              <a:buNone/>
            </a:pPr>
            <a:r>
              <a:rPr lang="en-US" sz="3900" b="1" spc="-273" kern="0" dirty="0">
                <a:solidFill>
                  <a:srgbClr val="000000"/>
                </a:solidFill>
                <a:latin typeface="Hanken Grotesk" pitchFamily="34" charset="0"/>
                <a:ea typeface="Hanken Grotesk" pitchFamily="34" charset="-122"/>
                <a:cs typeface="Hanken Grotesk" pitchFamily="34" charset="-120"/>
              </a:rPr>
              <a:t>B</a:t>
            </a:r>
            <a:endParaRPr lang="en-US" sz="7800" dirty="0"/>
          </a:p>
        </p:txBody>
      </p:sp>
      <p:sp>
        <p:nvSpPr>
          <p:cNvPr id="7" name="Text 5"/>
          <p:cNvSpPr/>
          <p:nvPr/>
        </p:nvSpPr>
        <p:spPr>
          <a:xfrm>
            <a:off x="6648450" y="5575995"/>
            <a:ext cx="5140833"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135BFD"/>
                </a:solidFill>
                <a:latin typeface="Hanken Grotesk" pitchFamily="34" charset="0"/>
                <a:ea typeface="Hanken Grotesk" pitchFamily="34" charset="-122"/>
                <a:cs typeface="Hanken Grotesk" pitchFamily="34" charset="-120"/>
              </a:rPr>
              <a:t>~45</a:t>
            </a:r>
            <a:pPr algn="l" indent="0" marL="0">
              <a:lnSpc>
                <a:spcPct val="90000"/>
              </a:lnSpc>
              <a:buNone/>
            </a:pPr>
            <a:r>
              <a:rPr lang="en-US" sz="3900" b="1" spc="-273" kern="0" dirty="0">
                <a:solidFill>
                  <a:srgbClr val="135BFD"/>
                </a:solidFill>
                <a:latin typeface="Hanken Grotesk" pitchFamily="34" charset="0"/>
                <a:ea typeface="Hanken Grotesk" pitchFamily="34" charset="-122"/>
                <a:cs typeface="Hanken Grotesk" pitchFamily="34" charset="-120"/>
              </a:rPr>
              <a:t>%</a:t>
            </a:r>
            <a:endParaRPr lang="en-US" sz="7800" dirty="0"/>
          </a:p>
        </p:txBody>
      </p:sp>
      <p:sp>
        <p:nvSpPr>
          <p:cNvPr id="8" name="Text 6"/>
          <p:cNvSpPr/>
          <p:nvPr/>
        </p:nvSpPr>
        <p:spPr>
          <a:xfrm>
            <a:off x="12153900" y="5575995"/>
            <a:ext cx="5140833"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3.4</a:t>
            </a:r>
            <a:pPr algn="l" indent="0" marL="0">
              <a:lnSpc>
                <a:spcPct val="90000"/>
              </a:lnSpc>
              <a:buNone/>
            </a:pPr>
            <a:r>
              <a:rPr lang="en-US" sz="3900" b="1" spc="-273" kern="0" dirty="0">
                <a:solidFill>
                  <a:srgbClr val="000000"/>
                </a:solidFill>
                <a:latin typeface="Hanken Grotesk" pitchFamily="34" charset="0"/>
                <a:ea typeface="Hanken Grotesk" pitchFamily="34" charset="-122"/>
                <a:cs typeface="Hanken Grotesk" pitchFamily="34" charset="-120"/>
              </a:rPr>
              <a:t>B</a:t>
            </a:r>
            <a:endParaRPr lang="en-US" sz="7800" dirty="0"/>
          </a:p>
        </p:txBody>
      </p:sp>
      <p:sp>
        <p:nvSpPr>
          <p:cNvPr id="9" name="Text 7"/>
          <p:cNvSpPr/>
          <p:nvPr/>
        </p:nvSpPr>
        <p:spPr>
          <a:xfrm>
            <a:off x="1143000" y="6958905"/>
            <a:ext cx="2380357"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emails sent every day — and the volume keeps climbing.</a:t>
            </a:r>
            <a:endParaRPr lang="en-US" sz="1800" dirty="0"/>
          </a:p>
        </p:txBody>
      </p:sp>
      <p:sp>
        <p:nvSpPr>
          <p:cNvPr id="10" name="Text 8"/>
          <p:cNvSpPr/>
          <p:nvPr/>
        </p:nvSpPr>
        <p:spPr>
          <a:xfrm>
            <a:off x="6648450" y="6638925"/>
            <a:ext cx="2380357"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of all email traffic is spam: roughly 176B unwanted messages a day.</a:t>
            </a:r>
            <a:endParaRPr lang="en-US" sz="1800" dirty="0"/>
          </a:p>
        </p:txBody>
      </p:sp>
      <p:sp>
        <p:nvSpPr>
          <p:cNvPr id="11" name="Text 9"/>
          <p:cNvSpPr/>
          <p:nvPr/>
        </p:nvSpPr>
        <p:spPr>
          <a:xfrm>
            <a:off x="12153900" y="6958905"/>
            <a:ext cx="2380357"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phishing emails a day — now AI-written and near flawless.</a:t>
            </a:r>
            <a:endParaRPr lang="en-US" sz="1800" dirty="0"/>
          </a:p>
        </p:txBody>
      </p:sp>
      <p:sp>
        <p:nvSpPr>
          <p:cNvPr id="12" name="Text 10"/>
          <p:cNvSpPr/>
          <p:nvPr/>
        </p:nvSpPr>
        <p:spPr>
          <a:xfrm>
            <a:off x="1143000" y="8356997"/>
            <a:ext cx="13576545"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The fix isn't a smarter filter — it's never handing out your real address in the first place.</a:t>
            </a:r>
            <a:endParaRPr lang="en-US" sz="1800" dirty="0"/>
          </a:p>
        </p:txBody>
      </p:sp>
      <p:sp>
        <p:nvSpPr>
          <p:cNvPr id="13" name="Text 11"/>
          <p:cNvSpPr/>
          <p:nvPr/>
        </p:nvSpPr>
        <p:spPr>
          <a:xfrm>
            <a:off x="1143000" y="8709422"/>
            <a:ext cx="4817538"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Kaspersky 2025 · emailwarmup 2025</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143000" y="1047750"/>
            <a:ext cx="3013893"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02 — WHAT NULLBOX IS</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0548396" cy="2278112"/>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A unique address per service, forwarding to the inbox you already use.</a:t>
            </a:r>
            <a:endParaRPr lang="en-US" sz="6000" dirty="0"/>
          </a:p>
        </p:txBody>
      </p:sp>
      <p:sp>
        <p:nvSpPr>
          <p:cNvPr id="5" name="Text 3"/>
          <p:cNvSpPr/>
          <p:nvPr/>
        </p:nvSpPr>
        <p:spPr>
          <a:xfrm>
            <a:off x="1438275" y="5799088"/>
            <a:ext cx="4467110"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000000"/>
                </a:solidFill>
                <a:latin typeface="JetBrains Mono" pitchFamily="34" charset="0"/>
                <a:ea typeface="JetBrains Mono" pitchFamily="34" charset="-122"/>
                <a:cs typeface="JetBrains Mono" pitchFamily="34" charset="-120"/>
              </a:rPr>
              <a:t>EVERY SERVICE</a:t>
            </a:r>
            <a:endParaRPr lang="en-US" sz="1800" dirty="0"/>
          </a:p>
        </p:txBody>
      </p:sp>
      <p:sp>
        <p:nvSpPr>
          <p:cNvPr id="6" name="Text 4"/>
          <p:cNvSpPr/>
          <p:nvPr/>
        </p:nvSpPr>
        <p:spPr>
          <a:xfrm>
            <a:off x="1438275" y="6227713"/>
            <a:ext cx="4467110"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A fresh alias</a:t>
            </a:r>
            <a:endParaRPr lang="en-US" sz="2250" dirty="0"/>
          </a:p>
        </p:txBody>
      </p:sp>
      <p:sp>
        <p:nvSpPr>
          <p:cNvPr id="7" name="Text 5"/>
          <p:cNvSpPr/>
          <p:nvPr/>
        </p:nvSpPr>
        <p:spPr>
          <a:xfrm>
            <a:off x="1438275" y="6732538"/>
            <a:ext cx="4467110" cy="1033314"/>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Shopping, newsletters, trials, forums — each gets its own address on your private domain.</a:t>
            </a:r>
            <a:endParaRPr lang="en-US" sz="1950" dirty="0"/>
          </a:p>
        </p:txBody>
      </p:sp>
      <p:sp>
        <p:nvSpPr>
          <p:cNvPr id="8" name="Text 6"/>
          <p:cNvSpPr/>
          <p:nvPr/>
        </p:nvSpPr>
        <p:spPr>
          <a:xfrm>
            <a:off x="6032450" y="5484763"/>
            <a:ext cx="685800" cy="2595414"/>
          </a:xfrm>
          <a:prstGeom prst="rect">
            <a:avLst/>
          </a:prstGeom>
          <a:noFill/>
          <a:ln/>
        </p:spPr>
        <p:txBody>
          <a:bodyPr wrap="square" lIns="25400" tIns="25400" rIns="25400" bIns="25400" rtlCol="0" anchor="ctr">
            <a:normAutofit/>
          </a:bodyPr>
          <a:lstStyle/>
          <a:p>
            <a:pPr algn="ctr" indent="0" marL="0">
              <a:buNone/>
            </a:pPr>
            <a:r>
              <a:rPr lang="en-US" sz="2550" dirty="0">
                <a:solidFill>
                  <a:srgbClr val="135BFD"/>
                </a:solidFill>
                <a:latin typeface="Hanken Grotesk" pitchFamily="34" charset="0"/>
                <a:ea typeface="Hanken Grotesk" pitchFamily="34" charset="-122"/>
                <a:cs typeface="Hanken Grotesk" pitchFamily="34" charset="-120"/>
              </a:rPr>
              <a:t>→</a:t>
            </a:r>
            <a:endParaRPr lang="en-US" sz="2550" dirty="0"/>
          </a:p>
        </p:txBody>
      </p:sp>
      <p:sp>
        <p:nvSpPr>
          <p:cNvPr id="9" name="Text 7"/>
          <p:cNvSpPr/>
          <p:nvPr/>
        </p:nvSpPr>
        <p:spPr>
          <a:xfrm>
            <a:off x="6975425" y="5799088"/>
            <a:ext cx="4467264"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135BFD"/>
                </a:solidFill>
                <a:latin typeface="JetBrains Mono" pitchFamily="34" charset="0"/>
                <a:ea typeface="JetBrains Mono" pitchFamily="34" charset="-122"/>
                <a:cs typeface="JetBrains Mono" pitchFamily="34" charset="-120"/>
              </a:rPr>
              <a:t>NULLBOX</a:t>
            </a:r>
            <a:endParaRPr lang="en-US" sz="1800" dirty="0"/>
          </a:p>
        </p:txBody>
      </p:sp>
      <p:sp>
        <p:nvSpPr>
          <p:cNvPr id="10" name="Text 8"/>
          <p:cNvSpPr/>
          <p:nvPr/>
        </p:nvSpPr>
        <p:spPr>
          <a:xfrm>
            <a:off x="6975425" y="6227713"/>
            <a:ext cx="4467264"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Sits in front</a:t>
            </a:r>
            <a:endParaRPr lang="en-US" sz="2250" dirty="0"/>
          </a:p>
        </p:txBody>
      </p:sp>
      <p:sp>
        <p:nvSpPr>
          <p:cNvPr id="11" name="Text 9"/>
          <p:cNvSpPr/>
          <p:nvPr/>
        </p:nvSpPr>
        <p:spPr>
          <a:xfrm>
            <a:off x="6975425" y="6732538"/>
            <a:ext cx="4467264" cy="701576"/>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Forwards, quarantines, or drops — per alias, on your terms.</a:t>
            </a:r>
            <a:endParaRPr lang="en-US" sz="1950" dirty="0"/>
          </a:p>
        </p:txBody>
      </p:sp>
      <p:sp>
        <p:nvSpPr>
          <p:cNvPr id="12" name="Text 10"/>
          <p:cNvSpPr/>
          <p:nvPr/>
        </p:nvSpPr>
        <p:spPr>
          <a:xfrm>
            <a:off x="11569750" y="5484763"/>
            <a:ext cx="685800" cy="2595414"/>
          </a:xfrm>
          <a:prstGeom prst="rect">
            <a:avLst/>
          </a:prstGeom>
          <a:noFill/>
          <a:ln/>
        </p:spPr>
        <p:txBody>
          <a:bodyPr wrap="square" lIns="25400" tIns="25400" rIns="25400" bIns="25400" rtlCol="0" anchor="ctr">
            <a:normAutofit/>
          </a:bodyPr>
          <a:lstStyle/>
          <a:p>
            <a:pPr algn="ctr" indent="0" marL="0">
              <a:buNone/>
            </a:pPr>
            <a:r>
              <a:rPr lang="en-US" sz="2550" dirty="0">
                <a:solidFill>
                  <a:srgbClr val="135BFD"/>
                </a:solidFill>
                <a:latin typeface="Hanken Grotesk" pitchFamily="34" charset="0"/>
                <a:ea typeface="Hanken Grotesk" pitchFamily="34" charset="-122"/>
                <a:cs typeface="Hanken Grotesk" pitchFamily="34" charset="-120"/>
              </a:rPr>
              <a:t>→</a:t>
            </a:r>
            <a:endParaRPr lang="en-US" sz="2550" dirty="0"/>
          </a:p>
        </p:txBody>
      </p:sp>
      <p:sp>
        <p:nvSpPr>
          <p:cNvPr id="13" name="Text 11"/>
          <p:cNvSpPr/>
          <p:nvPr/>
        </p:nvSpPr>
        <p:spPr>
          <a:xfrm>
            <a:off x="12512725" y="5799088"/>
            <a:ext cx="4467110" cy="333375"/>
          </a:xfrm>
          <a:prstGeom prst="rect">
            <a:avLst/>
          </a:prstGeom>
          <a:noFill/>
          <a:ln/>
        </p:spPr>
        <p:txBody>
          <a:bodyPr wrap="square" lIns="25400" tIns="25400" rIns="25400" bIns="25400" rtlCol="0" anchor="t">
            <a:normAutofit/>
          </a:bodyPr>
          <a:lstStyle/>
          <a:p>
            <a:pPr algn="l" indent="0" marL="0">
              <a:buNone/>
            </a:pPr>
            <a:r>
              <a:rPr lang="en-US" sz="1800" spc="90" kern="0" dirty="0">
                <a:solidFill>
                  <a:srgbClr val="000000"/>
                </a:solidFill>
                <a:latin typeface="JetBrains Mono" pitchFamily="34" charset="0"/>
                <a:ea typeface="JetBrains Mono" pitchFamily="34" charset="-122"/>
                <a:cs typeface="JetBrains Mono" pitchFamily="34" charset="-120"/>
              </a:rPr>
              <a:t>UNCHANGED</a:t>
            </a:r>
            <a:endParaRPr lang="en-US" sz="1800" dirty="0"/>
          </a:p>
        </p:txBody>
      </p:sp>
      <p:sp>
        <p:nvSpPr>
          <p:cNvPr id="14" name="Text 12"/>
          <p:cNvSpPr/>
          <p:nvPr/>
        </p:nvSpPr>
        <p:spPr>
          <a:xfrm>
            <a:off x="12512725" y="6227713"/>
            <a:ext cx="4467110"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000000"/>
                </a:solidFill>
                <a:latin typeface="Hanken Grotesk" pitchFamily="34" charset="0"/>
                <a:ea typeface="Hanken Grotesk" pitchFamily="34" charset="-122"/>
                <a:cs typeface="Hanken Grotesk" pitchFamily="34" charset="-120"/>
              </a:rPr>
              <a:t>Your real inbox</a:t>
            </a:r>
            <a:endParaRPr lang="en-US" sz="2250" dirty="0"/>
          </a:p>
        </p:txBody>
      </p:sp>
      <p:sp>
        <p:nvSpPr>
          <p:cNvPr id="15" name="Text 13"/>
          <p:cNvSpPr/>
          <p:nvPr/>
        </p:nvSpPr>
        <p:spPr>
          <a:xfrm>
            <a:off x="12512725" y="6732538"/>
            <a:ext cx="4467110" cy="701576"/>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000000"/>
                </a:solidFill>
                <a:latin typeface="Hanken Grotesk" pitchFamily="34" charset="0"/>
                <a:ea typeface="Hanken Grotesk" pitchFamily="34" charset="-122"/>
                <a:cs typeface="Hanken Grotesk" pitchFamily="34" charset="-120"/>
              </a:rPr>
              <a:t>Gmail, Outlook, Proton — whatever you use today. Nothing to migrate.</a:t>
            </a:r>
            <a:endParaRPr lang="en-US" sz="1950" dirty="0"/>
          </a:p>
        </p:txBody>
      </p:sp>
      <p:sp>
        <p:nvSpPr>
          <p:cNvPr id="16" name="Text 14"/>
          <p:cNvSpPr/>
          <p:nvPr/>
        </p:nvSpPr>
        <p:spPr>
          <a:xfrm>
            <a:off x="1143000" y="8575477"/>
            <a:ext cx="7947014"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Nullbox doesn't replace your inbox. It sits in front of it.</a:t>
            </a:r>
            <a:endParaRPr lang="en-US" sz="2550" dirty="0"/>
          </a:p>
        </p:txBody>
      </p:sp>
      <p:sp>
        <p:nvSpPr>
          <p:cNvPr id="17" name="Text 15"/>
          <p:cNvSpPr/>
          <p:nvPr/>
        </p:nvSpPr>
        <p:spPr>
          <a:xfrm>
            <a:off x="9491365" y="8597801"/>
            <a:ext cx="7883244"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Disable or rotate any alias without touching the rest.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143000" y="1047750"/>
            <a:ext cx="3616641"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03 — WHY WE'RE DIFFERENT</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Trust by design, not by promise.</a:t>
            </a:r>
            <a:endParaRPr lang="en-US" sz="6000" dirty="0"/>
          </a:p>
        </p:txBody>
      </p:sp>
      <p:sp>
        <p:nvSpPr>
          <p:cNvPr id="5" name="Text 3"/>
          <p:cNvSpPr/>
          <p:nvPr/>
        </p:nvSpPr>
        <p:spPr>
          <a:xfrm>
            <a:off x="1143000" y="2804071"/>
            <a:ext cx="7581717"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Most relays forward everything and ask you to trust them. Nullbox is built so there's far less to trust.</a:t>
            </a:r>
            <a:endParaRPr lang="en-US" sz="2250" dirty="0"/>
          </a:p>
        </p:txBody>
      </p:sp>
      <p:sp>
        <p:nvSpPr>
          <p:cNvPr id="6" name="Text 4"/>
          <p:cNvSpPr/>
          <p:nvPr/>
        </p:nvSpPr>
        <p:spPr>
          <a:xfrm>
            <a:off x="1514475" y="4451896"/>
            <a:ext cx="4532567"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We never open your mail</a:t>
            </a:r>
            <a:endParaRPr lang="en-US" sz="3000" dirty="0"/>
          </a:p>
        </p:txBody>
      </p:sp>
      <p:sp>
        <p:nvSpPr>
          <p:cNvPr id="7" name="Text 5"/>
          <p:cNvSpPr/>
          <p:nvPr/>
        </p:nvSpPr>
        <p:spPr>
          <a:xfrm>
            <a:off x="1514475" y="5004346"/>
            <a:ext cx="4532567" cy="20383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Nullbox decides what to do using only the envelope — who it's from and which alias it's for. The message itself is never opened or read.</a:t>
            </a:r>
            <a:endParaRPr lang="en-US" sz="2250" dirty="0"/>
          </a:p>
        </p:txBody>
      </p:sp>
      <p:sp>
        <p:nvSpPr>
          <p:cNvPr id="8" name="Text 6"/>
          <p:cNvSpPr/>
          <p:nvPr/>
        </p:nvSpPr>
        <p:spPr>
          <a:xfrm>
            <a:off x="1514475" y="8782050"/>
            <a:ext cx="4532567"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we never read your mail</a:t>
            </a:r>
            <a:endParaRPr lang="en-US" sz="1800" dirty="0"/>
          </a:p>
        </p:txBody>
      </p:sp>
      <p:sp>
        <p:nvSpPr>
          <p:cNvPr id="9" name="Text 7"/>
          <p:cNvSpPr/>
          <p:nvPr/>
        </p:nvSpPr>
        <p:spPr>
          <a:xfrm>
            <a:off x="6943725" y="4451896"/>
            <a:ext cx="4532567"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Decide, then trust</a:t>
            </a:r>
            <a:endParaRPr lang="en-US" sz="3000" dirty="0"/>
          </a:p>
        </p:txBody>
      </p:sp>
      <p:sp>
        <p:nvSpPr>
          <p:cNvPr id="10" name="Text 8"/>
          <p:cNvSpPr/>
          <p:nvPr/>
        </p:nvSpPr>
        <p:spPr>
          <a:xfrm>
            <a:off x="6943725" y="5004346"/>
            <a:ext cx="4532567"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Unknown senders are quarantined, not delivered. You choose who earns a place in your inbox — once.</a:t>
            </a:r>
            <a:endParaRPr lang="en-US" sz="2250" dirty="0"/>
          </a:p>
        </p:txBody>
      </p:sp>
      <p:sp>
        <p:nvSpPr>
          <p:cNvPr id="11" name="Text 9"/>
          <p:cNvSpPr/>
          <p:nvPr/>
        </p:nvSpPr>
        <p:spPr>
          <a:xfrm>
            <a:off x="6943725" y="8782050"/>
            <a:ext cx="4532567"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quarantine by default</a:t>
            </a:r>
            <a:endParaRPr lang="en-US" sz="1800" dirty="0"/>
          </a:p>
        </p:txBody>
      </p:sp>
      <p:sp>
        <p:nvSpPr>
          <p:cNvPr id="12" name="Text 10"/>
          <p:cNvSpPr/>
          <p:nvPr/>
        </p:nvSpPr>
        <p:spPr>
          <a:xfrm>
            <a:off x="12372975" y="4451896"/>
            <a:ext cx="4532567"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Minimal by default</a:t>
            </a:r>
            <a:endParaRPr lang="en-US" sz="3000" dirty="0"/>
          </a:p>
        </p:txBody>
      </p:sp>
      <p:sp>
        <p:nvSpPr>
          <p:cNvPr id="13" name="Text 11"/>
          <p:cNvSpPr/>
          <p:nvPr/>
        </p:nvSpPr>
        <p:spPr>
          <a:xfrm>
            <a:off x="12372975" y="5004346"/>
            <a:ext cx="4532567"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We keep as little as possible, store no copies of your mail, and wipe our routing history every 90 days.</a:t>
            </a:r>
            <a:endParaRPr lang="en-US" sz="2250" dirty="0"/>
          </a:p>
        </p:txBody>
      </p:sp>
      <p:sp>
        <p:nvSpPr>
          <p:cNvPr id="14" name="Text 12"/>
          <p:cNvSpPr/>
          <p:nvPr/>
        </p:nvSpPr>
        <p:spPr>
          <a:xfrm>
            <a:off x="12372975" y="8782050"/>
            <a:ext cx="4532567"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90-day log deletion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143000" y="1047750"/>
            <a:ext cx="3918015"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04 — THE QUARANTINE MOMENT</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153144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Someone new? You decide before they ever reach you.</a:t>
            </a:r>
            <a:endParaRPr lang="en-US" sz="6000" dirty="0"/>
          </a:p>
        </p:txBody>
      </p:sp>
      <p:sp>
        <p:nvSpPr>
          <p:cNvPr id="5" name="Text 3"/>
          <p:cNvSpPr/>
          <p:nvPr/>
        </p:nvSpPr>
        <p:spPr>
          <a:xfrm>
            <a:off x="1114425" y="394126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1</a:t>
            </a:r>
            <a:endParaRPr lang="en-US" sz="1800" dirty="0"/>
          </a:p>
        </p:txBody>
      </p:sp>
      <p:sp>
        <p:nvSpPr>
          <p:cNvPr id="6" name="Text 4"/>
          <p:cNvSpPr/>
          <p:nvPr/>
        </p:nvSpPr>
        <p:spPr>
          <a:xfrm>
            <a:off x="1143000" y="4598491"/>
            <a:ext cx="3757517"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A stranger emails you</a:t>
            </a:r>
            <a:endParaRPr lang="en-US" sz="2550" dirty="0"/>
          </a:p>
        </p:txBody>
      </p:sp>
      <p:sp>
        <p:nvSpPr>
          <p:cNvPr id="7" name="Text 5"/>
          <p:cNvSpPr/>
          <p:nvPr/>
        </p:nvSpPr>
        <p:spPr>
          <a:xfrm>
            <a:off x="1143000" y="5147965"/>
            <a:ext cx="3757517"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Nullbox doesn't just wave them through to your inbox.</a:t>
            </a:r>
            <a:endParaRPr lang="en-US" sz="1950" dirty="0"/>
          </a:p>
        </p:txBody>
      </p:sp>
      <p:sp>
        <p:nvSpPr>
          <p:cNvPr id="8" name="Text 6"/>
          <p:cNvSpPr/>
          <p:nvPr/>
        </p:nvSpPr>
        <p:spPr>
          <a:xfrm>
            <a:off x="5457825" y="394126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2</a:t>
            </a:r>
            <a:endParaRPr lang="en-US" sz="1800" dirty="0"/>
          </a:p>
        </p:txBody>
      </p:sp>
      <p:sp>
        <p:nvSpPr>
          <p:cNvPr id="9" name="Text 7"/>
          <p:cNvSpPr/>
          <p:nvPr/>
        </p:nvSpPr>
        <p:spPr>
          <a:xfrm>
            <a:off x="5486400" y="4598491"/>
            <a:ext cx="3404330"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It's held, safely</a:t>
            </a:r>
            <a:endParaRPr lang="en-US" sz="2550" dirty="0"/>
          </a:p>
        </p:txBody>
      </p:sp>
      <p:sp>
        <p:nvSpPr>
          <p:cNvPr id="10" name="Text 8"/>
          <p:cNvSpPr/>
          <p:nvPr/>
        </p:nvSpPr>
        <p:spPr>
          <a:xfrm>
            <a:off x="5486400" y="5147965"/>
            <a:ext cx="3404330"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The message waits, locked away — and we can't read it.</a:t>
            </a:r>
            <a:endParaRPr lang="en-US" sz="1950" dirty="0"/>
          </a:p>
        </p:txBody>
      </p:sp>
      <p:sp>
        <p:nvSpPr>
          <p:cNvPr id="11" name="Text 9"/>
          <p:cNvSpPr/>
          <p:nvPr/>
        </p:nvSpPr>
        <p:spPr>
          <a:xfrm>
            <a:off x="9458325" y="394126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3</a:t>
            </a:r>
            <a:endParaRPr lang="en-US" sz="1800" dirty="0"/>
          </a:p>
        </p:txBody>
      </p:sp>
      <p:sp>
        <p:nvSpPr>
          <p:cNvPr id="12" name="Text 10"/>
          <p:cNvSpPr/>
          <p:nvPr/>
        </p:nvSpPr>
        <p:spPr>
          <a:xfrm>
            <a:off x="9486900" y="4598491"/>
            <a:ext cx="3404330"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You take a look</a:t>
            </a:r>
            <a:endParaRPr lang="en-US" sz="2550" dirty="0"/>
          </a:p>
        </p:txBody>
      </p:sp>
      <p:sp>
        <p:nvSpPr>
          <p:cNvPr id="13" name="Text 11"/>
          <p:cNvSpPr/>
          <p:nvPr/>
        </p:nvSpPr>
        <p:spPr>
          <a:xfrm>
            <a:off x="9486900" y="5147965"/>
            <a:ext cx="3404330" cy="1077962"/>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Only you can open it — privately, right in your browser.</a:t>
            </a:r>
            <a:endParaRPr lang="en-US" sz="1950" dirty="0"/>
          </a:p>
        </p:txBody>
      </p:sp>
      <p:sp>
        <p:nvSpPr>
          <p:cNvPr id="14" name="Text 12"/>
          <p:cNvSpPr/>
          <p:nvPr/>
        </p:nvSpPr>
        <p:spPr>
          <a:xfrm>
            <a:off x="13458825" y="3941266"/>
            <a:ext cx="514350" cy="476250"/>
          </a:xfrm>
          <a:prstGeom prst="rect">
            <a:avLst/>
          </a:prstGeom>
          <a:noFill/>
          <a:ln/>
        </p:spPr>
        <p:txBody>
          <a:bodyPr wrap="square" lIns="25400" tIns="25400" rIns="25400" bIns="25400" rtlCol="0" anchor="ctr">
            <a:normAutofit/>
          </a:bodyPr>
          <a:lstStyle/>
          <a:p>
            <a:pPr algn="ctr" indent="0" marL="0">
              <a:buNone/>
            </a:pPr>
            <a:r>
              <a:rPr lang="en-US" sz="1800" b="1" dirty="0">
                <a:solidFill>
                  <a:srgbClr val="135BFD"/>
                </a:solidFill>
                <a:latin typeface="JetBrains Mono" pitchFamily="34" charset="0"/>
                <a:ea typeface="JetBrains Mono" pitchFamily="34" charset="-122"/>
                <a:cs typeface="JetBrains Mono" pitchFamily="34" charset="-120"/>
              </a:rPr>
              <a:t>4</a:t>
            </a:r>
            <a:endParaRPr lang="en-US" sz="1800" dirty="0"/>
          </a:p>
        </p:txBody>
      </p:sp>
      <p:sp>
        <p:nvSpPr>
          <p:cNvPr id="15" name="Text 13"/>
          <p:cNvSpPr/>
          <p:nvPr/>
        </p:nvSpPr>
        <p:spPr>
          <a:xfrm>
            <a:off x="13487400" y="4598491"/>
            <a:ext cx="3767328" cy="378023"/>
          </a:xfrm>
          <a:prstGeom prst="rect">
            <a:avLst/>
          </a:prstGeom>
          <a:noFill/>
          <a:ln/>
        </p:spPr>
        <p:txBody>
          <a:bodyPr wrap="square" lIns="25400" tIns="25400" rIns="25400" bIns="25400" rtlCol="0" anchor="t">
            <a:normAutofit/>
          </a:bodyPr>
          <a:lstStyle/>
          <a:p>
            <a:pPr algn="l" indent="0" marL="0">
              <a:lnSpc>
                <a:spcPct val="105000"/>
              </a:lnSpc>
              <a:buNone/>
            </a:pPr>
            <a:r>
              <a:rPr lang="en-US" sz="2550" b="1" spc="-25" kern="0" dirty="0">
                <a:solidFill>
                  <a:srgbClr val="000000"/>
                </a:solidFill>
                <a:latin typeface="Hanken Grotesk" pitchFamily="34" charset="0"/>
                <a:ea typeface="Hanken Grotesk" pitchFamily="34" charset="-122"/>
                <a:cs typeface="Hanken Grotesk" pitchFamily="34" charset="-120"/>
              </a:rPr>
              <a:t>You decide, once</a:t>
            </a:r>
            <a:endParaRPr lang="en-US" sz="2550" dirty="0"/>
          </a:p>
        </p:txBody>
      </p:sp>
      <p:sp>
        <p:nvSpPr>
          <p:cNvPr id="16" name="Text 14"/>
          <p:cNvSpPr/>
          <p:nvPr/>
        </p:nvSpPr>
        <p:spPr>
          <a:xfrm>
            <a:off x="13487400" y="5147965"/>
            <a:ext cx="3767328" cy="1077962"/>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35BFD"/>
                </a:solidFill>
                <a:latin typeface="Hanken Grotesk" pitchFamily="34" charset="0"/>
                <a:ea typeface="Hanken Grotesk" pitchFamily="34" charset="-122"/>
                <a:cs typeface="Hanken Grotesk" pitchFamily="34" charset="-120"/>
              </a:rPr>
              <a:t>Trust </a:t>
            </a:r>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them and their mail flows through from now on — or </a:t>
            </a:r>
            <a:pPr algn="l" indent="0" marL="0">
              <a:lnSpc>
                <a:spcPct val="140000"/>
              </a:lnSpc>
              <a:buNone/>
            </a:pPr>
            <a:r>
              <a:rPr lang="en-US" sz="1950" b="1" dirty="0">
                <a:solidFill>
                  <a:srgbClr val="000000"/>
                </a:solidFill>
                <a:latin typeface="Hanken Grotesk" pitchFamily="34" charset="0"/>
                <a:ea typeface="Hanken Grotesk" pitchFamily="34" charset="-122"/>
                <a:cs typeface="Hanken Grotesk" pitchFamily="34" charset="-120"/>
              </a:rPr>
              <a:t>block </a:t>
            </a:r>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them for good.</a:t>
            </a:r>
            <a:endParaRPr lang="en-US" sz="1950" dirty="0"/>
          </a:p>
        </p:txBody>
      </p:sp>
      <p:sp>
        <p:nvSpPr>
          <p:cNvPr id="17" name="Text 15"/>
          <p:cNvSpPr/>
          <p:nvPr/>
        </p:nvSpPr>
        <p:spPr>
          <a:xfrm>
            <a:off x="1143000" y="8620125"/>
            <a:ext cx="1372248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One decision per sender — and we keep no lasting record. Trust history is wiped every 90 days.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43000" y="1047750"/>
            <a:ext cx="3164580"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05 — BUILT-IN DEFENSE</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616744"/>
          </a:xfrm>
          <a:prstGeom prst="rect">
            <a:avLst/>
          </a:prstGeom>
          <a:noFill/>
          <a:ln/>
        </p:spPr>
        <p:txBody>
          <a:bodyPr wrap="square" lIns="25400" tIns="25400" rIns="25400" bIns="25400" rtlCol="0" anchor="t">
            <a:normAutofit/>
          </a:bodyPr>
          <a:lstStyle/>
          <a:p>
            <a:pPr algn="l" indent="0" marL="0">
              <a:lnSpc>
                <a:spcPct val="98000"/>
              </a:lnSpc>
              <a:buNone/>
            </a:pPr>
            <a:r>
              <a:rPr lang="en-US" sz="4650" b="1" spc="-116" kern="0" dirty="0">
                <a:solidFill>
                  <a:srgbClr val="000000"/>
                </a:solidFill>
                <a:latin typeface="Hanken Grotesk" pitchFamily="34" charset="0"/>
                <a:ea typeface="Hanken Grotesk" pitchFamily="34" charset="-122"/>
                <a:cs typeface="Hanken Grotesk" pitchFamily="34" charset="-120"/>
              </a:rPr>
              <a:t>Whole classes of attack, designed out.</a:t>
            </a:r>
            <a:endParaRPr lang="en-US" sz="4650" dirty="0"/>
          </a:p>
        </p:txBody>
      </p:sp>
      <p:sp>
        <p:nvSpPr>
          <p:cNvPr id="5" name="Text 3"/>
          <p:cNvSpPr/>
          <p:nvPr/>
        </p:nvSpPr>
        <p:spPr>
          <a:xfrm>
            <a:off x="1143000" y="2578894"/>
            <a:ext cx="9559503"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A unique address per service, plus trust-by-default, quietly neutralises threats that filters can't touch.</a:t>
            </a:r>
            <a:endParaRPr lang="en-US" sz="2250" dirty="0"/>
          </a:p>
        </p:txBody>
      </p:sp>
      <p:sp>
        <p:nvSpPr>
          <p:cNvPr id="6" name="Text 4"/>
          <p:cNvSpPr/>
          <p:nvPr/>
        </p:nvSpPr>
        <p:spPr>
          <a:xfrm>
            <a:off x="1457325" y="3960019"/>
            <a:ext cx="7496379"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the same name, a different sender</a:t>
            </a:r>
            <a:endParaRPr lang="en-US" sz="1800" dirty="0"/>
          </a:p>
        </p:txBody>
      </p:sp>
      <p:sp>
        <p:nvSpPr>
          <p:cNvPr id="7" name="Text 5"/>
          <p:cNvSpPr/>
          <p:nvPr/>
        </p:nvSpPr>
        <p:spPr>
          <a:xfrm>
            <a:off x="1457325" y="4750594"/>
            <a:ext cx="2754981" cy="371475"/>
          </a:xfrm>
          <a:prstGeom prst="rect">
            <a:avLst/>
          </a:prstGeom>
          <a:noFill/>
          <a:ln/>
        </p:spPr>
        <p:txBody>
          <a:bodyPr wrap="square" lIns="25400" tIns="25400" rIns="25400" bIns="25400" rtlCol="0" anchor="t">
            <a:normAutofit/>
          </a:bodyPr>
          <a:lstStyle/>
          <a:p>
            <a:pPr algn="l" indent="0" marL="0">
              <a:buNone/>
            </a:pPr>
            <a:r>
              <a:rPr lang="en-US" sz="1950" dirty="0">
                <a:solidFill>
                  <a:srgbClr val="000000"/>
                </a:solidFill>
                <a:latin typeface="JetBrains Mono" pitchFamily="34" charset="0"/>
                <a:ea typeface="JetBrains Mono" pitchFamily="34" charset="-122"/>
                <a:cs typeface="JetBrains Mono" pitchFamily="34" charset="-120"/>
              </a:rPr>
              <a:t>support@paypal.com</a:t>
            </a:r>
            <a:endParaRPr lang="en-US" sz="1950" dirty="0"/>
          </a:p>
        </p:txBody>
      </p:sp>
      <p:sp>
        <p:nvSpPr>
          <p:cNvPr id="8" name="Shape 6"/>
          <p:cNvSpPr/>
          <p:nvPr/>
        </p:nvSpPr>
        <p:spPr>
          <a:xfrm>
            <a:off x="5700713" y="4874419"/>
            <a:ext cx="85725" cy="85725"/>
          </a:xfrm>
          <a:prstGeom prst="ellipse">
            <a:avLst/>
          </a:prstGeom>
          <a:solidFill>
            <a:srgbClr val="135BFD"/>
          </a:solidFill>
          <a:ln/>
        </p:spPr>
      </p:sp>
      <p:sp>
        <p:nvSpPr>
          <p:cNvPr id="9" name="Text 7"/>
          <p:cNvSpPr/>
          <p:nvPr/>
        </p:nvSpPr>
        <p:spPr>
          <a:xfrm>
            <a:off x="5881688" y="4769644"/>
            <a:ext cx="277383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trusted · forwarded</a:t>
            </a:r>
            <a:endParaRPr lang="en-US" sz="1800" dirty="0"/>
          </a:p>
        </p:txBody>
      </p:sp>
      <p:sp>
        <p:nvSpPr>
          <p:cNvPr id="10" name="Text 8"/>
          <p:cNvSpPr/>
          <p:nvPr/>
        </p:nvSpPr>
        <p:spPr>
          <a:xfrm>
            <a:off x="1457325" y="5645944"/>
            <a:ext cx="2754981" cy="371475"/>
          </a:xfrm>
          <a:prstGeom prst="rect">
            <a:avLst/>
          </a:prstGeom>
          <a:noFill/>
          <a:ln/>
        </p:spPr>
        <p:txBody>
          <a:bodyPr wrap="square" lIns="25400" tIns="25400" rIns="25400" bIns="25400" rtlCol="0" anchor="t">
            <a:normAutofit/>
          </a:bodyPr>
          <a:lstStyle/>
          <a:p>
            <a:pPr algn="l" indent="0" marL="0">
              <a:buNone/>
            </a:pPr>
            <a:r>
              <a:rPr lang="en-US" sz="1950" dirty="0">
                <a:solidFill>
                  <a:srgbClr val="000000"/>
                </a:solidFill>
                <a:latin typeface="JetBrains Mono" pitchFamily="34" charset="0"/>
                <a:ea typeface="JetBrains Mono" pitchFamily="34" charset="-122"/>
                <a:cs typeface="JetBrains Mono" pitchFamily="34" charset="-120"/>
              </a:rPr>
              <a:t>support@pаypal.com</a:t>
            </a:r>
            <a:endParaRPr lang="en-US" sz="1950" dirty="0"/>
          </a:p>
        </p:txBody>
      </p:sp>
      <p:sp>
        <p:nvSpPr>
          <p:cNvPr id="11" name="Shape 9"/>
          <p:cNvSpPr/>
          <p:nvPr/>
        </p:nvSpPr>
        <p:spPr>
          <a:xfrm rot="2700000">
            <a:off x="4982617" y="5765006"/>
            <a:ext cx="95250" cy="95250"/>
          </a:xfrm>
          <a:prstGeom prst="rect">
            <a:avLst/>
          </a:prstGeom>
          <a:solidFill>
            <a:srgbClr val="135BFD"/>
          </a:solidFill>
          <a:ln/>
        </p:spPr>
      </p:sp>
      <p:sp>
        <p:nvSpPr>
          <p:cNvPr id="12" name="Text 10"/>
          <p:cNvSpPr/>
          <p:nvPr/>
        </p:nvSpPr>
        <p:spPr>
          <a:xfrm>
            <a:off x="5173117" y="5664994"/>
            <a:ext cx="3503664" cy="333375"/>
          </a:xfrm>
          <a:prstGeom prst="rect">
            <a:avLst/>
          </a:prstGeom>
          <a:noFill/>
          <a:ln/>
        </p:spPr>
        <p:txBody>
          <a:bodyPr wrap="square" lIns="0" tIns="0" rIns="0" bIns="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look-alike · quarantined</a:t>
            </a:r>
            <a:endParaRPr lang="en-US" sz="1800" dirty="0"/>
          </a:p>
        </p:txBody>
      </p:sp>
      <p:sp>
        <p:nvSpPr>
          <p:cNvPr id="13" name="Text 11"/>
          <p:cNvSpPr/>
          <p:nvPr/>
        </p:nvSpPr>
        <p:spPr>
          <a:xfrm>
            <a:off x="1457325" y="6875562"/>
            <a:ext cx="7496379" cy="163800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That second “a” isn't a normal letter — it's a Cyrillic character , a look-alike from another alphabet (the one used for Russian) that renders identically on screen. Scammers swap them in to fake a trusted address. Nullbox spots the trickery and stops it before it can fool your eye.</a:t>
            </a:r>
            <a:endParaRPr lang="en-US" sz="1800" dirty="0"/>
          </a:p>
        </p:txBody>
      </p:sp>
      <p:sp>
        <p:nvSpPr>
          <p:cNvPr id="14" name="Text 12"/>
          <p:cNvSpPr/>
          <p:nvPr/>
        </p:nvSpPr>
        <p:spPr>
          <a:xfrm>
            <a:off x="9860607" y="3998119"/>
            <a:ext cx="7198791"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Phishing &amp; homoglyphs</a:t>
            </a:r>
            <a:endParaRPr lang="en-US" sz="2250" dirty="0"/>
          </a:p>
        </p:txBody>
      </p:sp>
      <p:sp>
        <p:nvSpPr>
          <p:cNvPr id="15" name="Text 13"/>
          <p:cNvSpPr/>
          <p:nvPr/>
        </p:nvSpPr>
        <p:spPr>
          <a:xfrm>
            <a:off x="9860607" y="4374356"/>
            <a:ext cx="7198791"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Look-alike domains never cleared your trust list, so they're held — not delivered.</a:t>
            </a:r>
            <a:endParaRPr lang="en-US" sz="1800" dirty="0"/>
          </a:p>
        </p:txBody>
      </p:sp>
      <p:sp>
        <p:nvSpPr>
          <p:cNvPr id="16" name="Text 14"/>
          <p:cNvSpPr/>
          <p:nvPr/>
        </p:nvSpPr>
        <p:spPr>
          <a:xfrm>
            <a:off x="9860607" y="5719167"/>
            <a:ext cx="7198791"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Data brokers</a:t>
            </a:r>
            <a:endParaRPr lang="en-US" sz="2250" dirty="0"/>
          </a:p>
        </p:txBody>
      </p:sp>
      <p:sp>
        <p:nvSpPr>
          <p:cNvPr id="17" name="Text 15"/>
          <p:cNvSpPr/>
          <p:nvPr/>
        </p:nvSpPr>
        <p:spPr>
          <a:xfrm>
            <a:off x="9860607" y="6095405"/>
            <a:ext cx="7198791"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If a company sells your details, the buyer's mail never reaches your inbox — and the unique alias tells you exactly who sold you out.</a:t>
            </a:r>
            <a:endParaRPr lang="en-US" sz="1800" dirty="0"/>
          </a:p>
        </p:txBody>
      </p:sp>
      <p:sp>
        <p:nvSpPr>
          <p:cNvPr id="18" name="Text 16"/>
          <p:cNvSpPr/>
          <p:nvPr/>
        </p:nvSpPr>
        <p:spPr>
          <a:xfrm>
            <a:off x="9860607" y="7440216"/>
            <a:ext cx="7198791"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Breaches &amp; credential stuffing</a:t>
            </a:r>
            <a:endParaRPr lang="en-US" sz="2250" dirty="0"/>
          </a:p>
        </p:txBody>
      </p:sp>
      <p:sp>
        <p:nvSpPr>
          <p:cNvPr id="19" name="Text 17"/>
          <p:cNvSpPr/>
          <p:nvPr/>
        </p:nvSpPr>
        <p:spPr>
          <a:xfrm>
            <a:off x="9860607" y="7816453"/>
            <a:ext cx="7198791"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A unique address per site means a leaked login can't be reused to attack your accounts everywhere else.</a:t>
            </a:r>
            <a:endParaRPr lang="en-US" sz="1800" dirty="0"/>
          </a:p>
        </p:txBody>
      </p:sp>
      <p:sp>
        <p:nvSpPr>
          <p:cNvPr id="20" name="Text 18"/>
          <p:cNvSpPr/>
          <p:nvPr/>
        </p:nvSpPr>
        <p:spPr>
          <a:xfrm>
            <a:off x="1143000" y="8999339"/>
            <a:ext cx="16482060" cy="6286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Point a custom domain at Nullbox and protect normal business email — no aliasing required. Real value for teams &amp; government.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143000" y="1047750"/>
            <a:ext cx="1831925"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06 — WHY NOW</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Three forces are converging.</a:t>
            </a:r>
            <a:endParaRPr lang="en-US" sz="6000" dirty="0"/>
          </a:p>
        </p:txBody>
      </p:sp>
      <p:sp>
        <p:nvSpPr>
          <p:cNvPr id="5" name="Text 3"/>
          <p:cNvSpPr/>
          <p:nvPr/>
        </p:nvSpPr>
        <p:spPr>
          <a:xfrm>
            <a:off x="1143000" y="4422577"/>
            <a:ext cx="510159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135BFD"/>
                </a:solidFill>
                <a:latin typeface="Hanken Grotesk" pitchFamily="34" charset="0"/>
                <a:ea typeface="Hanken Grotesk" pitchFamily="34" charset="-122"/>
                <a:cs typeface="Hanken Grotesk" pitchFamily="34" charset="-120"/>
              </a:rPr>
              <a:t>466</a:t>
            </a:r>
            <a:pPr algn="l" indent="0" marL="0">
              <a:lnSpc>
                <a:spcPct val="90000"/>
              </a:lnSpc>
              <a:buNone/>
            </a:pPr>
            <a:r>
              <a:rPr lang="en-US" sz="3510" b="1" spc="-273" kern="0" dirty="0">
                <a:solidFill>
                  <a:srgbClr val="135BFD"/>
                </a:solidFill>
                <a:latin typeface="Hanken Grotesk" pitchFamily="34" charset="0"/>
                <a:ea typeface="Hanken Grotesk" pitchFamily="34" charset="-122"/>
                <a:cs typeface="Hanken Grotesk" pitchFamily="34" charset="-120"/>
              </a:rPr>
              <a:t>%</a:t>
            </a:r>
            <a:endParaRPr lang="en-US" sz="7800" dirty="0"/>
          </a:p>
        </p:txBody>
      </p:sp>
      <p:sp>
        <p:nvSpPr>
          <p:cNvPr id="6" name="Text 4"/>
          <p:cNvSpPr/>
          <p:nvPr/>
        </p:nvSpPr>
        <p:spPr>
          <a:xfrm>
            <a:off x="1143000" y="5542657"/>
            <a:ext cx="510159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AI phishing is exploding</a:t>
            </a:r>
            <a:endParaRPr lang="en-US" sz="3000" dirty="0"/>
          </a:p>
        </p:txBody>
      </p:sp>
      <p:sp>
        <p:nvSpPr>
          <p:cNvPr id="7" name="Text 5"/>
          <p:cNvSpPr/>
          <p:nvPr/>
        </p:nvSpPr>
        <p:spPr>
          <a:xfrm>
            <a:off x="1143000" y="6076057"/>
            <a:ext cx="5101590"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Q1 2025 phishing reports surged 466%. Bad grammar no longer gives scams away.</a:t>
            </a:r>
            <a:endParaRPr lang="en-US" sz="1950" dirty="0"/>
          </a:p>
        </p:txBody>
      </p:sp>
      <p:sp>
        <p:nvSpPr>
          <p:cNvPr id="8" name="Text 6"/>
          <p:cNvSpPr/>
          <p:nvPr/>
        </p:nvSpPr>
        <p:spPr>
          <a:xfrm>
            <a:off x="6667500" y="4422577"/>
            <a:ext cx="510159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+NIS2</a:t>
            </a:r>
            <a:endParaRPr lang="en-US" sz="7800" dirty="0"/>
          </a:p>
        </p:txBody>
      </p:sp>
      <p:sp>
        <p:nvSpPr>
          <p:cNvPr id="9" name="Text 7"/>
          <p:cNvSpPr/>
          <p:nvPr/>
        </p:nvSpPr>
        <p:spPr>
          <a:xfrm>
            <a:off x="6667500" y="5542657"/>
            <a:ext cx="510159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Privacy &amp; sovereignty rules</a:t>
            </a:r>
            <a:endParaRPr lang="en-US" sz="3000" dirty="0"/>
          </a:p>
        </p:txBody>
      </p:sp>
      <p:sp>
        <p:nvSpPr>
          <p:cNvPr id="10" name="Text 8"/>
          <p:cNvSpPr/>
          <p:nvPr/>
        </p:nvSpPr>
        <p:spPr>
          <a:xfrm>
            <a:off x="6667500" y="6076057"/>
            <a:ext cx="5101590" cy="1077962"/>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GDPR, NIS2 and data-residency mandates push organisations toward minimal-data, privacy-first tools.</a:t>
            </a:r>
            <a:endParaRPr lang="en-US" sz="1950" dirty="0"/>
          </a:p>
        </p:txBody>
      </p:sp>
      <p:sp>
        <p:nvSpPr>
          <p:cNvPr id="11" name="Text 9"/>
          <p:cNvSpPr/>
          <p:nvPr/>
        </p:nvSpPr>
        <p:spPr>
          <a:xfrm>
            <a:off x="12192000" y="4422577"/>
            <a:ext cx="510159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4.6</a:t>
            </a:r>
            <a:pPr algn="l" indent="0" marL="0">
              <a:lnSpc>
                <a:spcPct val="90000"/>
              </a:lnSpc>
              <a:buNone/>
            </a:pPr>
            <a:r>
              <a:rPr lang="en-US" sz="3510" b="1" spc="-273" kern="0" dirty="0">
                <a:solidFill>
                  <a:srgbClr val="000000"/>
                </a:solidFill>
                <a:latin typeface="Hanken Grotesk" pitchFamily="34" charset="0"/>
                <a:ea typeface="Hanken Grotesk" pitchFamily="34" charset="-122"/>
                <a:cs typeface="Hanken Grotesk" pitchFamily="34" charset="-120"/>
              </a:rPr>
              <a:t>B</a:t>
            </a:r>
            <a:endParaRPr lang="en-US" sz="7800" dirty="0"/>
          </a:p>
        </p:txBody>
      </p:sp>
      <p:sp>
        <p:nvSpPr>
          <p:cNvPr id="12" name="Text 10"/>
          <p:cNvSpPr/>
          <p:nvPr/>
        </p:nvSpPr>
        <p:spPr>
          <a:xfrm>
            <a:off x="12192000" y="5542657"/>
            <a:ext cx="510159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Inbox fatigue is universal</a:t>
            </a:r>
            <a:endParaRPr lang="en-US" sz="3000" dirty="0"/>
          </a:p>
        </p:txBody>
      </p:sp>
      <p:sp>
        <p:nvSpPr>
          <p:cNvPr id="13" name="Text 11"/>
          <p:cNvSpPr/>
          <p:nvPr/>
        </p:nvSpPr>
        <p:spPr>
          <a:xfrm>
            <a:off x="12192000" y="6076057"/>
            <a:ext cx="5101590"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000000"/>
                </a:solidFill>
                <a:latin typeface="Hanken Grotesk" pitchFamily="34" charset="0"/>
                <a:ea typeface="Hanken Grotesk" pitchFamily="34" charset="-122"/>
                <a:cs typeface="Hanken Grotesk" pitchFamily="34" charset="-120"/>
              </a:rPr>
              <a:t>4.6B email users, each burning ~3 hours a week on spam. People want control back.</a:t>
            </a:r>
            <a:endParaRPr lang="en-US" sz="1950" dirty="0"/>
          </a:p>
        </p:txBody>
      </p:sp>
      <p:sp>
        <p:nvSpPr>
          <p:cNvPr id="14" name="Text 12"/>
          <p:cNvSpPr/>
          <p:nvPr/>
        </p:nvSpPr>
        <p:spPr>
          <a:xfrm>
            <a:off x="1143000" y="8620125"/>
            <a:ext cx="8321202"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Gen Digital Q1 2025 · EU NIS2 · email-user estimates 2025</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143000" y="1047750"/>
            <a:ext cx="2712519"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07 — THE LANDSCAPE</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635496"/>
          </a:xfrm>
          <a:prstGeom prst="rect">
            <a:avLst/>
          </a:prstGeom>
          <a:noFill/>
          <a:ln/>
        </p:spPr>
        <p:txBody>
          <a:bodyPr wrap="square" lIns="25400" tIns="25400" rIns="25400" bIns="25400" rtlCol="0" anchor="t">
            <a:normAutofit/>
          </a:bodyPr>
          <a:lstStyle/>
          <a:p>
            <a:pPr algn="l" indent="0" marL="0">
              <a:lnSpc>
                <a:spcPct val="98000"/>
              </a:lnSpc>
              <a:buNone/>
            </a:pPr>
            <a:r>
              <a:rPr lang="en-US" sz="4800" b="1" spc="-120" kern="0" dirty="0">
                <a:solidFill>
                  <a:srgbClr val="000000"/>
                </a:solidFill>
                <a:latin typeface="Hanken Grotesk" pitchFamily="34" charset="0"/>
                <a:ea typeface="Hanken Grotesk" pitchFamily="34" charset="-122"/>
                <a:cs typeface="Hanken Grotesk" pitchFamily="34" charset="-120"/>
              </a:rPr>
              <a:t>Aliasing exists. Decide-then-trust doesn't.</a:t>
            </a:r>
            <a:endParaRPr lang="en-US" sz="4800" dirty="0"/>
          </a:p>
        </p:txBody>
      </p:sp>
      <p:sp>
        <p:nvSpPr>
          <p:cNvPr id="5" name="Text 3"/>
          <p:cNvSpPr/>
          <p:nvPr/>
        </p:nvSpPr>
        <p:spPr>
          <a:xfrm>
            <a:off x="1143000" y="3073896"/>
            <a:ext cx="4716018"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APPROACH</a:t>
            </a:r>
            <a:endParaRPr lang="en-US" sz="1800" dirty="0"/>
          </a:p>
        </p:txBody>
      </p:sp>
      <p:sp>
        <p:nvSpPr>
          <p:cNvPr id="6" name="Text 4"/>
          <p:cNvSpPr/>
          <p:nvPr/>
        </p:nvSpPr>
        <p:spPr>
          <a:xfrm>
            <a:off x="6172200" y="3073896"/>
            <a:ext cx="2192162"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PER-SERVICE ALIAS</a:t>
            </a:r>
            <a:endParaRPr lang="en-US" sz="1800" dirty="0"/>
          </a:p>
        </p:txBody>
      </p:sp>
      <p:sp>
        <p:nvSpPr>
          <p:cNvPr id="7" name="Text 5"/>
          <p:cNvSpPr/>
          <p:nvPr/>
        </p:nvSpPr>
        <p:spPr>
          <a:xfrm>
            <a:off x="8744396" y="3073896"/>
            <a:ext cx="2416890"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NEVER READS CONTENT</a:t>
            </a:r>
            <a:endParaRPr lang="en-US" sz="1800" dirty="0"/>
          </a:p>
        </p:txBody>
      </p:sp>
      <p:sp>
        <p:nvSpPr>
          <p:cNvPr id="8" name="Text 6"/>
          <p:cNvSpPr/>
          <p:nvPr/>
        </p:nvSpPr>
        <p:spPr>
          <a:xfrm>
            <a:off x="11534775" y="3073896"/>
            <a:ext cx="2419496"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QUARANTINE + TRUST</a:t>
            </a:r>
            <a:endParaRPr lang="en-US" sz="1800" dirty="0"/>
          </a:p>
        </p:txBody>
      </p:sp>
      <p:sp>
        <p:nvSpPr>
          <p:cNvPr id="9" name="Text 7"/>
          <p:cNvSpPr/>
          <p:nvPr/>
        </p:nvSpPr>
        <p:spPr>
          <a:xfrm>
            <a:off x="14327684" y="3073896"/>
            <a:ext cx="2680094" cy="623888"/>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AUTO PHISHING DEFENSE</a:t>
            </a:r>
            <a:endParaRPr lang="en-US" sz="1800" dirty="0"/>
          </a:p>
        </p:txBody>
      </p:sp>
      <p:sp>
        <p:nvSpPr>
          <p:cNvPr id="10" name="Text 8"/>
          <p:cNvSpPr/>
          <p:nvPr/>
        </p:nvSpPr>
        <p:spPr>
          <a:xfrm>
            <a:off x="1143000" y="4088309"/>
            <a:ext cx="471601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Apple Hide My Email</a:t>
            </a:r>
            <a:endParaRPr lang="en-US" sz="1800" dirty="0"/>
          </a:p>
        </p:txBody>
      </p:sp>
      <p:sp>
        <p:nvSpPr>
          <p:cNvPr id="11" name="Text 9"/>
          <p:cNvSpPr/>
          <p:nvPr/>
        </p:nvSpPr>
        <p:spPr>
          <a:xfrm>
            <a:off x="6172200" y="4088309"/>
            <a:ext cx="219216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Yes</a:t>
            </a:r>
            <a:endParaRPr lang="en-US" sz="1800" dirty="0"/>
          </a:p>
        </p:txBody>
      </p:sp>
      <p:sp>
        <p:nvSpPr>
          <p:cNvPr id="12" name="Text 10"/>
          <p:cNvSpPr/>
          <p:nvPr/>
        </p:nvSpPr>
        <p:spPr>
          <a:xfrm>
            <a:off x="8744396" y="4088309"/>
            <a:ext cx="2416890"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a:t>
            </a:r>
            <a:endParaRPr lang="en-US" sz="1800" dirty="0"/>
          </a:p>
        </p:txBody>
      </p:sp>
      <p:sp>
        <p:nvSpPr>
          <p:cNvPr id="13" name="Text 11"/>
          <p:cNvSpPr/>
          <p:nvPr/>
        </p:nvSpPr>
        <p:spPr>
          <a:xfrm>
            <a:off x="11534775" y="4088309"/>
            <a:ext cx="2419496"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14" name="Text 12"/>
          <p:cNvSpPr/>
          <p:nvPr/>
        </p:nvSpPr>
        <p:spPr>
          <a:xfrm>
            <a:off x="14327684" y="4088309"/>
            <a:ext cx="2680094"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15" name="Text 13"/>
          <p:cNvSpPr/>
          <p:nvPr/>
        </p:nvSpPr>
        <p:spPr>
          <a:xfrm>
            <a:off x="1143000" y="4812209"/>
            <a:ext cx="471601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Firefox Relay</a:t>
            </a:r>
            <a:endParaRPr lang="en-US" sz="1800" dirty="0"/>
          </a:p>
        </p:txBody>
      </p:sp>
      <p:sp>
        <p:nvSpPr>
          <p:cNvPr id="16" name="Text 14"/>
          <p:cNvSpPr/>
          <p:nvPr/>
        </p:nvSpPr>
        <p:spPr>
          <a:xfrm>
            <a:off x="6172200" y="4812209"/>
            <a:ext cx="219216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Yes</a:t>
            </a:r>
            <a:endParaRPr lang="en-US" sz="1800" dirty="0"/>
          </a:p>
        </p:txBody>
      </p:sp>
      <p:sp>
        <p:nvSpPr>
          <p:cNvPr id="17" name="Text 15"/>
          <p:cNvSpPr/>
          <p:nvPr/>
        </p:nvSpPr>
        <p:spPr>
          <a:xfrm>
            <a:off x="8744396" y="4812209"/>
            <a:ext cx="2416890"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a:t>
            </a:r>
            <a:endParaRPr lang="en-US" sz="1800" dirty="0"/>
          </a:p>
        </p:txBody>
      </p:sp>
      <p:sp>
        <p:nvSpPr>
          <p:cNvPr id="18" name="Text 16"/>
          <p:cNvSpPr/>
          <p:nvPr/>
        </p:nvSpPr>
        <p:spPr>
          <a:xfrm>
            <a:off x="11534775" y="4812209"/>
            <a:ext cx="2419496"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19" name="Text 17"/>
          <p:cNvSpPr/>
          <p:nvPr/>
        </p:nvSpPr>
        <p:spPr>
          <a:xfrm>
            <a:off x="14327684" y="4812209"/>
            <a:ext cx="2680094"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20" name="Text 18"/>
          <p:cNvSpPr/>
          <p:nvPr/>
        </p:nvSpPr>
        <p:spPr>
          <a:xfrm>
            <a:off x="1143000" y="5536109"/>
            <a:ext cx="4716018"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SimpleLogin / DuckDuckGo</a:t>
            </a:r>
            <a:endParaRPr lang="en-US" sz="1800" dirty="0"/>
          </a:p>
        </p:txBody>
      </p:sp>
      <p:sp>
        <p:nvSpPr>
          <p:cNvPr id="21" name="Text 19"/>
          <p:cNvSpPr/>
          <p:nvPr/>
        </p:nvSpPr>
        <p:spPr>
          <a:xfrm>
            <a:off x="6172200" y="5536109"/>
            <a:ext cx="219216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Yes</a:t>
            </a:r>
            <a:endParaRPr lang="en-US" sz="1800" dirty="0"/>
          </a:p>
        </p:txBody>
      </p:sp>
      <p:sp>
        <p:nvSpPr>
          <p:cNvPr id="22" name="Text 20"/>
          <p:cNvSpPr/>
          <p:nvPr/>
        </p:nvSpPr>
        <p:spPr>
          <a:xfrm>
            <a:off x="8744396" y="5536109"/>
            <a:ext cx="2416890"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Partial</a:t>
            </a:r>
            <a:endParaRPr lang="en-US" sz="1800" dirty="0"/>
          </a:p>
        </p:txBody>
      </p:sp>
      <p:sp>
        <p:nvSpPr>
          <p:cNvPr id="23" name="Text 21"/>
          <p:cNvSpPr/>
          <p:nvPr/>
        </p:nvSpPr>
        <p:spPr>
          <a:xfrm>
            <a:off x="11534775" y="5536109"/>
            <a:ext cx="2419496"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24" name="Text 22"/>
          <p:cNvSpPr/>
          <p:nvPr/>
        </p:nvSpPr>
        <p:spPr>
          <a:xfrm>
            <a:off x="14327684" y="5536109"/>
            <a:ext cx="2680094"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No</a:t>
            </a:r>
            <a:endParaRPr lang="en-US" sz="1800" dirty="0"/>
          </a:p>
        </p:txBody>
      </p:sp>
      <p:sp>
        <p:nvSpPr>
          <p:cNvPr id="25" name="Text 23"/>
          <p:cNvSpPr/>
          <p:nvPr/>
        </p:nvSpPr>
        <p:spPr>
          <a:xfrm>
            <a:off x="1371600" y="6260009"/>
            <a:ext cx="4487418"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Nullbox</a:t>
            </a:r>
            <a:endParaRPr lang="en-US" sz="1800" dirty="0"/>
          </a:p>
        </p:txBody>
      </p:sp>
      <p:sp>
        <p:nvSpPr>
          <p:cNvPr id="26" name="Text 24"/>
          <p:cNvSpPr/>
          <p:nvPr/>
        </p:nvSpPr>
        <p:spPr>
          <a:xfrm>
            <a:off x="6172200" y="6260009"/>
            <a:ext cx="2192162"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Yes</a:t>
            </a:r>
            <a:endParaRPr lang="en-US" sz="1800" dirty="0"/>
          </a:p>
        </p:txBody>
      </p:sp>
      <p:sp>
        <p:nvSpPr>
          <p:cNvPr id="27" name="Text 25"/>
          <p:cNvSpPr/>
          <p:nvPr/>
        </p:nvSpPr>
        <p:spPr>
          <a:xfrm>
            <a:off x="8744396" y="6260009"/>
            <a:ext cx="2416890"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Yes</a:t>
            </a:r>
            <a:endParaRPr lang="en-US" sz="1800" dirty="0"/>
          </a:p>
        </p:txBody>
      </p:sp>
      <p:sp>
        <p:nvSpPr>
          <p:cNvPr id="28" name="Text 26"/>
          <p:cNvSpPr/>
          <p:nvPr/>
        </p:nvSpPr>
        <p:spPr>
          <a:xfrm>
            <a:off x="11534775" y="6260009"/>
            <a:ext cx="2419496"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Yes</a:t>
            </a:r>
            <a:endParaRPr lang="en-US" sz="1800" dirty="0"/>
          </a:p>
        </p:txBody>
      </p:sp>
      <p:sp>
        <p:nvSpPr>
          <p:cNvPr id="29" name="Text 27"/>
          <p:cNvSpPr/>
          <p:nvPr/>
        </p:nvSpPr>
        <p:spPr>
          <a:xfrm>
            <a:off x="14327684" y="6260009"/>
            <a:ext cx="2680094"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Yes</a:t>
            </a:r>
            <a:endParaRPr lang="en-US" sz="1800" dirty="0"/>
          </a:p>
        </p:txBody>
      </p:sp>
      <p:sp>
        <p:nvSpPr>
          <p:cNvPr id="30" name="Text 28"/>
          <p:cNvSpPr/>
          <p:nvPr/>
        </p:nvSpPr>
        <p:spPr>
          <a:xfrm>
            <a:off x="1143000" y="7160121"/>
            <a:ext cx="14452461"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Others forward-and-trust. Nullbox decides first, processes least, and stops phishing automatically.</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143000" y="1047750"/>
            <a:ext cx="2712519"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08 — BUSINESS MOAT</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Open at the edges. Commercial at the core.</a:t>
            </a:r>
            <a:endParaRPr lang="en-US" sz="6000" dirty="0"/>
          </a:p>
        </p:txBody>
      </p:sp>
      <p:sp>
        <p:nvSpPr>
          <p:cNvPr id="5" name="Text 3"/>
          <p:cNvSpPr/>
          <p:nvPr/>
        </p:nvSpPr>
        <p:spPr>
          <a:xfrm>
            <a:off x="1143000" y="2804071"/>
            <a:ext cx="10878129"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The personal client is open and self-hostable, so anyone can verify how we handle their mail. The intelligence that makes Nullbox work — and our managed service — stays commercial, under the Elastic License.</a:t>
            </a:r>
            <a:endParaRPr lang="en-US" sz="2250" dirty="0"/>
          </a:p>
        </p:txBody>
      </p:sp>
      <p:sp>
        <p:nvSpPr>
          <p:cNvPr id="6" name="Text 4"/>
          <p:cNvSpPr/>
          <p:nvPr/>
        </p:nvSpPr>
        <p:spPr>
          <a:xfrm>
            <a:off x="1514475" y="4699546"/>
            <a:ext cx="7338441"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000000"/>
                </a:solidFill>
                <a:latin typeface="JetBrains Mono" pitchFamily="34" charset="0"/>
                <a:ea typeface="JetBrains Mono" pitchFamily="34" charset="-122"/>
                <a:cs typeface="JetBrains Mono" pitchFamily="34" charset="-120"/>
              </a:rPr>
              <a:t>OPEN · FREE</a:t>
            </a:r>
            <a:endParaRPr lang="en-US" sz="1800" dirty="0"/>
          </a:p>
        </p:txBody>
      </p:sp>
      <p:sp>
        <p:nvSpPr>
          <p:cNvPr id="7" name="Shape 5"/>
          <p:cNvSpPr/>
          <p:nvPr/>
        </p:nvSpPr>
        <p:spPr>
          <a:xfrm rot="2700000">
            <a:off x="1514475" y="5480596"/>
            <a:ext cx="76200" cy="76200"/>
          </a:xfrm>
          <a:prstGeom prst="rect">
            <a:avLst/>
          </a:prstGeom>
          <a:solidFill>
            <a:srgbClr val="135BFD"/>
          </a:solidFill>
          <a:ln/>
        </p:spPr>
      </p:sp>
      <p:sp>
        <p:nvSpPr>
          <p:cNvPr id="8" name="Text 6"/>
          <p:cNvSpPr/>
          <p:nvPr/>
        </p:nvSpPr>
        <p:spPr>
          <a:xfrm>
            <a:off x="1724025" y="5385346"/>
            <a:ext cx="3763189"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Personal / lite client — open source</a:t>
            </a:r>
            <a:endParaRPr lang="en-US" sz="1800" dirty="0"/>
          </a:p>
        </p:txBody>
      </p:sp>
      <p:sp>
        <p:nvSpPr>
          <p:cNvPr id="9" name="Shape 7"/>
          <p:cNvSpPr/>
          <p:nvPr/>
        </p:nvSpPr>
        <p:spPr>
          <a:xfrm rot="2700000">
            <a:off x="1514475" y="5972026"/>
            <a:ext cx="76200" cy="76200"/>
          </a:xfrm>
          <a:prstGeom prst="rect">
            <a:avLst/>
          </a:prstGeom>
          <a:solidFill>
            <a:srgbClr val="135BFD"/>
          </a:solidFill>
          <a:ln/>
        </p:spPr>
      </p:sp>
      <p:sp>
        <p:nvSpPr>
          <p:cNvPr id="10" name="Text 8"/>
          <p:cNvSpPr/>
          <p:nvPr/>
        </p:nvSpPr>
        <p:spPr>
          <a:xfrm>
            <a:off x="1724025" y="5876776"/>
            <a:ext cx="276908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Self-hostable edge worker</a:t>
            </a:r>
            <a:endParaRPr lang="en-US" sz="1800" dirty="0"/>
          </a:p>
        </p:txBody>
      </p:sp>
      <p:sp>
        <p:nvSpPr>
          <p:cNvPr id="11" name="Shape 9"/>
          <p:cNvSpPr/>
          <p:nvPr/>
        </p:nvSpPr>
        <p:spPr>
          <a:xfrm rot="2700000">
            <a:off x="1514475" y="6463457"/>
            <a:ext cx="76200" cy="76200"/>
          </a:xfrm>
          <a:prstGeom prst="rect">
            <a:avLst/>
          </a:prstGeom>
          <a:solidFill>
            <a:srgbClr val="135BFD"/>
          </a:solidFill>
          <a:ln/>
        </p:spPr>
      </p:sp>
      <p:sp>
        <p:nvSpPr>
          <p:cNvPr id="12" name="Text 10"/>
          <p:cNvSpPr/>
          <p:nvPr/>
        </p:nvSpPr>
        <p:spPr>
          <a:xfrm>
            <a:off x="1724025" y="6368207"/>
            <a:ext cx="567904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Auditable — trust you can verify, not just take on faith</a:t>
            </a:r>
            <a:endParaRPr lang="en-US" sz="1800" dirty="0"/>
          </a:p>
        </p:txBody>
      </p:sp>
      <p:sp>
        <p:nvSpPr>
          <p:cNvPr id="13" name="Text 11"/>
          <p:cNvSpPr/>
          <p:nvPr/>
        </p:nvSpPr>
        <p:spPr>
          <a:xfrm>
            <a:off x="9648825" y="4699546"/>
            <a:ext cx="7338441"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35BFD"/>
                </a:solidFill>
                <a:latin typeface="JetBrains Mono" pitchFamily="34" charset="0"/>
                <a:ea typeface="JetBrains Mono" pitchFamily="34" charset="-122"/>
                <a:cs typeface="JetBrains Mono" pitchFamily="34" charset="-120"/>
              </a:rPr>
              <a:t>COMMERCIAL · PAID — ELASTIC LICENSE</a:t>
            </a:r>
            <a:endParaRPr lang="en-US" sz="1800" dirty="0"/>
          </a:p>
        </p:txBody>
      </p:sp>
      <p:sp>
        <p:nvSpPr>
          <p:cNvPr id="14" name="Shape 12"/>
          <p:cNvSpPr/>
          <p:nvPr/>
        </p:nvSpPr>
        <p:spPr>
          <a:xfrm rot="2700000">
            <a:off x="9648825" y="5480596"/>
            <a:ext cx="76200" cy="76200"/>
          </a:xfrm>
          <a:prstGeom prst="rect">
            <a:avLst/>
          </a:prstGeom>
          <a:solidFill>
            <a:srgbClr val="135BFD"/>
          </a:solidFill>
          <a:ln/>
        </p:spPr>
      </p:sp>
      <p:sp>
        <p:nvSpPr>
          <p:cNvPr id="15" name="Text 13"/>
          <p:cNvSpPr/>
          <p:nvPr/>
        </p:nvSpPr>
        <p:spPr>
          <a:xfrm>
            <a:off x="9858375" y="5385346"/>
            <a:ext cx="7122605"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Managed cloud — the trusted-sender brain, quarantine &amp; dashboards</a:t>
            </a:r>
            <a:endParaRPr lang="en-US" sz="1800" dirty="0"/>
          </a:p>
        </p:txBody>
      </p:sp>
      <p:sp>
        <p:nvSpPr>
          <p:cNvPr id="16" name="Shape 14"/>
          <p:cNvSpPr/>
          <p:nvPr/>
        </p:nvSpPr>
        <p:spPr>
          <a:xfrm rot="2700000">
            <a:off x="9648825" y="6292007"/>
            <a:ext cx="76200" cy="76200"/>
          </a:xfrm>
          <a:prstGeom prst="rect">
            <a:avLst/>
          </a:prstGeom>
          <a:solidFill>
            <a:srgbClr val="135BFD"/>
          </a:solidFill>
          <a:ln/>
        </p:spPr>
      </p:sp>
      <p:sp>
        <p:nvSpPr>
          <p:cNvPr id="17" name="Text 15"/>
          <p:cNvSpPr/>
          <p:nvPr/>
        </p:nvSpPr>
        <p:spPr>
          <a:xfrm>
            <a:off x="9858375" y="6196757"/>
            <a:ext cx="238244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Team &amp; admin console</a:t>
            </a:r>
            <a:endParaRPr lang="en-US" sz="1800" dirty="0"/>
          </a:p>
        </p:txBody>
      </p:sp>
      <p:sp>
        <p:nvSpPr>
          <p:cNvPr id="18" name="Shape 16"/>
          <p:cNvSpPr/>
          <p:nvPr/>
        </p:nvSpPr>
        <p:spPr>
          <a:xfrm rot="2700000">
            <a:off x="9648825" y="6783437"/>
            <a:ext cx="76200" cy="76200"/>
          </a:xfrm>
          <a:prstGeom prst="rect">
            <a:avLst/>
          </a:prstGeom>
          <a:solidFill>
            <a:srgbClr val="135BFD"/>
          </a:solidFill>
          <a:ln/>
        </p:spPr>
      </p:sp>
      <p:sp>
        <p:nvSpPr>
          <p:cNvPr id="19" name="Text 17"/>
          <p:cNvSpPr/>
          <p:nvPr/>
        </p:nvSpPr>
        <p:spPr>
          <a:xfrm>
            <a:off x="9858375" y="6688187"/>
            <a:ext cx="575599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Deployment &amp; support for organisations &amp; government</a:t>
            </a:r>
            <a:endParaRPr lang="en-US" sz="1800" dirty="0"/>
          </a:p>
        </p:txBody>
      </p:sp>
      <p:sp>
        <p:nvSpPr>
          <p:cNvPr id="20" name="Text 18"/>
          <p:cNvSpPr/>
          <p:nvPr/>
        </p:nvSpPr>
        <p:spPr>
          <a:xfrm>
            <a:off x="1143000" y="7972425"/>
            <a:ext cx="16482060" cy="6286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Three revenue streams: managed-cloud subscriptions · commercial licences (business &amp; government) · support &amp; deployment.</a:t>
            </a:r>
            <a:endParaRPr lang="en-US" sz="1800" dirty="0"/>
          </a:p>
        </p:txBody>
      </p:sp>
      <p:sp>
        <p:nvSpPr>
          <p:cNvPr id="21" name="Text 19"/>
          <p:cNvSpPr/>
          <p:nvPr/>
        </p:nvSpPr>
        <p:spPr>
          <a:xfrm>
            <a:off x="1143000" y="8620125"/>
            <a:ext cx="10510839"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Transparency earns the trust; licensing and hosting capture the revenue.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143000" y="1047750"/>
            <a:ext cx="1685627"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09 — MARKET</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A universal problem, a growing market.</a:t>
            </a:r>
            <a:endParaRPr lang="en-US" sz="6000" dirty="0"/>
          </a:p>
        </p:txBody>
      </p:sp>
      <p:sp>
        <p:nvSpPr>
          <p:cNvPr id="5" name="Text 3"/>
          <p:cNvSpPr/>
          <p:nvPr/>
        </p:nvSpPr>
        <p:spPr>
          <a:xfrm>
            <a:off x="1143000" y="4002732"/>
            <a:ext cx="7019592" cy="1446907"/>
          </a:xfrm>
          <a:prstGeom prst="rect">
            <a:avLst/>
          </a:prstGeom>
          <a:noFill/>
          <a:ln/>
        </p:spPr>
        <p:txBody>
          <a:bodyPr wrap="square" lIns="25400" tIns="25400" rIns="25400" bIns="25400" rtlCol="0" anchor="t">
            <a:normAutofit/>
          </a:bodyPr>
          <a:lstStyle/>
          <a:p>
            <a:pPr algn="l" indent="0" marL="0">
              <a:lnSpc>
                <a:spcPct val="86000"/>
              </a:lnSpc>
              <a:buNone/>
            </a:pPr>
            <a:r>
              <a:rPr lang="en-US" sz="12900" b="1" spc="-516" kern="0" dirty="0">
                <a:solidFill>
                  <a:srgbClr val="000000"/>
                </a:solidFill>
                <a:latin typeface="Hanken Grotesk" pitchFamily="34" charset="0"/>
                <a:ea typeface="Hanken Grotesk" pitchFamily="34" charset="-122"/>
                <a:cs typeface="Hanken Grotesk" pitchFamily="34" charset="-120"/>
              </a:rPr>
              <a:t>4.6</a:t>
            </a:r>
            <a:pPr algn="l" indent="0" marL="0">
              <a:lnSpc>
                <a:spcPct val="86000"/>
              </a:lnSpc>
              <a:buNone/>
            </a:pPr>
            <a:r>
              <a:rPr lang="en-US" sz="5160" b="1" spc="-516" kern="0" dirty="0">
                <a:solidFill>
                  <a:srgbClr val="000000"/>
                </a:solidFill>
                <a:latin typeface="Hanken Grotesk" pitchFamily="34" charset="0"/>
                <a:ea typeface="Hanken Grotesk" pitchFamily="34" charset="-122"/>
                <a:cs typeface="Hanken Grotesk" pitchFamily="34" charset="-120"/>
              </a:rPr>
              <a:t>B</a:t>
            </a:r>
            <a:endParaRPr lang="en-US" sz="12900" dirty="0"/>
          </a:p>
        </p:txBody>
      </p:sp>
      <p:sp>
        <p:nvSpPr>
          <p:cNvPr id="6" name="Text 4"/>
          <p:cNvSpPr/>
          <p:nvPr/>
        </p:nvSpPr>
        <p:spPr>
          <a:xfrm>
            <a:off x="1143000" y="5582989"/>
            <a:ext cx="7019592"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email users worldwide</a:t>
            </a:r>
            <a:endParaRPr lang="en-US" sz="3000" dirty="0"/>
          </a:p>
        </p:txBody>
      </p:sp>
      <p:sp>
        <p:nvSpPr>
          <p:cNvPr id="7" name="Text 5"/>
          <p:cNvSpPr/>
          <p:nvPr/>
        </p:nvSpPr>
        <p:spPr>
          <a:xfrm>
            <a:off x="1143000" y="6078289"/>
            <a:ext cx="3955572"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Everyone with an inbox is exposed. Privacy is no longer a niche concern.</a:t>
            </a:r>
            <a:endParaRPr lang="en-US" sz="2250" dirty="0"/>
          </a:p>
        </p:txBody>
      </p:sp>
      <p:sp>
        <p:nvSpPr>
          <p:cNvPr id="8" name="Text 6"/>
          <p:cNvSpPr/>
          <p:nvPr/>
        </p:nvSpPr>
        <p:spPr>
          <a:xfrm>
            <a:off x="8815388" y="3540323"/>
            <a:ext cx="85795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spent on email-security products · USD / year</a:t>
            </a:r>
            <a:endParaRPr lang="en-US" sz="1800" dirty="0"/>
          </a:p>
        </p:txBody>
      </p:sp>
      <p:sp>
        <p:nvSpPr>
          <p:cNvPr id="9" name="Text 7"/>
          <p:cNvSpPr/>
          <p:nvPr/>
        </p:nvSpPr>
        <p:spPr>
          <a:xfrm>
            <a:off x="8815388" y="4216598"/>
            <a:ext cx="71631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000000"/>
                </a:solidFill>
                <a:latin typeface="Hanken Grotesk" pitchFamily="34" charset="0"/>
                <a:ea typeface="Hanken Grotesk" pitchFamily="34" charset="-122"/>
                <a:cs typeface="Hanken Grotesk" pitchFamily="34" charset="-120"/>
              </a:rPr>
              <a:t>2025</a:t>
            </a:r>
            <a:endParaRPr lang="en-US" sz="2250" dirty="0"/>
          </a:p>
        </p:txBody>
      </p:sp>
      <p:sp>
        <p:nvSpPr>
          <p:cNvPr id="10" name="Text 8"/>
          <p:cNvSpPr/>
          <p:nvPr/>
        </p:nvSpPr>
        <p:spPr>
          <a:xfrm>
            <a:off x="15708660" y="4026098"/>
            <a:ext cx="1512540" cy="586680"/>
          </a:xfrm>
          <a:prstGeom prst="rect">
            <a:avLst/>
          </a:prstGeom>
          <a:noFill/>
          <a:ln/>
        </p:spPr>
        <p:txBody>
          <a:bodyPr wrap="square" lIns="25400" tIns="25400" rIns="25400" bIns="25400" rtlCol="0" anchor="t">
            <a:normAutofit/>
          </a:bodyPr>
          <a:lstStyle/>
          <a:p>
            <a:pPr algn="l" indent="0" marL="0">
              <a:lnSpc>
                <a:spcPct val="90000"/>
              </a:lnSpc>
              <a:buNone/>
            </a:pPr>
            <a:r>
              <a:rPr lang="en-US" sz="4800" b="1" spc="-168" kern="0" dirty="0">
                <a:solidFill>
                  <a:srgbClr val="000000"/>
                </a:solidFill>
                <a:latin typeface="Hanken Grotesk" pitchFamily="34" charset="0"/>
                <a:ea typeface="Hanken Grotesk" pitchFamily="34" charset="-122"/>
                <a:cs typeface="Hanken Grotesk" pitchFamily="34" charset="-120"/>
              </a:rPr>
              <a:t>$5.9B</a:t>
            </a:r>
            <a:endParaRPr lang="en-US" sz="4800" dirty="0"/>
          </a:p>
        </p:txBody>
      </p:sp>
      <p:sp>
        <p:nvSpPr>
          <p:cNvPr id="11" name="Shape 9"/>
          <p:cNvSpPr/>
          <p:nvPr/>
        </p:nvSpPr>
        <p:spPr>
          <a:xfrm>
            <a:off x="8815388" y="4711898"/>
            <a:ext cx="3498354" cy="209550"/>
          </a:xfrm>
          <a:prstGeom prst="roundRect">
            <a:avLst>
              <a:gd name="adj" fmla="val 50000"/>
            </a:avLst>
          </a:prstGeom>
          <a:solidFill>
            <a:srgbClr val="135BFD"/>
          </a:solidFill>
          <a:ln/>
        </p:spPr>
      </p:sp>
      <p:sp>
        <p:nvSpPr>
          <p:cNvPr id="12" name="Text 10"/>
          <p:cNvSpPr/>
          <p:nvPr/>
        </p:nvSpPr>
        <p:spPr>
          <a:xfrm>
            <a:off x="8815388" y="5378648"/>
            <a:ext cx="71631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000000"/>
                </a:solidFill>
                <a:latin typeface="Hanken Grotesk" pitchFamily="34" charset="0"/>
                <a:ea typeface="Hanken Grotesk" pitchFamily="34" charset="-122"/>
                <a:cs typeface="Hanken Grotesk" pitchFamily="34" charset="-120"/>
              </a:rPr>
              <a:t>2035</a:t>
            </a:r>
            <a:endParaRPr lang="en-US" sz="2250" dirty="0"/>
          </a:p>
        </p:txBody>
      </p:sp>
      <p:sp>
        <p:nvSpPr>
          <p:cNvPr id="13" name="Text 11"/>
          <p:cNvSpPr/>
          <p:nvPr/>
        </p:nvSpPr>
        <p:spPr>
          <a:xfrm>
            <a:off x="15833675" y="5188148"/>
            <a:ext cx="1387525" cy="586680"/>
          </a:xfrm>
          <a:prstGeom prst="rect">
            <a:avLst/>
          </a:prstGeom>
          <a:noFill/>
          <a:ln/>
        </p:spPr>
        <p:txBody>
          <a:bodyPr wrap="square" lIns="25400" tIns="25400" rIns="25400" bIns="25400" rtlCol="0" anchor="t">
            <a:normAutofit/>
          </a:bodyPr>
          <a:lstStyle/>
          <a:p>
            <a:pPr algn="l" indent="0" marL="0">
              <a:lnSpc>
                <a:spcPct val="90000"/>
              </a:lnSpc>
              <a:buNone/>
            </a:pPr>
            <a:r>
              <a:rPr lang="en-US" sz="4800" b="1" spc="-168" kern="0" dirty="0">
                <a:solidFill>
                  <a:srgbClr val="135BFD"/>
                </a:solidFill>
                <a:latin typeface="Hanken Grotesk" pitchFamily="34" charset="0"/>
                <a:ea typeface="Hanken Grotesk" pitchFamily="34" charset="-122"/>
                <a:cs typeface="Hanken Grotesk" pitchFamily="34" charset="-120"/>
              </a:rPr>
              <a:t>$14B</a:t>
            </a:r>
            <a:endParaRPr lang="en-US" sz="4800" dirty="0"/>
          </a:p>
        </p:txBody>
      </p:sp>
      <p:sp>
        <p:nvSpPr>
          <p:cNvPr id="14" name="Shape 12"/>
          <p:cNvSpPr/>
          <p:nvPr/>
        </p:nvSpPr>
        <p:spPr>
          <a:xfrm>
            <a:off x="8815388" y="5873948"/>
            <a:ext cx="8329613" cy="209550"/>
          </a:xfrm>
          <a:prstGeom prst="roundRect">
            <a:avLst>
              <a:gd name="adj" fmla="val 50000"/>
            </a:avLst>
          </a:prstGeom>
          <a:solidFill>
            <a:srgbClr val="135BFD"/>
          </a:solidFill>
          <a:ln/>
        </p:spPr>
      </p:sp>
      <p:sp>
        <p:nvSpPr>
          <p:cNvPr id="15" name="Text 13"/>
          <p:cNvSpPr/>
          <p:nvPr/>
        </p:nvSpPr>
        <p:spPr>
          <a:xfrm>
            <a:off x="8815388" y="6369248"/>
            <a:ext cx="6592671"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This is the market Nullbox sells into — the world's annual spend on email-security products. It's growing ~10% a year as phishing, regulation and demand for privacy rise.</a:t>
            </a:r>
            <a:endParaRPr lang="en-US" sz="2250" dirty="0"/>
          </a:p>
        </p:txBody>
      </p:sp>
      <p:sp>
        <p:nvSpPr>
          <p:cNvPr id="16" name="Text 14"/>
          <p:cNvSpPr/>
          <p:nvPr/>
        </p:nvSpPr>
        <p:spPr>
          <a:xfrm>
            <a:off x="1143000" y="8267700"/>
            <a:ext cx="11532843"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We start with privacy-first consumers, then organisations and government teams.</a:t>
            </a:r>
            <a:endParaRPr lang="en-US" sz="1800" dirty="0"/>
          </a:p>
        </p:txBody>
      </p:sp>
      <p:sp>
        <p:nvSpPr>
          <p:cNvPr id="17" name="Text 15"/>
          <p:cNvSpPr/>
          <p:nvPr/>
        </p:nvSpPr>
        <p:spPr>
          <a:xfrm>
            <a:off x="1143000" y="8620125"/>
            <a:ext cx="7299198"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ResearchNester / Fortune / SkyQuest 2025–26 (est.)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143000" y="1047750"/>
            <a:ext cx="286320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10 — EARLY TRACTION</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Small numbers — but every one is organic.</a:t>
            </a:r>
            <a:endParaRPr lang="en-US" sz="6000" dirty="0"/>
          </a:p>
        </p:txBody>
      </p:sp>
      <p:sp>
        <p:nvSpPr>
          <p:cNvPr id="5" name="Text 3"/>
          <p:cNvSpPr/>
          <p:nvPr/>
        </p:nvSpPr>
        <p:spPr>
          <a:xfrm>
            <a:off x="1143000" y="2804071"/>
            <a:ext cx="8900190" cy="16383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A private beta seeded by about ten comments on privacy subreddits in December 2025 — the only marketing we've done. The forward / quarantine / drop split shows the trust model working in the wild.</a:t>
            </a:r>
            <a:endParaRPr lang="en-US" sz="2250" dirty="0"/>
          </a:p>
        </p:txBody>
      </p:sp>
      <p:sp>
        <p:nvSpPr>
          <p:cNvPr id="6" name="Text 4"/>
          <p:cNvSpPr/>
          <p:nvPr/>
        </p:nvSpPr>
        <p:spPr>
          <a:xfrm>
            <a:off x="1514475" y="5156746"/>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23</a:t>
            </a:r>
            <a:endParaRPr lang="en-US" sz="7800" dirty="0"/>
          </a:p>
        </p:txBody>
      </p:sp>
      <p:sp>
        <p:nvSpPr>
          <p:cNvPr id="7" name="Text 5"/>
          <p:cNvSpPr/>
          <p:nvPr/>
        </p:nvSpPr>
        <p:spPr>
          <a:xfrm>
            <a:off x="1514475" y="6181576"/>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active users</a:t>
            </a:r>
            <a:endParaRPr lang="en-US" sz="1800" dirty="0"/>
          </a:p>
        </p:txBody>
      </p:sp>
      <p:sp>
        <p:nvSpPr>
          <p:cNvPr id="8" name="Text 6"/>
          <p:cNvSpPr/>
          <p:nvPr/>
        </p:nvSpPr>
        <p:spPr>
          <a:xfrm>
            <a:off x="6924675" y="5156746"/>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62</a:t>
            </a:r>
            <a:endParaRPr lang="en-US" sz="7800" dirty="0"/>
          </a:p>
        </p:txBody>
      </p:sp>
      <p:sp>
        <p:nvSpPr>
          <p:cNvPr id="9" name="Text 7"/>
          <p:cNvSpPr/>
          <p:nvPr/>
        </p:nvSpPr>
        <p:spPr>
          <a:xfrm>
            <a:off x="6924675" y="6181576"/>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aliases in use</a:t>
            </a:r>
            <a:endParaRPr lang="en-US" sz="1800" dirty="0"/>
          </a:p>
        </p:txBody>
      </p:sp>
      <p:sp>
        <p:nvSpPr>
          <p:cNvPr id="10" name="Text 8"/>
          <p:cNvSpPr/>
          <p:nvPr/>
        </p:nvSpPr>
        <p:spPr>
          <a:xfrm>
            <a:off x="12334875" y="5156746"/>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135BFD"/>
                </a:solidFill>
                <a:latin typeface="Hanken Grotesk" pitchFamily="34" charset="0"/>
                <a:ea typeface="Hanken Grotesk" pitchFamily="34" charset="-122"/>
                <a:cs typeface="Hanken Grotesk" pitchFamily="34" charset="-120"/>
              </a:rPr>
              <a:t>551</a:t>
            </a:r>
            <a:endParaRPr lang="en-US" sz="7800" dirty="0"/>
          </a:p>
        </p:txBody>
      </p:sp>
      <p:sp>
        <p:nvSpPr>
          <p:cNvPr id="11" name="Text 9"/>
          <p:cNvSpPr/>
          <p:nvPr/>
        </p:nvSpPr>
        <p:spPr>
          <a:xfrm>
            <a:off x="12334875" y="6181576"/>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emails relayed</a:t>
            </a:r>
            <a:endParaRPr lang="en-US" sz="1800" dirty="0"/>
          </a:p>
        </p:txBody>
      </p:sp>
      <p:sp>
        <p:nvSpPr>
          <p:cNvPr id="12" name="Text 10"/>
          <p:cNvSpPr/>
          <p:nvPr/>
        </p:nvSpPr>
        <p:spPr>
          <a:xfrm>
            <a:off x="1514475" y="7448401"/>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517</a:t>
            </a:r>
            <a:endParaRPr lang="en-US" sz="7800" dirty="0"/>
          </a:p>
        </p:txBody>
      </p:sp>
      <p:sp>
        <p:nvSpPr>
          <p:cNvPr id="13" name="Text 11"/>
          <p:cNvSpPr/>
          <p:nvPr/>
        </p:nvSpPr>
        <p:spPr>
          <a:xfrm>
            <a:off x="1514475" y="8473232"/>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forwarded · trusted</a:t>
            </a:r>
            <a:endParaRPr lang="en-US" sz="1800" dirty="0"/>
          </a:p>
        </p:txBody>
      </p:sp>
      <p:sp>
        <p:nvSpPr>
          <p:cNvPr id="14" name="Text 12"/>
          <p:cNvSpPr/>
          <p:nvPr/>
        </p:nvSpPr>
        <p:spPr>
          <a:xfrm>
            <a:off x="6924675" y="7448401"/>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16</a:t>
            </a:r>
            <a:endParaRPr lang="en-US" sz="7800" dirty="0"/>
          </a:p>
        </p:txBody>
      </p:sp>
      <p:sp>
        <p:nvSpPr>
          <p:cNvPr id="15" name="Text 13"/>
          <p:cNvSpPr/>
          <p:nvPr/>
        </p:nvSpPr>
        <p:spPr>
          <a:xfrm>
            <a:off x="6924675" y="8473232"/>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quarantined</a:t>
            </a:r>
            <a:endParaRPr lang="en-US" sz="1800" dirty="0"/>
          </a:p>
        </p:txBody>
      </p:sp>
      <p:sp>
        <p:nvSpPr>
          <p:cNvPr id="16" name="Text 14"/>
          <p:cNvSpPr/>
          <p:nvPr/>
        </p:nvSpPr>
        <p:spPr>
          <a:xfrm>
            <a:off x="12334875" y="7448401"/>
            <a:ext cx="4571810" cy="929580"/>
          </a:xfrm>
          <a:prstGeom prst="rect">
            <a:avLst/>
          </a:prstGeom>
          <a:noFill/>
          <a:ln/>
        </p:spPr>
        <p:txBody>
          <a:bodyPr wrap="square" lIns="25400" tIns="25400" rIns="25400" bIns="25400" rtlCol="0" anchor="t">
            <a:normAutofit/>
          </a:bodyPr>
          <a:lstStyle/>
          <a:p>
            <a:pPr algn="l" indent="0" marL="0">
              <a:lnSpc>
                <a:spcPct val="90000"/>
              </a:lnSpc>
              <a:buNone/>
            </a:pPr>
            <a:r>
              <a:rPr lang="en-US" sz="7800" b="1" spc="-273" kern="0" dirty="0">
                <a:solidFill>
                  <a:srgbClr val="000000"/>
                </a:solidFill>
                <a:latin typeface="Hanken Grotesk" pitchFamily="34" charset="0"/>
                <a:ea typeface="Hanken Grotesk" pitchFamily="34" charset="-122"/>
                <a:cs typeface="Hanken Grotesk" pitchFamily="34" charset="-120"/>
              </a:rPr>
              <a:t>18</a:t>
            </a:r>
            <a:endParaRPr lang="en-US" sz="7800" dirty="0"/>
          </a:p>
        </p:txBody>
      </p:sp>
      <p:sp>
        <p:nvSpPr>
          <p:cNvPr id="17" name="Text 15"/>
          <p:cNvSpPr/>
          <p:nvPr/>
        </p:nvSpPr>
        <p:spPr>
          <a:xfrm>
            <a:off x="12334875" y="8473232"/>
            <a:ext cx="457181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dropped · untrusted</a:t>
            </a:r>
            <a:endParaRPr lang="en-US" sz="1800" dirty="0"/>
          </a:p>
        </p:txBody>
      </p:sp>
      <p:sp>
        <p:nvSpPr>
          <p:cNvPr id="18" name="Text 16"/>
          <p:cNvSpPr/>
          <p:nvPr/>
        </p:nvSpPr>
        <p:spPr>
          <a:xfrm>
            <a:off x="1143000" y="9406682"/>
            <a:ext cx="16482060" cy="62865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Honest early-beta numbers, zero paid acquisition. The point is the ratio — this is organic pull before we've spent a cent.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143000" y="1047750"/>
            <a:ext cx="286320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11 — BUSINESS MODEL</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Free to start. Paid as you rely on it.</a:t>
            </a:r>
            <a:endParaRPr lang="en-US" sz="6000" dirty="0"/>
          </a:p>
        </p:txBody>
      </p:sp>
      <p:sp>
        <p:nvSpPr>
          <p:cNvPr id="5" name="Text 3"/>
          <p:cNvSpPr/>
          <p:nvPr/>
        </p:nvSpPr>
        <p:spPr>
          <a:xfrm>
            <a:off x="1143000" y="2804071"/>
            <a:ext cx="8240877"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Freemium gets people protected. Paid plans add mailboxes, domains, headroom and faster support.</a:t>
            </a:r>
            <a:endParaRPr lang="en-US" sz="2250" dirty="0"/>
          </a:p>
        </p:txBody>
      </p:sp>
      <p:sp>
        <p:nvSpPr>
          <p:cNvPr id="6" name="Text 4"/>
          <p:cNvSpPr/>
          <p:nvPr/>
        </p:nvSpPr>
        <p:spPr>
          <a:xfrm>
            <a:off x="1514475" y="4356646"/>
            <a:ext cx="4545596"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000000"/>
                </a:solidFill>
                <a:latin typeface="JetBrains Mono" pitchFamily="34" charset="0"/>
                <a:ea typeface="JetBrains Mono" pitchFamily="34" charset="-122"/>
                <a:cs typeface="JetBrains Mono" pitchFamily="34" charset="-120"/>
              </a:rPr>
              <a:t>FREE</a:t>
            </a:r>
            <a:endParaRPr lang="en-US" sz="1800" dirty="0"/>
          </a:p>
        </p:txBody>
      </p:sp>
      <p:sp>
        <p:nvSpPr>
          <p:cNvPr id="7" name="Text 5"/>
          <p:cNvSpPr/>
          <p:nvPr/>
        </p:nvSpPr>
        <p:spPr>
          <a:xfrm>
            <a:off x="1514475" y="4823371"/>
            <a:ext cx="693539" cy="781050"/>
          </a:xfrm>
          <a:prstGeom prst="rect">
            <a:avLst/>
          </a:prstGeom>
          <a:noFill/>
          <a:ln/>
        </p:spPr>
        <p:txBody>
          <a:bodyPr wrap="square" lIns="25400" tIns="25400" rIns="25400" bIns="25400" rtlCol="0" anchor="t">
            <a:normAutofit/>
          </a:bodyPr>
          <a:lstStyle/>
          <a:p>
            <a:pPr algn="l" indent="0" marL="0">
              <a:buNone/>
            </a:pPr>
            <a:r>
              <a:rPr lang="en-US" sz="4500" b="1" spc="-90" kern="0" dirty="0">
                <a:solidFill>
                  <a:srgbClr val="000000"/>
                </a:solidFill>
                <a:latin typeface="Hanken Grotesk" pitchFamily="34" charset="0"/>
                <a:ea typeface="Hanken Grotesk" pitchFamily="34" charset="-122"/>
                <a:cs typeface="Hanken Grotesk" pitchFamily="34" charset="-120"/>
              </a:rPr>
              <a:t>$0</a:t>
            </a:r>
            <a:endParaRPr lang="en-US" sz="4500" dirty="0"/>
          </a:p>
        </p:txBody>
      </p:sp>
      <p:sp>
        <p:nvSpPr>
          <p:cNvPr id="8" name="Text 6"/>
          <p:cNvSpPr/>
          <p:nvPr/>
        </p:nvSpPr>
        <p:spPr>
          <a:xfrm>
            <a:off x="1514475" y="5623471"/>
            <a:ext cx="454559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Leave your real address behind.</a:t>
            </a:r>
            <a:endParaRPr lang="en-US" sz="1800" dirty="0"/>
          </a:p>
        </p:txBody>
      </p:sp>
      <p:sp>
        <p:nvSpPr>
          <p:cNvPr id="9" name="Shape 7"/>
          <p:cNvSpPr/>
          <p:nvPr/>
        </p:nvSpPr>
        <p:spPr>
          <a:xfrm rot="2700000">
            <a:off x="1514475" y="6532066"/>
            <a:ext cx="76200" cy="76200"/>
          </a:xfrm>
          <a:prstGeom prst="rect">
            <a:avLst/>
          </a:prstGeom>
          <a:solidFill>
            <a:srgbClr val="135BFD"/>
          </a:solidFill>
          <a:ln/>
        </p:spPr>
      </p:sp>
      <p:sp>
        <p:nvSpPr>
          <p:cNvPr id="10" name="Text 8"/>
          <p:cNvSpPr/>
          <p:nvPr/>
        </p:nvSpPr>
        <p:spPr>
          <a:xfrm>
            <a:off x="1724025" y="6410176"/>
            <a:ext cx="1067991"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 mailbox</a:t>
            </a:r>
            <a:endParaRPr lang="en-US" sz="1800" dirty="0"/>
          </a:p>
        </p:txBody>
      </p:sp>
      <p:sp>
        <p:nvSpPr>
          <p:cNvPr id="11" name="Shape 9"/>
          <p:cNvSpPr/>
          <p:nvPr/>
        </p:nvSpPr>
        <p:spPr>
          <a:xfrm rot="2700000">
            <a:off x="1514475" y="7004447"/>
            <a:ext cx="76200" cy="76200"/>
          </a:xfrm>
          <a:prstGeom prst="rect">
            <a:avLst/>
          </a:prstGeom>
          <a:solidFill>
            <a:srgbClr val="135BFD"/>
          </a:solidFill>
          <a:ln/>
        </p:spPr>
      </p:sp>
      <p:sp>
        <p:nvSpPr>
          <p:cNvPr id="12" name="Text 10"/>
          <p:cNvSpPr/>
          <p:nvPr/>
        </p:nvSpPr>
        <p:spPr>
          <a:xfrm>
            <a:off x="1724025" y="6882557"/>
            <a:ext cx="108912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10 aliases</a:t>
            </a:r>
            <a:endParaRPr lang="en-US" sz="1800" dirty="0"/>
          </a:p>
        </p:txBody>
      </p:sp>
      <p:sp>
        <p:nvSpPr>
          <p:cNvPr id="13" name="Shape 11"/>
          <p:cNvSpPr/>
          <p:nvPr/>
        </p:nvSpPr>
        <p:spPr>
          <a:xfrm rot="2700000">
            <a:off x="1514475" y="7476827"/>
            <a:ext cx="76200" cy="76200"/>
          </a:xfrm>
          <a:prstGeom prst="rect">
            <a:avLst/>
          </a:prstGeom>
          <a:solidFill>
            <a:srgbClr val="135BFD"/>
          </a:solidFill>
          <a:ln/>
        </p:spPr>
      </p:sp>
      <p:sp>
        <p:nvSpPr>
          <p:cNvPr id="14" name="Text 12"/>
          <p:cNvSpPr/>
          <p:nvPr/>
        </p:nvSpPr>
        <p:spPr>
          <a:xfrm>
            <a:off x="1724025" y="7354937"/>
            <a:ext cx="171375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100 MB / month</a:t>
            </a:r>
            <a:endParaRPr lang="en-US" sz="1800" dirty="0"/>
          </a:p>
        </p:txBody>
      </p:sp>
      <p:sp>
        <p:nvSpPr>
          <p:cNvPr id="15" name="Shape 13"/>
          <p:cNvSpPr/>
          <p:nvPr/>
        </p:nvSpPr>
        <p:spPr>
          <a:xfrm rot="2700000">
            <a:off x="1514475" y="7949208"/>
            <a:ext cx="76200" cy="76200"/>
          </a:xfrm>
          <a:prstGeom prst="rect">
            <a:avLst/>
          </a:prstGeom>
          <a:solidFill>
            <a:srgbClr val="135BFD"/>
          </a:solidFill>
          <a:ln/>
        </p:spPr>
      </p:sp>
      <p:sp>
        <p:nvSpPr>
          <p:cNvPr id="16" name="Text 14"/>
          <p:cNvSpPr/>
          <p:nvPr/>
        </p:nvSpPr>
        <p:spPr>
          <a:xfrm>
            <a:off x="1724025" y="7827318"/>
            <a:ext cx="132174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48h support</a:t>
            </a:r>
            <a:endParaRPr lang="en-US" sz="1800" dirty="0"/>
          </a:p>
        </p:txBody>
      </p:sp>
      <p:sp>
        <p:nvSpPr>
          <p:cNvPr id="17" name="Text 15"/>
          <p:cNvSpPr/>
          <p:nvPr/>
        </p:nvSpPr>
        <p:spPr>
          <a:xfrm>
            <a:off x="6937325" y="4356646"/>
            <a:ext cx="4545596"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135BFD"/>
                </a:solidFill>
                <a:latin typeface="JetBrains Mono" pitchFamily="34" charset="0"/>
                <a:ea typeface="JetBrains Mono" pitchFamily="34" charset="-122"/>
                <a:cs typeface="JetBrains Mono" pitchFamily="34" charset="-120"/>
              </a:rPr>
              <a:t>PLUS · MOST POPULAR</a:t>
            </a:r>
            <a:endParaRPr lang="en-US" sz="1800" dirty="0"/>
          </a:p>
        </p:txBody>
      </p:sp>
      <p:sp>
        <p:nvSpPr>
          <p:cNvPr id="18" name="Text 16"/>
          <p:cNvSpPr/>
          <p:nvPr/>
        </p:nvSpPr>
        <p:spPr>
          <a:xfrm>
            <a:off x="6937325" y="4823371"/>
            <a:ext cx="693539" cy="781050"/>
          </a:xfrm>
          <a:prstGeom prst="rect">
            <a:avLst/>
          </a:prstGeom>
          <a:noFill/>
          <a:ln/>
        </p:spPr>
        <p:txBody>
          <a:bodyPr wrap="square" lIns="25400" tIns="25400" rIns="25400" bIns="25400" rtlCol="0" anchor="t">
            <a:normAutofit/>
          </a:bodyPr>
          <a:lstStyle/>
          <a:p>
            <a:pPr algn="l" indent="0" marL="0">
              <a:buNone/>
            </a:pPr>
            <a:r>
              <a:rPr lang="en-US" sz="4500" b="1" spc="-90" kern="0" dirty="0">
                <a:solidFill>
                  <a:srgbClr val="000000"/>
                </a:solidFill>
                <a:latin typeface="Hanken Grotesk" pitchFamily="34" charset="0"/>
                <a:ea typeface="Hanken Grotesk" pitchFamily="34" charset="-122"/>
                <a:cs typeface="Hanken Grotesk" pitchFamily="34" charset="-120"/>
              </a:rPr>
              <a:t>$3</a:t>
            </a:r>
            <a:endParaRPr lang="en-US" sz="4500" dirty="0"/>
          </a:p>
        </p:txBody>
      </p:sp>
      <p:sp>
        <p:nvSpPr>
          <p:cNvPr id="19" name="Text 17"/>
          <p:cNvSpPr/>
          <p:nvPr/>
        </p:nvSpPr>
        <p:spPr>
          <a:xfrm>
            <a:off x="7630864" y="5128171"/>
            <a:ext cx="632817"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Hanken Grotesk" pitchFamily="34" charset="0"/>
                <a:ea typeface="Hanken Grotesk" pitchFamily="34" charset="-122"/>
                <a:cs typeface="Hanken Grotesk" pitchFamily="34" charset="-120"/>
              </a:rPr>
              <a:t>/ mo</a:t>
            </a:r>
            <a:endParaRPr lang="en-US" sz="2100" dirty="0"/>
          </a:p>
        </p:txBody>
      </p:sp>
      <p:sp>
        <p:nvSpPr>
          <p:cNvPr id="20" name="Text 18"/>
          <p:cNvSpPr/>
          <p:nvPr/>
        </p:nvSpPr>
        <p:spPr>
          <a:xfrm>
            <a:off x="6937325" y="5623471"/>
            <a:ext cx="454559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Room to organise everything.</a:t>
            </a:r>
            <a:endParaRPr lang="en-US" sz="1800" dirty="0"/>
          </a:p>
        </p:txBody>
      </p:sp>
      <p:sp>
        <p:nvSpPr>
          <p:cNvPr id="21" name="Shape 19"/>
          <p:cNvSpPr/>
          <p:nvPr/>
        </p:nvSpPr>
        <p:spPr>
          <a:xfrm rot="2700000">
            <a:off x="6937325" y="6532066"/>
            <a:ext cx="76200" cy="76200"/>
          </a:xfrm>
          <a:prstGeom prst="rect">
            <a:avLst/>
          </a:prstGeom>
          <a:solidFill>
            <a:srgbClr val="135BFD"/>
          </a:solidFill>
          <a:ln/>
        </p:spPr>
      </p:sp>
      <p:sp>
        <p:nvSpPr>
          <p:cNvPr id="22" name="Text 20"/>
          <p:cNvSpPr/>
          <p:nvPr/>
        </p:nvSpPr>
        <p:spPr>
          <a:xfrm>
            <a:off x="7146875" y="6410176"/>
            <a:ext cx="129316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5 mailboxes</a:t>
            </a:r>
            <a:endParaRPr lang="en-US" sz="1800" dirty="0"/>
          </a:p>
        </p:txBody>
      </p:sp>
      <p:sp>
        <p:nvSpPr>
          <p:cNvPr id="23" name="Shape 21"/>
          <p:cNvSpPr/>
          <p:nvPr/>
        </p:nvSpPr>
        <p:spPr>
          <a:xfrm rot="2700000">
            <a:off x="6937325" y="7004447"/>
            <a:ext cx="76200" cy="76200"/>
          </a:xfrm>
          <a:prstGeom prst="rect">
            <a:avLst/>
          </a:prstGeom>
          <a:solidFill>
            <a:srgbClr val="135BFD"/>
          </a:solidFill>
          <a:ln/>
        </p:spPr>
      </p:sp>
      <p:sp>
        <p:nvSpPr>
          <p:cNvPr id="24" name="Text 22"/>
          <p:cNvSpPr/>
          <p:nvPr/>
        </p:nvSpPr>
        <p:spPr>
          <a:xfrm>
            <a:off x="7146875" y="6882557"/>
            <a:ext cx="108912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50 aliases</a:t>
            </a:r>
            <a:endParaRPr lang="en-US" sz="1800" dirty="0"/>
          </a:p>
        </p:txBody>
      </p:sp>
      <p:sp>
        <p:nvSpPr>
          <p:cNvPr id="25" name="Shape 23"/>
          <p:cNvSpPr/>
          <p:nvPr/>
        </p:nvSpPr>
        <p:spPr>
          <a:xfrm rot="2700000">
            <a:off x="6937325" y="7476827"/>
            <a:ext cx="76200" cy="76200"/>
          </a:xfrm>
          <a:prstGeom prst="rect">
            <a:avLst/>
          </a:prstGeom>
          <a:solidFill>
            <a:srgbClr val="135BFD"/>
          </a:solidFill>
          <a:ln/>
        </p:spPr>
      </p:sp>
      <p:sp>
        <p:nvSpPr>
          <p:cNvPr id="26" name="Text 24"/>
          <p:cNvSpPr/>
          <p:nvPr/>
        </p:nvSpPr>
        <p:spPr>
          <a:xfrm>
            <a:off x="7146875" y="7354937"/>
            <a:ext cx="143306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 GB / month</a:t>
            </a:r>
            <a:endParaRPr lang="en-US" sz="1800" dirty="0"/>
          </a:p>
        </p:txBody>
      </p:sp>
      <p:sp>
        <p:nvSpPr>
          <p:cNvPr id="27" name="Shape 25"/>
          <p:cNvSpPr/>
          <p:nvPr/>
        </p:nvSpPr>
        <p:spPr>
          <a:xfrm rot="2700000">
            <a:off x="6937325" y="7949208"/>
            <a:ext cx="76200" cy="76200"/>
          </a:xfrm>
          <a:prstGeom prst="rect">
            <a:avLst/>
          </a:prstGeom>
          <a:solidFill>
            <a:srgbClr val="135BFD"/>
          </a:solidFill>
          <a:ln/>
        </p:spPr>
      </p:sp>
      <p:sp>
        <p:nvSpPr>
          <p:cNvPr id="28" name="Text 26"/>
          <p:cNvSpPr/>
          <p:nvPr/>
        </p:nvSpPr>
        <p:spPr>
          <a:xfrm>
            <a:off x="7146875" y="7827318"/>
            <a:ext cx="132174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48h support</a:t>
            </a:r>
            <a:endParaRPr lang="en-US" sz="1800" dirty="0"/>
          </a:p>
        </p:txBody>
      </p:sp>
      <p:sp>
        <p:nvSpPr>
          <p:cNvPr id="29" name="Text 27"/>
          <p:cNvSpPr/>
          <p:nvPr/>
        </p:nvSpPr>
        <p:spPr>
          <a:xfrm>
            <a:off x="12360176" y="4356646"/>
            <a:ext cx="4545596" cy="333375"/>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000000"/>
                </a:solidFill>
                <a:latin typeface="JetBrains Mono" pitchFamily="34" charset="0"/>
                <a:ea typeface="JetBrains Mono" pitchFamily="34" charset="-122"/>
                <a:cs typeface="JetBrains Mono" pitchFamily="34" charset="-120"/>
              </a:rPr>
              <a:t>PRO</a:t>
            </a:r>
            <a:endParaRPr lang="en-US" sz="1800" dirty="0"/>
          </a:p>
        </p:txBody>
      </p:sp>
      <p:sp>
        <p:nvSpPr>
          <p:cNvPr id="30" name="Text 28"/>
          <p:cNvSpPr/>
          <p:nvPr/>
        </p:nvSpPr>
        <p:spPr>
          <a:xfrm>
            <a:off x="12360176" y="4823371"/>
            <a:ext cx="693539" cy="781050"/>
          </a:xfrm>
          <a:prstGeom prst="rect">
            <a:avLst/>
          </a:prstGeom>
          <a:noFill/>
          <a:ln/>
        </p:spPr>
        <p:txBody>
          <a:bodyPr wrap="square" lIns="25400" tIns="25400" rIns="25400" bIns="25400" rtlCol="0" anchor="t">
            <a:normAutofit/>
          </a:bodyPr>
          <a:lstStyle/>
          <a:p>
            <a:pPr algn="l" indent="0" marL="0">
              <a:buNone/>
            </a:pPr>
            <a:r>
              <a:rPr lang="en-US" sz="4500" b="1" spc="-90" kern="0" dirty="0">
                <a:solidFill>
                  <a:srgbClr val="000000"/>
                </a:solidFill>
                <a:latin typeface="Hanken Grotesk" pitchFamily="34" charset="0"/>
                <a:ea typeface="Hanken Grotesk" pitchFamily="34" charset="-122"/>
                <a:cs typeface="Hanken Grotesk" pitchFamily="34" charset="-120"/>
              </a:rPr>
              <a:t>$5</a:t>
            </a:r>
            <a:endParaRPr lang="en-US" sz="4500" dirty="0"/>
          </a:p>
        </p:txBody>
      </p:sp>
      <p:sp>
        <p:nvSpPr>
          <p:cNvPr id="31" name="Text 29"/>
          <p:cNvSpPr/>
          <p:nvPr/>
        </p:nvSpPr>
        <p:spPr>
          <a:xfrm>
            <a:off x="13053715" y="5128171"/>
            <a:ext cx="632817" cy="38100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Hanken Grotesk" pitchFamily="34" charset="0"/>
                <a:ea typeface="Hanken Grotesk" pitchFamily="34" charset="-122"/>
                <a:cs typeface="Hanken Grotesk" pitchFamily="34" charset="-120"/>
              </a:rPr>
              <a:t>/ mo</a:t>
            </a:r>
            <a:endParaRPr lang="en-US" sz="2100" dirty="0"/>
          </a:p>
        </p:txBody>
      </p:sp>
      <p:sp>
        <p:nvSpPr>
          <p:cNvPr id="32" name="Text 30"/>
          <p:cNvSpPr/>
          <p:nvPr/>
        </p:nvSpPr>
        <p:spPr>
          <a:xfrm>
            <a:off x="12360176" y="5623471"/>
            <a:ext cx="454559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Power and headroom.</a:t>
            </a:r>
            <a:endParaRPr lang="en-US" sz="1800" dirty="0"/>
          </a:p>
        </p:txBody>
      </p:sp>
      <p:sp>
        <p:nvSpPr>
          <p:cNvPr id="33" name="Shape 31"/>
          <p:cNvSpPr/>
          <p:nvPr/>
        </p:nvSpPr>
        <p:spPr>
          <a:xfrm rot="2700000">
            <a:off x="12360176" y="6532066"/>
            <a:ext cx="76200" cy="76200"/>
          </a:xfrm>
          <a:prstGeom prst="rect">
            <a:avLst/>
          </a:prstGeom>
          <a:solidFill>
            <a:srgbClr val="135BFD"/>
          </a:solidFill>
          <a:ln/>
        </p:spPr>
      </p:sp>
      <p:sp>
        <p:nvSpPr>
          <p:cNvPr id="34" name="Text 32"/>
          <p:cNvSpPr/>
          <p:nvPr/>
        </p:nvSpPr>
        <p:spPr>
          <a:xfrm>
            <a:off x="12569726" y="6410176"/>
            <a:ext cx="2127796"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Unlimited mailboxes</a:t>
            </a:r>
            <a:endParaRPr lang="en-US" sz="1800" dirty="0"/>
          </a:p>
        </p:txBody>
      </p:sp>
      <p:sp>
        <p:nvSpPr>
          <p:cNvPr id="35" name="Shape 33"/>
          <p:cNvSpPr/>
          <p:nvPr/>
        </p:nvSpPr>
        <p:spPr>
          <a:xfrm rot="2700000">
            <a:off x="12360176" y="7004447"/>
            <a:ext cx="76200" cy="76200"/>
          </a:xfrm>
          <a:prstGeom prst="rect">
            <a:avLst/>
          </a:prstGeom>
          <a:solidFill>
            <a:srgbClr val="135BFD"/>
          </a:solidFill>
          <a:ln/>
        </p:spPr>
      </p:sp>
      <p:sp>
        <p:nvSpPr>
          <p:cNvPr id="36" name="Text 34"/>
          <p:cNvSpPr/>
          <p:nvPr/>
        </p:nvSpPr>
        <p:spPr>
          <a:xfrm>
            <a:off x="12569726" y="6882557"/>
            <a:ext cx="179576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Unlimited aliases</a:t>
            </a:r>
            <a:endParaRPr lang="en-US" sz="1800" dirty="0"/>
          </a:p>
        </p:txBody>
      </p:sp>
      <p:sp>
        <p:nvSpPr>
          <p:cNvPr id="37" name="Shape 35"/>
          <p:cNvSpPr/>
          <p:nvPr/>
        </p:nvSpPr>
        <p:spPr>
          <a:xfrm rot="2700000">
            <a:off x="12360176" y="7476827"/>
            <a:ext cx="76200" cy="76200"/>
          </a:xfrm>
          <a:prstGeom prst="rect">
            <a:avLst/>
          </a:prstGeom>
          <a:solidFill>
            <a:srgbClr val="135BFD"/>
          </a:solidFill>
          <a:ln/>
        </p:spPr>
      </p:sp>
      <p:sp>
        <p:nvSpPr>
          <p:cNvPr id="38" name="Text 36"/>
          <p:cNvSpPr/>
          <p:nvPr/>
        </p:nvSpPr>
        <p:spPr>
          <a:xfrm>
            <a:off x="12569726" y="7354937"/>
            <a:ext cx="1561058"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10 GB / month</a:t>
            </a:r>
            <a:endParaRPr lang="en-US" sz="1800" dirty="0"/>
          </a:p>
        </p:txBody>
      </p:sp>
      <p:sp>
        <p:nvSpPr>
          <p:cNvPr id="39" name="Shape 37"/>
          <p:cNvSpPr/>
          <p:nvPr/>
        </p:nvSpPr>
        <p:spPr>
          <a:xfrm rot="2700000">
            <a:off x="12360176" y="7949208"/>
            <a:ext cx="76200" cy="76200"/>
          </a:xfrm>
          <a:prstGeom prst="rect">
            <a:avLst/>
          </a:prstGeom>
          <a:solidFill>
            <a:srgbClr val="135BFD"/>
          </a:solidFill>
          <a:ln/>
        </p:spPr>
      </p:sp>
      <p:sp>
        <p:nvSpPr>
          <p:cNvPr id="40" name="Text 38"/>
          <p:cNvSpPr/>
          <p:nvPr/>
        </p:nvSpPr>
        <p:spPr>
          <a:xfrm>
            <a:off x="12569726" y="7827318"/>
            <a:ext cx="132174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24h support</a:t>
            </a:r>
            <a:endParaRPr lang="en-US" sz="1800" dirty="0"/>
          </a:p>
        </p:txBody>
      </p:sp>
      <p:sp>
        <p:nvSpPr>
          <p:cNvPr id="41" name="Text 39"/>
          <p:cNvSpPr/>
          <p:nvPr/>
        </p:nvSpPr>
        <p:spPr>
          <a:xfrm>
            <a:off x="1143000" y="8785473"/>
            <a:ext cx="8759160"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Team — $8 / seat — Pro for organisations, centrally managed.</a:t>
            </a:r>
            <a:endParaRPr lang="en-US" sz="1800" dirty="0"/>
          </a:p>
        </p:txBody>
      </p:sp>
      <p:sp>
        <p:nvSpPr>
          <p:cNvPr id="42" name="Text 40"/>
          <p:cNvSpPr/>
          <p:nvPr/>
        </p:nvSpPr>
        <p:spPr>
          <a:xfrm>
            <a:off x="1143000" y="9137898"/>
            <a:ext cx="4671603"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Billed monthly or annually · USD</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1143000" y="1047750"/>
            <a:ext cx="2124521"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12 — ECONOMICS</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The economics work in our favour.</a:t>
            </a:r>
            <a:endParaRPr lang="en-US" sz="6000" dirty="0"/>
          </a:p>
        </p:txBody>
      </p:sp>
      <p:sp>
        <p:nvSpPr>
          <p:cNvPr id="5" name="Text 3"/>
          <p:cNvSpPr/>
          <p:nvPr/>
        </p:nvSpPr>
        <p:spPr>
          <a:xfrm>
            <a:off x="1143000" y="2804071"/>
            <a:ext cx="10218816"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The whole platform runs on about $280 a month today, and a free user costs roughly $0.05 to run — so every paid plan carries a crowd of them.</a:t>
            </a:r>
            <a:endParaRPr lang="en-US" sz="2250" dirty="0"/>
          </a:p>
        </p:txBody>
      </p:sp>
      <p:sp>
        <p:nvSpPr>
          <p:cNvPr id="6" name="Text 4"/>
          <p:cNvSpPr/>
          <p:nvPr/>
        </p:nvSpPr>
        <p:spPr>
          <a:xfrm>
            <a:off x="1143000" y="3918496"/>
            <a:ext cx="4386285"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TIER</a:t>
            </a:r>
            <a:endParaRPr lang="en-US" sz="1800" dirty="0"/>
          </a:p>
        </p:txBody>
      </p:sp>
      <p:sp>
        <p:nvSpPr>
          <p:cNvPr id="7" name="Text 5"/>
          <p:cNvSpPr/>
          <p:nvPr/>
        </p:nvSpPr>
        <p:spPr>
          <a:xfrm>
            <a:off x="5852071" y="3918496"/>
            <a:ext cx="2251487"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PRICE / MO</a:t>
            </a:r>
            <a:endParaRPr lang="en-US" sz="1800" dirty="0"/>
          </a:p>
        </p:txBody>
      </p:sp>
      <p:sp>
        <p:nvSpPr>
          <p:cNvPr id="8" name="Text 6"/>
          <p:cNvSpPr/>
          <p:nvPr/>
        </p:nvSpPr>
        <p:spPr>
          <a:xfrm>
            <a:off x="8481864" y="3918496"/>
            <a:ext cx="3283455"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RUN COST / USER</a:t>
            </a:r>
            <a:endParaRPr lang="en-US" sz="1800" dirty="0"/>
          </a:p>
        </p:txBody>
      </p:sp>
      <p:sp>
        <p:nvSpPr>
          <p:cNvPr id="9" name="Text 7"/>
          <p:cNvSpPr/>
          <p:nvPr/>
        </p:nvSpPr>
        <p:spPr>
          <a:xfrm>
            <a:off x="12113568" y="3918496"/>
            <a:ext cx="2664305"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CONTRIBUTION</a:t>
            </a:r>
            <a:endParaRPr lang="en-US" sz="1800" dirty="0"/>
          </a:p>
        </p:txBody>
      </p:sp>
      <p:sp>
        <p:nvSpPr>
          <p:cNvPr id="10" name="Text 8"/>
          <p:cNvSpPr/>
          <p:nvPr/>
        </p:nvSpPr>
        <p:spPr>
          <a:xfrm>
            <a:off x="15144155" y="3918496"/>
            <a:ext cx="1848445" cy="328613"/>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000000"/>
                </a:solidFill>
                <a:latin typeface="JetBrains Mono" pitchFamily="34" charset="0"/>
                <a:ea typeface="JetBrains Mono" pitchFamily="34" charset="-122"/>
                <a:cs typeface="JetBrains Mono" pitchFamily="34" charset="-120"/>
              </a:rPr>
              <a:t>MAX CAC*</a:t>
            </a:r>
            <a:endParaRPr lang="en-US" sz="1800" dirty="0"/>
          </a:p>
        </p:txBody>
      </p:sp>
      <p:sp>
        <p:nvSpPr>
          <p:cNvPr id="11" name="Text 9"/>
          <p:cNvSpPr/>
          <p:nvPr/>
        </p:nvSpPr>
        <p:spPr>
          <a:xfrm>
            <a:off x="1143000" y="4466183"/>
            <a:ext cx="438628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Free</a:t>
            </a:r>
            <a:endParaRPr lang="en-US" sz="1800" dirty="0"/>
          </a:p>
        </p:txBody>
      </p:sp>
      <p:sp>
        <p:nvSpPr>
          <p:cNvPr id="12" name="Text 10"/>
          <p:cNvSpPr/>
          <p:nvPr/>
        </p:nvSpPr>
        <p:spPr>
          <a:xfrm>
            <a:off x="5852071" y="4466183"/>
            <a:ext cx="2251487"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a:t>
            </a:r>
            <a:endParaRPr lang="en-US" sz="1800" dirty="0"/>
          </a:p>
        </p:txBody>
      </p:sp>
      <p:sp>
        <p:nvSpPr>
          <p:cNvPr id="13" name="Text 11"/>
          <p:cNvSpPr/>
          <p:nvPr/>
        </p:nvSpPr>
        <p:spPr>
          <a:xfrm>
            <a:off x="8481864" y="4466183"/>
            <a:ext cx="328345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$0.05</a:t>
            </a:r>
            <a:endParaRPr lang="en-US" sz="1800" dirty="0"/>
          </a:p>
        </p:txBody>
      </p:sp>
      <p:sp>
        <p:nvSpPr>
          <p:cNvPr id="14" name="Text 12"/>
          <p:cNvSpPr/>
          <p:nvPr/>
        </p:nvSpPr>
        <p:spPr>
          <a:xfrm>
            <a:off x="12113568" y="4466183"/>
            <a:ext cx="266430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−$0.05</a:t>
            </a:r>
            <a:endParaRPr lang="en-US" sz="1800" dirty="0"/>
          </a:p>
        </p:txBody>
      </p:sp>
      <p:sp>
        <p:nvSpPr>
          <p:cNvPr id="15" name="Text 13"/>
          <p:cNvSpPr/>
          <p:nvPr/>
        </p:nvSpPr>
        <p:spPr>
          <a:xfrm>
            <a:off x="15144155" y="4466183"/>
            <a:ext cx="184844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a:t>
            </a:r>
            <a:endParaRPr lang="en-US" sz="1800" dirty="0"/>
          </a:p>
        </p:txBody>
      </p:sp>
      <p:sp>
        <p:nvSpPr>
          <p:cNvPr id="16" name="Text 14"/>
          <p:cNvSpPr/>
          <p:nvPr/>
        </p:nvSpPr>
        <p:spPr>
          <a:xfrm>
            <a:off x="1143000" y="5018633"/>
            <a:ext cx="438628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Plus</a:t>
            </a:r>
            <a:endParaRPr lang="en-US" sz="1800" dirty="0"/>
          </a:p>
        </p:txBody>
      </p:sp>
      <p:sp>
        <p:nvSpPr>
          <p:cNvPr id="17" name="Text 15"/>
          <p:cNvSpPr/>
          <p:nvPr/>
        </p:nvSpPr>
        <p:spPr>
          <a:xfrm>
            <a:off x="5852071" y="5018633"/>
            <a:ext cx="2251487"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$3</a:t>
            </a:r>
            <a:endParaRPr lang="en-US" sz="1800" dirty="0"/>
          </a:p>
        </p:txBody>
      </p:sp>
      <p:sp>
        <p:nvSpPr>
          <p:cNvPr id="18" name="Text 16"/>
          <p:cNvSpPr/>
          <p:nvPr/>
        </p:nvSpPr>
        <p:spPr>
          <a:xfrm>
            <a:off x="8481864" y="5018633"/>
            <a:ext cx="328345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$0.05</a:t>
            </a:r>
            <a:endParaRPr lang="en-US" sz="1800" dirty="0"/>
          </a:p>
        </p:txBody>
      </p:sp>
      <p:sp>
        <p:nvSpPr>
          <p:cNvPr id="19" name="Text 17"/>
          <p:cNvSpPr/>
          <p:nvPr/>
        </p:nvSpPr>
        <p:spPr>
          <a:xfrm>
            <a:off x="12113568" y="5018633"/>
            <a:ext cx="2664305"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+$2.95</a:t>
            </a:r>
            <a:endParaRPr lang="en-US" sz="1800" dirty="0"/>
          </a:p>
        </p:txBody>
      </p:sp>
      <p:sp>
        <p:nvSpPr>
          <p:cNvPr id="20" name="Text 18"/>
          <p:cNvSpPr/>
          <p:nvPr/>
        </p:nvSpPr>
        <p:spPr>
          <a:xfrm>
            <a:off x="15144155" y="5018633"/>
            <a:ext cx="184844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~$35</a:t>
            </a:r>
            <a:endParaRPr lang="en-US" sz="1800" dirty="0"/>
          </a:p>
        </p:txBody>
      </p:sp>
      <p:sp>
        <p:nvSpPr>
          <p:cNvPr id="21" name="Text 19"/>
          <p:cNvSpPr/>
          <p:nvPr/>
        </p:nvSpPr>
        <p:spPr>
          <a:xfrm>
            <a:off x="1143000" y="5571083"/>
            <a:ext cx="438628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Pro</a:t>
            </a:r>
            <a:endParaRPr lang="en-US" sz="1800" dirty="0"/>
          </a:p>
        </p:txBody>
      </p:sp>
      <p:sp>
        <p:nvSpPr>
          <p:cNvPr id="22" name="Text 20"/>
          <p:cNvSpPr/>
          <p:nvPr/>
        </p:nvSpPr>
        <p:spPr>
          <a:xfrm>
            <a:off x="5852071" y="5571083"/>
            <a:ext cx="2251487"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$5</a:t>
            </a:r>
            <a:endParaRPr lang="en-US" sz="1800" dirty="0"/>
          </a:p>
        </p:txBody>
      </p:sp>
      <p:sp>
        <p:nvSpPr>
          <p:cNvPr id="23" name="Text 21"/>
          <p:cNvSpPr/>
          <p:nvPr/>
        </p:nvSpPr>
        <p:spPr>
          <a:xfrm>
            <a:off x="8481864" y="5571083"/>
            <a:ext cx="328345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$0.10</a:t>
            </a:r>
            <a:endParaRPr lang="en-US" sz="1800" dirty="0"/>
          </a:p>
        </p:txBody>
      </p:sp>
      <p:sp>
        <p:nvSpPr>
          <p:cNvPr id="24" name="Text 22"/>
          <p:cNvSpPr/>
          <p:nvPr/>
        </p:nvSpPr>
        <p:spPr>
          <a:xfrm>
            <a:off x="12113568" y="5571083"/>
            <a:ext cx="2664305"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135BFD"/>
                </a:solidFill>
                <a:latin typeface="Hanken Grotesk" pitchFamily="34" charset="0"/>
                <a:ea typeface="Hanken Grotesk" pitchFamily="34" charset="-122"/>
                <a:cs typeface="Hanken Grotesk" pitchFamily="34" charset="-120"/>
              </a:rPr>
              <a:t>+$4.90</a:t>
            </a:r>
            <a:endParaRPr lang="en-US" sz="1800" dirty="0"/>
          </a:p>
        </p:txBody>
      </p:sp>
      <p:sp>
        <p:nvSpPr>
          <p:cNvPr id="25" name="Text 23"/>
          <p:cNvSpPr/>
          <p:nvPr/>
        </p:nvSpPr>
        <p:spPr>
          <a:xfrm>
            <a:off x="15144155" y="5571083"/>
            <a:ext cx="1848445"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000000"/>
                </a:solidFill>
                <a:latin typeface="Hanken Grotesk" pitchFamily="34" charset="0"/>
                <a:ea typeface="Hanken Grotesk" pitchFamily="34" charset="-122"/>
                <a:cs typeface="Hanken Grotesk" pitchFamily="34" charset="-120"/>
              </a:rPr>
              <a:t>~$59</a:t>
            </a:r>
            <a:endParaRPr lang="en-US" sz="1800" dirty="0"/>
          </a:p>
        </p:txBody>
      </p:sp>
      <p:sp>
        <p:nvSpPr>
          <p:cNvPr id="26" name="Text 24"/>
          <p:cNvSpPr/>
          <p:nvPr/>
        </p:nvSpPr>
        <p:spPr>
          <a:xfrm>
            <a:off x="1371600" y="6123533"/>
            <a:ext cx="4157685"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Team</a:t>
            </a:r>
            <a:endParaRPr lang="en-US" sz="1800" dirty="0"/>
          </a:p>
        </p:txBody>
      </p:sp>
      <p:sp>
        <p:nvSpPr>
          <p:cNvPr id="27" name="Text 25"/>
          <p:cNvSpPr/>
          <p:nvPr/>
        </p:nvSpPr>
        <p:spPr>
          <a:xfrm>
            <a:off x="5852071" y="6123533"/>
            <a:ext cx="2251487"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$8 / seat</a:t>
            </a:r>
            <a:endParaRPr lang="en-US" sz="1800" dirty="0"/>
          </a:p>
        </p:txBody>
      </p:sp>
      <p:sp>
        <p:nvSpPr>
          <p:cNvPr id="28" name="Text 26"/>
          <p:cNvSpPr/>
          <p:nvPr/>
        </p:nvSpPr>
        <p:spPr>
          <a:xfrm>
            <a:off x="8481864" y="6123533"/>
            <a:ext cx="3283455"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$0.10</a:t>
            </a:r>
            <a:endParaRPr lang="en-US" sz="1800" dirty="0"/>
          </a:p>
        </p:txBody>
      </p:sp>
      <p:sp>
        <p:nvSpPr>
          <p:cNvPr id="29" name="Text 27"/>
          <p:cNvSpPr/>
          <p:nvPr/>
        </p:nvSpPr>
        <p:spPr>
          <a:xfrm>
            <a:off x="12113568" y="6123533"/>
            <a:ext cx="2664305"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+$7.90</a:t>
            </a:r>
            <a:endParaRPr lang="en-US" sz="1800" dirty="0"/>
          </a:p>
        </p:txBody>
      </p:sp>
      <p:sp>
        <p:nvSpPr>
          <p:cNvPr id="30" name="Text 28"/>
          <p:cNvSpPr/>
          <p:nvPr/>
        </p:nvSpPr>
        <p:spPr>
          <a:xfrm>
            <a:off x="15144155" y="6123533"/>
            <a:ext cx="1848445" cy="333375"/>
          </a:xfrm>
          <a:prstGeom prst="rect">
            <a:avLst/>
          </a:prstGeom>
          <a:noFill/>
          <a:ln/>
        </p:spPr>
        <p:txBody>
          <a:bodyPr wrap="square" lIns="25400" tIns="25400" rIns="25400" bIns="25400" rtlCol="0" anchor="ctr">
            <a:normAutofit/>
          </a:bodyPr>
          <a:lstStyle/>
          <a:p>
            <a:pPr algn="l" indent="0" marL="0">
              <a:buNone/>
            </a:pPr>
            <a:r>
              <a:rPr lang="en-US" sz="1800" b="1" dirty="0">
                <a:solidFill>
                  <a:srgbClr val="000000"/>
                </a:solidFill>
                <a:latin typeface="Hanken Grotesk" pitchFamily="34" charset="0"/>
                <a:ea typeface="Hanken Grotesk" pitchFamily="34" charset="-122"/>
                <a:cs typeface="Hanken Grotesk" pitchFamily="34" charset="-120"/>
              </a:rPr>
              <a:t>~$95</a:t>
            </a:r>
            <a:endParaRPr lang="en-US" sz="1800" dirty="0"/>
          </a:p>
        </p:txBody>
      </p:sp>
      <p:sp>
        <p:nvSpPr>
          <p:cNvPr id="31" name="Text 29"/>
          <p:cNvSpPr/>
          <p:nvPr/>
        </p:nvSpPr>
        <p:spPr>
          <a:xfrm>
            <a:off x="1438275" y="6947446"/>
            <a:ext cx="7515035" cy="318046"/>
          </a:xfrm>
          <a:prstGeom prst="rect">
            <a:avLst/>
          </a:prstGeom>
          <a:noFill/>
          <a:ln/>
        </p:spPr>
        <p:txBody>
          <a:bodyPr wrap="square" lIns="25400" tIns="25400" rIns="25400" bIns="25400" rtlCol="0" anchor="t">
            <a:normAutofit/>
          </a:bodyPr>
          <a:lstStyle/>
          <a:p>
            <a:pPr algn="l" indent="0" marL="0">
              <a:lnSpc>
                <a:spcPct val="105000"/>
              </a:lnSpc>
              <a:buNone/>
            </a:pPr>
            <a:r>
              <a:rPr lang="en-US" sz="2100" b="1" spc="-21" kern="0" dirty="0">
                <a:solidFill>
                  <a:srgbClr val="000000"/>
                </a:solidFill>
                <a:latin typeface="Hanken Grotesk" pitchFamily="34" charset="0"/>
                <a:ea typeface="Hanken Grotesk" pitchFamily="34" charset="-122"/>
                <a:cs typeface="Hanken Grotesk" pitchFamily="34" charset="-120"/>
              </a:rPr>
              <a:t>Cost per user collapses with scale</a:t>
            </a:r>
            <a:endParaRPr lang="en-US" sz="2100" dirty="0"/>
          </a:p>
        </p:txBody>
      </p:sp>
      <p:sp>
        <p:nvSpPr>
          <p:cNvPr id="32" name="Text 30"/>
          <p:cNvSpPr/>
          <p:nvPr/>
        </p:nvSpPr>
        <p:spPr>
          <a:xfrm>
            <a:off x="1438275" y="7303591"/>
            <a:ext cx="7515035"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~$0.30/user at 1,000 → ~$0.05 at 10,000.</a:t>
            </a:r>
            <a:endParaRPr lang="en-US" sz="2250" dirty="0"/>
          </a:p>
        </p:txBody>
      </p:sp>
      <p:sp>
        <p:nvSpPr>
          <p:cNvPr id="33" name="Text 31"/>
          <p:cNvSpPr/>
          <p:nvPr/>
        </p:nvSpPr>
        <p:spPr>
          <a:xfrm>
            <a:off x="9553575" y="6947446"/>
            <a:ext cx="7515035" cy="318046"/>
          </a:xfrm>
          <a:prstGeom prst="rect">
            <a:avLst/>
          </a:prstGeom>
          <a:noFill/>
          <a:ln/>
        </p:spPr>
        <p:txBody>
          <a:bodyPr wrap="square" lIns="25400" tIns="25400" rIns="25400" bIns="25400" rtlCol="0" anchor="t">
            <a:normAutofit/>
          </a:bodyPr>
          <a:lstStyle/>
          <a:p>
            <a:pPr algn="l" indent="0" marL="0">
              <a:lnSpc>
                <a:spcPct val="105000"/>
              </a:lnSpc>
              <a:buNone/>
            </a:pPr>
            <a:r>
              <a:rPr lang="en-US" sz="2100" b="1" spc="-21" kern="0" dirty="0">
                <a:solidFill>
                  <a:srgbClr val="000000"/>
                </a:solidFill>
                <a:latin typeface="Hanken Grotesk" pitchFamily="34" charset="0"/>
                <a:ea typeface="Hanken Grotesk" pitchFamily="34" charset="-122"/>
                <a:cs typeface="Hanken Grotesk" pitchFamily="34" charset="-120"/>
              </a:rPr>
              <a:t>Paid users subsidise free</a:t>
            </a:r>
            <a:endParaRPr lang="en-US" sz="2100" dirty="0"/>
          </a:p>
        </p:txBody>
      </p:sp>
      <p:sp>
        <p:nvSpPr>
          <p:cNvPr id="34" name="Text 32"/>
          <p:cNvSpPr/>
          <p:nvPr/>
        </p:nvSpPr>
        <p:spPr>
          <a:xfrm>
            <a:off x="9553575" y="7303591"/>
            <a:ext cx="7515035"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One Plus subscriber covers ~59 free accounts.</a:t>
            </a:r>
            <a:endParaRPr lang="en-US" sz="2250" dirty="0"/>
          </a:p>
        </p:txBody>
      </p:sp>
      <p:sp>
        <p:nvSpPr>
          <p:cNvPr id="35" name="Text 33"/>
          <p:cNvSpPr/>
          <p:nvPr/>
        </p:nvSpPr>
        <p:spPr>
          <a:xfrm>
            <a:off x="1143000" y="8056066"/>
            <a:ext cx="12846564"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*Max CAC = the most you could spend to win a user and still break even within 12 months.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143000" y="1047750"/>
            <a:ext cx="2563416"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13 — GO TO MARKET</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2133600"/>
            <a:ext cx="16482060" cy="784771"/>
          </a:xfrm>
          <a:prstGeom prst="rect">
            <a:avLst/>
          </a:prstGeom>
          <a:noFill/>
          <a:ln/>
        </p:spPr>
        <p:txBody>
          <a:bodyPr wrap="square" lIns="25400" tIns="25400" rIns="25400" bIns="25400" rtlCol="0" anchor="t">
            <a:normAutofit/>
          </a:bodyPr>
          <a:lstStyle/>
          <a:p>
            <a:pPr algn="l" indent="0" marL="0">
              <a:lnSpc>
                <a:spcPct val="98000"/>
              </a:lnSpc>
              <a:buNone/>
            </a:pPr>
            <a:r>
              <a:rPr lang="en-US" sz="6000" b="1" spc="-150" kern="0" dirty="0">
                <a:solidFill>
                  <a:srgbClr val="000000"/>
                </a:solidFill>
                <a:latin typeface="Hanken Grotesk" pitchFamily="34" charset="0"/>
                <a:ea typeface="Hanken Grotesk" pitchFamily="34" charset="-122"/>
                <a:cs typeface="Hanken Grotesk" pitchFamily="34" charset="-120"/>
              </a:rPr>
              <a:t>Low-CAC, trust-led growth.</a:t>
            </a:r>
            <a:endParaRPr lang="en-US" sz="6000" dirty="0"/>
          </a:p>
        </p:txBody>
      </p:sp>
      <p:sp>
        <p:nvSpPr>
          <p:cNvPr id="5" name="Text 3"/>
          <p:cNvSpPr/>
          <p:nvPr/>
        </p:nvSpPr>
        <p:spPr>
          <a:xfrm>
            <a:off x="1143000" y="2804071"/>
            <a:ext cx="10218816"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At a few dollars a month, broad paid ads don't pay back — so we grow through trust and intent, and spend only where CAC stays inside a 6–12 month payback.</a:t>
            </a:r>
            <a:endParaRPr lang="en-US" sz="2250" dirty="0"/>
          </a:p>
        </p:txBody>
      </p:sp>
      <p:sp>
        <p:nvSpPr>
          <p:cNvPr id="6" name="Text 4"/>
          <p:cNvSpPr/>
          <p:nvPr/>
        </p:nvSpPr>
        <p:spPr>
          <a:xfrm>
            <a:off x="1143000" y="4480471"/>
            <a:ext cx="3777139" cy="381000"/>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35BFD"/>
                </a:solidFill>
                <a:latin typeface="JetBrains Mono" pitchFamily="34" charset="0"/>
                <a:ea typeface="JetBrains Mono" pitchFamily="34" charset="-122"/>
                <a:cs typeface="JetBrains Mono" pitchFamily="34" charset="-120"/>
              </a:rPr>
              <a:t>0 → 100</a:t>
            </a:r>
            <a:endParaRPr lang="en-US" sz="1950" dirty="0"/>
          </a:p>
        </p:txBody>
      </p:sp>
      <p:sp>
        <p:nvSpPr>
          <p:cNvPr id="7" name="Text 5"/>
          <p:cNvSpPr/>
          <p:nvPr/>
        </p:nvSpPr>
        <p:spPr>
          <a:xfrm>
            <a:off x="1143000" y="4975771"/>
            <a:ext cx="3777139"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Founder &amp; community led</a:t>
            </a:r>
            <a:endParaRPr lang="en-US" sz="2250" dirty="0"/>
          </a:p>
        </p:txBody>
      </p:sp>
      <p:sp>
        <p:nvSpPr>
          <p:cNvPr id="8" name="Text 6"/>
          <p:cNvSpPr/>
          <p:nvPr/>
        </p:nvSpPr>
        <p:spPr>
          <a:xfrm>
            <a:off x="1143000" y="5409158"/>
            <a:ext cx="3777139"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Privacy and developer communities, direct outreach, hands-on onboarding. Prove people will pay.</a:t>
            </a:r>
            <a:endParaRPr lang="en-US" sz="1800" dirty="0"/>
          </a:p>
        </p:txBody>
      </p:sp>
      <p:sp>
        <p:nvSpPr>
          <p:cNvPr id="9" name="Shape 7"/>
          <p:cNvSpPr/>
          <p:nvPr/>
        </p:nvSpPr>
        <p:spPr>
          <a:xfrm>
            <a:off x="1323975" y="9163050"/>
            <a:ext cx="85725" cy="85725"/>
          </a:xfrm>
          <a:prstGeom prst="ellipse">
            <a:avLst/>
          </a:prstGeom>
          <a:solidFill>
            <a:srgbClr val="135BFD"/>
          </a:solidFill>
          <a:ln/>
        </p:spPr>
      </p:sp>
      <p:sp>
        <p:nvSpPr>
          <p:cNvPr id="10" name="Text 8"/>
          <p:cNvSpPr/>
          <p:nvPr/>
        </p:nvSpPr>
        <p:spPr>
          <a:xfrm>
            <a:off x="1504950" y="9058275"/>
            <a:ext cx="1351806"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CAC $0–10</a:t>
            </a:r>
            <a:endParaRPr lang="en-US" sz="1800" dirty="0"/>
          </a:p>
        </p:txBody>
      </p:sp>
      <p:sp>
        <p:nvSpPr>
          <p:cNvPr id="11" name="Text 9"/>
          <p:cNvSpPr/>
          <p:nvPr/>
        </p:nvSpPr>
        <p:spPr>
          <a:xfrm>
            <a:off x="5467350" y="4480471"/>
            <a:ext cx="3443573" cy="381000"/>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35BFD"/>
                </a:solidFill>
                <a:latin typeface="JetBrains Mono" pitchFamily="34" charset="0"/>
                <a:ea typeface="JetBrains Mono" pitchFamily="34" charset="-122"/>
                <a:cs typeface="JetBrains Mono" pitchFamily="34" charset="-120"/>
              </a:rPr>
              <a:t>100 → 1k</a:t>
            </a:r>
            <a:endParaRPr lang="en-US" sz="1950" dirty="0"/>
          </a:p>
        </p:txBody>
      </p:sp>
      <p:sp>
        <p:nvSpPr>
          <p:cNvPr id="12" name="Text 10"/>
          <p:cNvSpPr/>
          <p:nvPr/>
        </p:nvSpPr>
        <p:spPr>
          <a:xfrm>
            <a:off x="5467350" y="4975771"/>
            <a:ext cx="3443573"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High-intent only</a:t>
            </a:r>
            <a:endParaRPr lang="en-US" sz="2250" dirty="0"/>
          </a:p>
        </p:txBody>
      </p:sp>
      <p:sp>
        <p:nvSpPr>
          <p:cNvPr id="13" name="Text 11"/>
          <p:cNvSpPr/>
          <p:nvPr/>
        </p:nvSpPr>
        <p:spPr>
          <a:xfrm>
            <a:off x="5467350" y="5409158"/>
            <a:ext cx="3443573"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Search, “vs SimpleLogin” comparison pages, retargeting — plus pilots with gov &amp; org champions.</a:t>
            </a:r>
            <a:endParaRPr lang="en-US" sz="1800" dirty="0"/>
          </a:p>
        </p:txBody>
      </p:sp>
      <p:sp>
        <p:nvSpPr>
          <p:cNvPr id="14" name="Shape 12"/>
          <p:cNvSpPr/>
          <p:nvPr/>
        </p:nvSpPr>
        <p:spPr>
          <a:xfrm>
            <a:off x="5648325" y="9163050"/>
            <a:ext cx="85725" cy="85725"/>
          </a:xfrm>
          <a:prstGeom prst="ellipse">
            <a:avLst/>
          </a:prstGeom>
          <a:solidFill>
            <a:srgbClr val="135BFD"/>
          </a:solidFill>
          <a:ln/>
        </p:spPr>
      </p:sp>
      <p:sp>
        <p:nvSpPr>
          <p:cNvPr id="15" name="Text 13"/>
          <p:cNvSpPr/>
          <p:nvPr/>
        </p:nvSpPr>
        <p:spPr>
          <a:xfrm>
            <a:off x="5829300" y="9058275"/>
            <a:ext cx="1493639"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CAC $10–25</a:t>
            </a:r>
            <a:endParaRPr lang="en-US" sz="1800" dirty="0"/>
          </a:p>
        </p:txBody>
      </p:sp>
      <p:sp>
        <p:nvSpPr>
          <p:cNvPr id="16" name="Text 14"/>
          <p:cNvSpPr/>
          <p:nvPr/>
        </p:nvSpPr>
        <p:spPr>
          <a:xfrm>
            <a:off x="9467850" y="4480471"/>
            <a:ext cx="3443573" cy="381000"/>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35BFD"/>
                </a:solidFill>
                <a:latin typeface="JetBrains Mono" pitchFamily="34" charset="0"/>
                <a:ea typeface="JetBrains Mono" pitchFamily="34" charset="-122"/>
                <a:cs typeface="JetBrains Mono" pitchFamily="34" charset="-120"/>
              </a:rPr>
              <a:t>1k → 10k</a:t>
            </a:r>
            <a:endParaRPr lang="en-US" sz="1950" dirty="0"/>
          </a:p>
        </p:txBody>
      </p:sp>
      <p:sp>
        <p:nvSpPr>
          <p:cNvPr id="17" name="Text 15"/>
          <p:cNvSpPr/>
          <p:nvPr/>
        </p:nvSpPr>
        <p:spPr>
          <a:xfrm>
            <a:off x="9467850" y="4975771"/>
            <a:ext cx="3443573"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Compounding channels</a:t>
            </a:r>
            <a:endParaRPr lang="en-US" sz="2250" dirty="0"/>
          </a:p>
        </p:txBody>
      </p:sp>
      <p:sp>
        <p:nvSpPr>
          <p:cNvPr id="18" name="Text 16"/>
          <p:cNvSpPr/>
          <p:nvPr/>
        </p:nvSpPr>
        <p:spPr>
          <a:xfrm>
            <a:off x="9467850" y="5409158"/>
            <a:ext cx="3443573" cy="1318022"/>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SEO, alternative pages, referrals, partnerships and creator sponsorships in privacy niches.</a:t>
            </a:r>
            <a:endParaRPr lang="en-US" sz="1800" dirty="0"/>
          </a:p>
        </p:txBody>
      </p:sp>
      <p:sp>
        <p:nvSpPr>
          <p:cNvPr id="19" name="Shape 17"/>
          <p:cNvSpPr/>
          <p:nvPr/>
        </p:nvSpPr>
        <p:spPr>
          <a:xfrm>
            <a:off x="9648825" y="9163050"/>
            <a:ext cx="85725" cy="85725"/>
          </a:xfrm>
          <a:prstGeom prst="ellipse">
            <a:avLst/>
          </a:prstGeom>
          <a:solidFill>
            <a:srgbClr val="135BFD"/>
          </a:solidFill>
          <a:ln/>
        </p:spPr>
      </p:sp>
      <p:sp>
        <p:nvSpPr>
          <p:cNvPr id="20" name="Text 18"/>
          <p:cNvSpPr/>
          <p:nvPr/>
        </p:nvSpPr>
        <p:spPr>
          <a:xfrm>
            <a:off x="9829800" y="9058275"/>
            <a:ext cx="1493639"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CAC $10–40</a:t>
            </a:r>
            <a:endParaRPr lang="en-US" sz="1800" dirty="0"/>
          </a:p>
        </p:txBody>
      </p:sp>
      <p:sp>
        <p:nvSpPr>
          <p:cNvPr id="21" name="Text 19"/>
          <p:cNvSpPr/>
          <p:nvPr/>
        </p:nvSpPr>
        <p:spPr>
          <a:xfrm>
            <a:off x="13468350" y="4480471"/>
            <a:ext cx="3786950" cy="381000"/>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35BFD"/>
                </a:solidFill>
                <a:latin typeface="JetBrains Mono" pitchFamily="34" charset="0"/>
                <a:ea typeface="JetBrains Mono" pitchFamily="34" charset="-122"/>
                <a:cs typeface="JetBrains Mono" pitchFamily="34" charset="-120"/>
              </a:rPr>
              <a:t>10k → 100k</a:t>
            </a:r>
            <a:endParaRPr lang="en-US" sz="1950" dirty="0"/>
          </a:p>
        </p:txBody>
      </p:sp>
      <p:sp>
        <p:nvSpPr>
          <p:cNvPr id="22" name="Text 20"/>
          <p:cNvSpPr/>
          <p:nvPr/>
        </p:nvSpPr>
        <p:spPr>
          <a:xfrm>
            <a:off x="13468350" y="4975771"/>
            <a:ext cx="3786950"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Scale efficiently</a:t>
            </a:r>
            <a:endParaRPr lang="en-US" sz="2250" dirty="0"/>
          </a:p>
        </p:txBody>
      </p:sp>
      <p:sp>
        <p:nvSpPr>
          <p:cNvPr id="23" name="Text 21"/>
          <p:cNvSpPr/>
          <p:nvPr/>
        </p:nvSpPr>
        <p:spPr>
          <a:xfrm>
            <a:off x="13468350" y="5409158"/>
            <a:ext cx="3786950"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Product-led growth, annual &amp; Team plans for upfront cash, and selective paid kept within payback.</a:t>
            </a:r>
            <a:endParaRPr lang="en-US" sz="1800" dirty="0"/>
          </a:p>
        </p:txBody>
      </p:sp>
      <p:sp>
        <p:nvSpPr>
          <p:cNvPr id="24" name="Shape 22"/>
          <p:cNvSpPr/>
          <p:nvPr/>
        </p:nvSpPr>
        <p:spPr>
          <a:xfrm>
            <a:off x="13649325" y="9163050"/>
            <a:ext cx="85725" cy="85725"/>
          </a:xfrm>
          <a:prstGeom prst="ellipse">
            <a:avLst/>
          </a:prstGeom>
          <a:solidFill>
            <a:srgbClr val="135BFD"/>
          </a:solidFill>
          <a:ln/>
        </p:spPr>
      </p:sp>
      <p:sp>
        <p:nvSpPr>
          <p:cNvPr id="25" name="Text 23"/>
          <p:cNvSpPr/>
          <p:nvPr/>
        </p:nvSpPr>
        <p:spPr>
          <a:xfrm>
            <a:off x="13830300" y="9058275"/>
            <a:ext cx="2060525" cy="333375"/>
          </a:xfrm>
          <a:prstGeom prst="rect">
            <a:avLst/>
          </a:prstGeom>
          <a:noFill/>
          <a:ln/>
        </p:spPr>
        <p:txBody>
          <a:bodyPr wrap="square" lIns="0" tIns="0" rIns="0" bIns="0" rtlCol="0" anchor="t">
            <a:normAutofit/>
          </a:bodyPr>
          <a:lstStyle/>
          <a:p>
            <a:pPr algn="l" indent="0" marL="0">
              <a:buNone/>
            </a:pPr>
            <a:r>
              <a:rPr lang="en-US" sz="1800" spc="36" kern="0" dirty="0">
                <a:solidFill>
                  <a:srgbClr val="135BFD"/>
                </a:solidFill>
                <a:latin typeface="JetBrains Mono" pitchFamily="34" charset="0"/>
                <a:ea typeface="JetBrains Mono" pitchFamily="34" charset="-122"/>
                <a:cs typeface="JetBrains Mono" pitchFamily="34" charset="-120"/>
              </a:rPr>
              <a:t>within payback</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143000" y="1047750"/>
            <a:ext cx="1393031"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14 — TEAM</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4004221" y="4263479"/>
            <a:ext cx="373410" cy="533400"/>
          </a:xfrm>
          <a:prstGeom prst="rect">
            <a:avLst/>
          </a:prstGeom>
          <a:noFill/>
          <a:ln/>
        </p:spPr>
        <p:txBody>
          <a:bodyPr wrap="square" lIns="25400" tIns="25400" rIns="25400" bIns="25400" rtlCol="0" anchor="t">
            <a:normAutofit/>
          </a:bodyPr>
          <a:lstStyle/>
          <a:p>
            <a:pPr algn="ctr" indent="0" marL="0">
              <a:lnSpc>
                <a:spcPct val="100000"/>
              </a:lnSpc>
              <a:buNone/>
            </a:pPr>
            <a:r>
              <a:rPr lang="en-US" sz="3900" dirty="0">
                <a:solidFill>
                  <a:srgbClr val="000000"/>
                </a:solidFill>
                <a:latin typeface="JetBrains Mono" pitchFamily="34" charset="0"/>
                <a:ea typeface="JetBrains Mono" pitchFamily="34" charset="-122"/>
                <a:cs typeface="JetBrains Mono" pitchFamily="34" charset="-120"/>
              </a:rPr>
              <a:t>!</a:t>
            </a:r>
            <a:endParaRPr lang="en-US" sz="3900" dirty="0"/>
          </a:p>
        </p:txBody>
      </p:sp>
      <p:sp>
        <p:nvSpPr>
          <p:cNvPr id="5" name="Text 3"/>
          <p:cNvSpPr/>
          <p:nvPr/>
        </p:nvSpPr>
        <p:spPr>
          <a:xfrm>
            <a:off x="2952601" y="5196929"/>
            <a:ext cx="2476649" cy="390525"/>
          </a:xfrm>
          <a:prstGeom prst="rect">
            <a:avLst/>
          </a:prstGeom>
          <a:noFill/>
          <a:ln/>
        </p:spPr>
        <p:txBody>
          <a:bodyPr wrap="square" lIns="25400" tIns="25400" rIns="25400" bIns="25400" rtlCol="0" anchor="t">
            <a:normAutofit/>
          </a:bodyPr>
          <a:lstStyle/>
          <a:p>
            <a:pPr algn="ctr" indent="0" marL="0">
              <a:buNone/>
            </a:pPr>
            <a:r>
              <a:rPr lang="en-US" sz="2100" dirty="0">
                <a:solidFill>
                  <a:srgbClr val="000000"/>
                </a:solidFill>
                <a:latin typeface="JetBrains Mono" pitchFamily="34" charset="0"/>
                <a:ea typeface="JetBrains Mono" pitchFamily="34" charset="-122"/>
                <a:cs typeface="JetBrains Mono" pitchFamily="34" charset="-120"/>
              </a:rPr>
              <a:t>image not found</a:t>
            </a:r>
            <a:endParaRPr lang="en-US" sz="2100" dirty="0"/>
          </a:p>
        </p:txBody>
      </p:sp>
      <p:sp>
        <p:nvSpPr>
          <p:cNvPr id="6" name="Text 4"/>
          <p:cNvSpPr/>
          <p:nvPr/>
        </p:nvSpPr>
        <p:spPr>
          <a:xfrm>
            <a:off x="2848769" y="5777954"/>
            <a:ext cx="2684313" cy="333375"/>
          </a:xfrm>
          <a:prstGeom prst="rect">
            <a:avLst/>
          </a:prstGeom>
          <a:noFill/>
          <a:ln/>
        </p:spPr>
        <p:txBody>
          <a:bodyPr wrap="square" lIns="25400" tIns="25400" rIns="25400" bIns="25400" rtlCol="0" anchor="t">
            <a:normAutofit/>
          </a:bodyPr>
          <a:lstStyle/>
          <a:p>
            <a:pPr algn="ctr" indent="0" marL="0">
              <a:buNone/>
            </a:pPr>
            <a:r>
              <a:rPr lang="en-US" sz="1800" dirty="0">
                <a:solidFill>
                  <a:srgbClr val="000000"/>
                </a:solidFill>
                <a:latin typeface="JetBrains Mono" pitchFamily="34" charset="0"/>
                <a:ea typeface="JetBrains Mono" pitchFamily="34" charset="-122"/>
                <a:cs typeface="JetBrains Mono" pitchFamily="34" charset="-120"/>
              </a:rPr>
              <a:t>stephan-johnson.jpg</a:t>
            </a:r>
            <a:endParaRPr lang="en-US" sz="1800" dirty="0"/>
          </a:p>
        </p:txBody>
      </p:sp>
      <p:sp>
        <p:nvSpPr>
          <p:cNvPr id="7" name="Text 5"/>
          <p:cNvSpPr/>
          <p:nvPr/>
        </p:nvSpPr>
        <p:spPr>
          <a:xfrm>
            <a:off x="2608712" y="6358979"/>
            <a:ext cx="3164427" cy="998041"/>
          </a:xfrm>
          <a:prstGeom prst="rect">
            <a:avLst/>
          </a:prstGeom>
          <a:noFill/>
          <a:ln/>
        </p:spPr>
        <p:txBody>
          <a:bodyPr wrap="square" lIns="25400" tIns="25400" rIns="25400" bIns="25400" rtlCol="0" anchor="t">
            <a:normAutofit/>
          </a:bodyPr>
          <a:lstStyle/>
          <a:p>
            <a:pPr algn="ctr" indent="0" marL="0">
              <a:lnSpc>
                <a:spcPct val="140000"/>
              </a:lnSpc>
              <a:buNone/>
            </a:pPr>
            <a:r>
              <a:rPr lang="en-US" sz="1800" dirty="0">
                <a:solidFill>
                  <a:srgbClr val="000000"/>
                </a:solidFill>
                <a:latin typeface="Hanken Grotesk" pitchFamily="34" charset="0"/>
                <a:ea typeface="Hanken Grotesk" pitchFamily="34" charset="-122"/>
                <a:cs typeface="Hanken Grotesk" pitchFamily="34" charset="-120"/>
              </a:rPr>
              <a:t>No photo, by choice. The same instinct that built Nullbox.</a:t>
            </a:r>
            <a:endParaRPr lang="en-US" sz="1800" dirty="0"/>
          </a:p>
        </p:txBody>
      </p:sp>
      <p:sp>
        <p:nvSpPr>
          <p:cNvPr id="8" name="Text 6"/>
          <p:cNvSpPr/>
          <p:nvPr/>
        </p:nvSpPr>
        <p:spPr>
          <a:xfrm>
            <a:off x="8001000" y="2945457"/>
            <a:ext cx="9418320"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FOUNDER</a:t>
            </a:r>
            <a:endParaRPr lang="en-US" sz="1800" dirty="0"/>
          </a:p>
        </p:txBody>
      </p:sp>
      <p:sp>
        <p:nvSpPr>
          <p:cNvPr id="9" name="Text 7"/>
          <p:cNvSpPr/>
          <p:nvPr/>
        </p:nvSpPr>
        <p:spPr>
          <a:xfrm>
            <a:off x="8001000" y="3412182"/>
            <a:ext cx="9418320" cy="672703"/>
          </a:xfrm>
          <a:prstGeom prst="rect">
            <a:avLst/>
          </a:prstGeom>
          <a:noFill/>
          <a:ln/>
        </p:spPr>
        <p:txBody>
          <a:bodyPr wrap="square" lIns="25400" tIns="25400" rIns="25400" bIns="25400" rtlCol="0" anchor="t">
            <a:normAutofit/>
          </a:bodyPr>
          <a:lstStyle/>
          <a:p>
            <a:pPr algn="l" indent="0" marL="0">
              <a:lnSpc>
                <a:spcPct val="98000"/>
              </a:lnSpc>
              <a:buNone/>
            </a:pPr>
            <a:r>
              <a:rPr lang="en-US" sz="5100" b="1" spc="-127" kern="0" dirty="0">
                <a:solidFill>
                  <a:srgbClr val="000000"/>
                </a:solidFill>
                <a:latin typeface="Hanken Grotesk" pitchFamily="34" charset="0"/>
                <a:ea typeface="Hanken Grotesk" pitchFamily="34" charset="-122"/>
                <a:cs typeface="Hanken Grotesk" pitchFamily="34" charset="-120"/>
              </a:rPr>
              <a:t>Stephan Johnson</a:t>
            </a:r>
            <a:endParaRPr lang="en-US" sz="5100" dirty="0"/>
          </a:p>
        </p:txBody>
      </p:sp>
      <p:sp>
        <p:nvSpPr>
          <p:cNvPr id="10" name="Text 8"/>
          <p:cNvSpPr/>
          <p:nvPr/>
        </p:nvSpPr>
        <p:spPr>
          <a:xfrm>
            <a:off x="8001000" y="4180136"/>
            <a:ext cx="5790642" cy="1596628"/>
          </a:xfrm>
          <a:prstGeom prst="rect">
            <a:avLst/>
          </a:prstGeom>
          <a:noFill/>
          <a:ln/>
        </p:spPr>
        <p:txBody>
          <a:bodyPr wrap="square" lIns="25400" tIns="25400" rIns="25400" bIns="25400" rtlCol="0" anchor="t">
            <a:normAutofit/>
          </a:bodyPr>
          <a:lstStyle/>
          <a:p>
            <a:pPr algn="l" indent="0" marL="0">
              <a:lnSpc>
                <a:spcPct val="132000"/>
              </a:lnSpc>
              <a:buNone/>
            </a:pPr>
            <a:r>
              <a:rPr lang="en-US" sz="2325" dirty="0">
                <a:solidFill>
                  <a:srgbClr val="000000"/>
                </a:solidFill>
                <a:latin typeface="Hanken Grotesk" pitchFamily="34" charset="0"/>
                <a:ea typeface="Hanken Grotesk" pitchFamily="34" charset="-122"/>
                <a:cs typeface="Hanken Grotesk" pitchFamily="34" charset="-120"/>
              </a:rPr>
              <a:t>Thirty years building software. From 2015 to 2019, he was the sole developer behind Makro.co.za — one of South Africa's largest retailers.</a:t>
            </a:r>
            <a:endParaRPr lang="en-US" sz="2325" dirty="0"/>
          </a:p>
        </p:txBody>
      </p:sp>
      <p:sp>
        <p:nvSpPr>
          <p:cNvPr id="11" name="Text 9"/>
          <p:cNvSpPr/>
          <p:nvPr/>
        </p:nvSpPr>
        <p:spPr>
          <a:xfrm>
            <a:off x="8001000" y="5967264"/>
            <a:ext cx="6823530" cy="2198191"/>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000000"/>
                </a:solidFill>
                <a:latin typeface="Hanken Grotesk" pitchFamily="34" charset="0"/>
                <a:ea typeface="Hanken Grotesk" pitchFamily="34" charset="-122"/>
                <a:cs typeface="Hanken Grotesk" pitchFamily="34" charset="-120"/>
              </a:rPr>
              <a:t>There he watched the company quietly feed customers' in-store purchases — tied to the loyalty card you need just to shop — to Facebook and Google. Nobody had knowingly agreed to it. That the physical world would leak into the digital one is why he walked away — and built Nullbox.</a:t>
            </a:r>
            <a:endParaRPr lang="en-US" sz="2025" dirty="0"/>
          </a:p>
        </p:txBody>
      </p:sp>
      <p:sp>
        <p:nvSpPr>
          <p:cNvPr id="12" name="Text 10"/>
          <p:cNvSpPr/>
          <p:nvPr/>
        </p:nvSpPr>
        <p:spPr>
          <a:xfrm>
            <a:off x="8001000" y="8355955"/>
            <a:ext cx="9418320" cy="338138"/>
          </a:xfrm>
          <a:prstGeom prst="rect">
            <a:avLst/>
          </a:prstGeom>
          <a:noFill/>
          <a:ln/>
        </p:spPr>
        <p:txBody>
          <a:bodyPr wrap="square" lIns="25400" tIns="25400" rIns="25400" bIns="25400" rtlCol="0" anchor="t">
            <a:normAutofit/>
          </a:bodyPr>
          <a:lstStyle/>
          <a:p>
            <a:pPr algn="l" indent="0" marL="0">
              <a:lnSpc>
                <a:spcPct val="105000"/>
              </a:lnSpc>
              <a:buNone/>
            </a:pPr>
            <a:r>
              <a:rPr lang="en-US" sz="2250" b="1" spc="-22" kern="0" dirty="0">
                <a:solidFill>
                  <a:srgbClr val="000000"/>
                </a:solidFill>
                <a:latin typeface="Hanken Grotesk" pitchFamily="34" charset="0"/>
                <a:ea typeface="Hanken Grotesk" pitchFamily="34" charset="-122"/>
                <a:cs typeface="Hanken Grotesk" pitchFamily="34" charset="-120"/>
              </a:rPr>
              <a:t>Privacy isn't a feature to him. </a:t>
            </a:r>
            <a:pPr algn="l" indent="0" marL="0">
              <a:lnSpc>
                <a:spcPct val="105000"/>
              </a:lnSpc>
              <a:buNone/>
            </a:pPr>
            <a:r>
              <a:rPr lang="en-US" sz="2250" b="1" spc="-22" kern="0" dirty="0">
                <a:solidFill>
                  <a:srgbClr val="135BFD"/>
                </a:solidFill>
                <a:latin typeface="Hanken Grotesk" pitchFamily="34" charset="0"/>
                <a:ea typeface="Hanken Grotesk" pitchFamily="34" charset="-122"/>
                <a:cs typeface="Hanken Grotesk" pitchFamily="34" charset="-120"/>
              </a:rPr>
              <a:t>It's a right.</a:t>
            </a:r>
            <a:endParaRPr lang="en-US" sz="2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1143000" y="1047750"/>
            <a:ext cx="1831925"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15 — THE ASK</a:t>
            </a:r>
            <a:endParaRPr lang="en-US" sz="1800" dirty="0"/>
          </a:p>
        </p:txBody>
      </p:sp>
      <p:sp>
        <p:nvSpPr>
          <p:cNvPr id="3" name="Text 1"/>
          <p:cNvSpPr/>
          <p:nvPr/>
        </p:nvSpPr>
        <p:spPr>
          <a:xfrm>
            <a:off x="16056769" y="104775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000000"/>
                </a:solidFill>
                <a:latin typeface="JetBrains Mono" pitchFamily="34" charset="0"/>
                <a:ea typeface="JetBrains Mono" pitchFamily="34" charset="-122"/>
                <a:cs typeface="JetBrains Mono" pitchFamily="34" charset="-120"/>
              </a:rPr>
              <a:t>nullbox</a:t>
            </a:r>
            <a:endParaRPr lang="en-US" sz="1800" dirty="0"/>
          </a:p>
        </p:txBody>
      </p:sp>
      <p:sp>
        <p:nvSpPr>
          <p:cNvPr id="4" name="Text 2"/>
          <p:cNvSpPr/>
          <p:nvPr/>
        </p:nvSpPr>
        <p:spPr>
          <a:xfrm>
            <a:off x="1143000" y="3752850"/>
            <a:ext cx="6629614"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PRE-SEED</a:t>
            </a:r>
            <a:endParaRPr lang="en-US" sz="1800" dirty="0"/>
          </a:p>
        </p:txBody>
      </p:sp>
      <p:sp>
        <p:nvSpPr>
          <p:cNvPr id="5" name="Text 3"/>
          <p:cNvSpPr/>
          <p:nvPr/>
        </p:nvSpPr>
        <p:spPr>
          <a:xfrm>
            <a:off x="1143000" y="4067175"/>
            <a:ext cx="6629614" cy="1266825"/>
          </a:xfrm>
          <a:prstGeom prst="rect">
            <a:avLst/>
          </a:prstGeom>
          <a:noFill/>
          <a:ln/>
        </p:spPr>
        <p:txBody>
          <a:bodyPr wrap="square" lIns="25400" tIns="25400" rIns="25400" bIns="25400" rtlCol="0" anchor="t">
            <a:normAutofit/>
          </a:bodyPr>
          <a:lstStyle/>
          <a:p>
            <a:pPr algn="l" indent="0" marL="0">
              <a:lnSpc>
                <a:spcPct val="86000"/>
              </a:lnSpc>
              <a:buNone/>
            </a:pPr>
            <a:r>
              <a:rPr lang="en-US" sz="11250" b="1" spc="-450" kern="0" dirty="0">
                <a:solidFill>
                  <a:srgbClr val="000000"/>
                </a:solidFill>
                <a:latin typeface="Hanken Grotesk" pitchFamily="34" charset="0"/>
                <a:ea typeface="Hanken Grotesk" pitchFamily="34" charset="-122"/>
                <a:cs typeface="Hanken Grotesk" pitchFamily="34" charset="-120"/>
              </a:rPr>
              <a:t>$500K</a:t>
            </a:r>
            <a:endParaRPr lang="en-US" sz="11250" dirty="0"/>
          </a:p>
        </p:txBody>
      </p:sp>
      <p:sp>
        <p:nvSpPr>
          <p:cNvPr id="6" name="Text 4"/>
          <p:cNvSpPr/>
          <p:nvPr/>
        </p:nvSpPr>
        <p:spPr>
          <a:xfrm>
            <a:off x="1143000" y="5448300"/>
            <a:ext cx="6629614"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NZD · ~18 months runway</a:t>
            </a:r>
            <a:endParaRPr lang="en-US" sz="3000" dirty="0"/>
          </a:p>
        </p:txBody>
      </p:sp>
      <p:sp>
        <p:nvSpPr>
          <p:cNvPr id="7" name="Text 5"/>
          <p:cNvSpPr/>
          <p:nvPr/>
        </p:nvSpPr>
        <p:spPr>
          <a:xfrm>
            <a:off x="1143000" y="6057900"/>
            <a:ext cx="5274198" cy="20383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Spent through a lean South Africa–based team, so it stretches — enough to pay a focused team, keep the relay running, and prove the growth engine before raising again.</a:t>
            </a:r>
            <a:endParaRPr lang="en-US" sz="2250" dirty="0"/>
          </a:p>
        </p:txBody>
      </p:sp>
      <p:sp>
        <p:nvSpPr>
          <p:cNvPr id="8" name="Text 6"/>
          <p:cNvSpPr/>
          <p:nvPr/>
        </p:nvSpPr>
        <p:spPr>
          <a:xfrm>
            <a:off x="8436769" y="3295650"/>
            <a:ext cx="896947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use of funds</a:t>
            </a:r>
            <a:endParaRPr lang="en-US" sz="1800" dirty="0"/>
          </a:p>
        </p:txBody>
      </p:sp>
      <p:sp>
        <p:nvSpPr>
          <p:cNvPr id="9" name="Text 7"/>
          <p:cNvSpPr/>
          <p:nvPr/>
        </p:nvSpPr>
        <p:spPr>
          <a:xfrm>
            <a:off x="8436769" y="3838575"/>
            <a:ext cx="4506507"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Team — developer + support lead</a:t>
            </a:r>
            <a:endParaRPr lang="en-US" sz="2250" dirty="0"/>
          </a:p>
        </p:txBody>
      </p:sp>
      <p:sp>
        <p:nvSpPr>
          <p:cNvPr id="10" name="Text 8"/>
          <p:cNvSpPr/>
          <p:nvPr/>
        </p:nvSpPr>
        <p:spPr>
          <a:xfrm>
            <a:off x="16733490" y="3838575"/>
            <a:ext cx="487710" cy="4381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42%</a:t>
            </a:r>
            <a:endParaRPr lang="en-US" sz="1800" dirty="0"/>
          </a:p>
        </p:txBody>
      </p:sp>
      <p:sp>
        <p:nvSpPr>
          <p:cNvPr id="11" name="Shape 9"/>
          <p:cNvSpPr/>
          <p:nvPr/>
        </p:nvSpPr>
        <p:spPr>
          <a:xfrm>
            <a:off x="8436769" y="4324350"/>
            <a:ext cx="3657451" cy="209550"/>
          </a:xfrm>
          <a:prstGeom prst="roundRect">
            <a:avLst>
              <a:gd name="adj" fmla="val 50000"/>
            </a:avLst>
          </a:prstGeom>
          <a:solidFill>
            <a:srgbClr val="135BFD"/>
          </a:solidFill>
          <a:ln/>
        </p:spPr>
      </p:sp>
      <p:sp>
        <p:nvSpPr>
          <p:cNvPr id="12" name="Text 10"/>
          <p:cNvSpPr/>
          <p:nvPr/>
        </p:nvSpPr>
        <p:spPr>
          <a:xfrm>
            <a:off x="8436769" y="4781550"/>
            <a:ext cx="4259245"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Founder salary — full-time build</a:t>
            </a:r>
            <a:endParaRPr lang="en-US" sz="2250" dirty="0"/>
          </a:p>
        </p:txBody>
      </p:sp>
      <p:sp>
        <p:nvSpPr>
          <p:cNvPr id="13" name="Text 11"/>
          <p:cNvSpPr/>
          <p:nvPr/>
        </p:nvSpPr>
        <p:spPr>
          <a:xfrm>
            <a:off x="16733490" y="4781550"/>
            <a:ext cx="487710" cy="4381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20%</a:t>
            </a:r>
            <a:endParaRPr lang="en-US" sz="1800" dirty="0"/>
          </a:p>
        </p:txBody>
      </p:sp>
      <p:sp>
        <p:nvSpPr>
          <p:cNvPr id="14" name="Shape 12"/>
          <p:cNvSpPr/>
          <p:nvPr/>
        </p:nvSpPr>
        <p:spPr>
          <a:xfrm>
            <a:off x="8436769" y="5267325"/>
            <a:ext cx="1741587" cy="209550"/>
          </a:xfrm>
          <a:prstGeom prst="roundRect">
            <a:avLst>
              <a:gd name="adj" fmla="val 50000"/>
            </a:avLst>
          </a:prstGeom>
          <a:solidFill>
            <a:srgbClr val="135BFD"/>
          </a:solidFill>
          <a:ln/>
        </p:spPr>
      </p:sp>
      <p:sp>
        <p:nvSpPr>
          <p:cNvPr id="15" name="Text 13"/>
          <p:cNvSpPr/>
          <p:nvPr/>
        </p:nvSpPr>
        <p:spPr>
          <a:xfrm>
            <a:off x="8436769" y="5724525"/>
            <a:ext cx="2582912"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Marketing &amp; growth</a:t>
            </a:r>
            <a:endParaRPr lang="en-US" sz="2250" dirty="0"/>
          </a:p>
        </p:txBody>
      </p:sp>
      <p:sp>
        <p:nvSpPr>
          <p:cNvPr id="16" name="Text 14"/>
          <p:cNvSpPr/>
          <p:nvPr/>
        </p:nvSpPr>
        <p:spPr>
          <a:xfrm>
            <a:off x="16733490" y="5724525"/>
            <a:ext cx="487710" cy="4381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26%</a:t>
            </a:r>
            <a:endParaRPr lang="en-US" sz="1800" dirty="0"/>
          </a:p>
        </p:txBody>
      </p:sp>
      <p:sp>
        <p:nvSpPr>
          <p:cNvPr id="17" name="Shape 15"/>
          <p:cNvSpPr/>
          <p:nvPr/>
        </p:nvSpPr>
        <p:spPr>
          <a:xfrm>
            <a:off x="8436769" y="6210300"/>
            <a:ext cx="2264122" cy="209550"/>
          </a:xfrm>
          <a:prstGeom prst="roundRect">
            <a:avLst>
              <a:gd name="adj" fmla="val 50000"/>
            </a:avLst>
          </a:prstGeom>
          <a:solidFill>
            <a:srgbClr val="135BFD"/>
          </a:solidFill>
          <a:ln/>
        </p:spPr>
      </p:sp>
      <p:sp>
        <p:nvSpPr>
          <p:cNvPr id="18" name="Text 16"/>
          <p:cNvSpPr/>
          <p:nvPr/>
        </p:nvSpPr>
        <p:spPr>
          <a:xfrm>
            <a:off x="8436769" y="6667500"/>
            <a:ext cx="3118439"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Infrastructure &amp; hosting</a:t>
            </a:r>
            <a:endParaRPr lang="en-US" sz="2250" dirty="0"/>
          </a:p>
        </p:txBody>
      </p:sp>
      <p:sp>
        <p:nvSpPr>
          <p:cNvPr id="19" name="Text 17"/>
          <p:cNvSpPr/>
          <p:nvPr/>
        </p:nvSpPr>
        <p:spPr>
          <a:xfrm>
            <a:off x="16870561" y="6667500"/>
            <a:ext cx="350639" cy="4381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6%</a:t>
            </a:r>
            <a:endParaRPr lang="en-US" sz="1800" dirty="0"/>
          </a:p>
        </p:txBody>
      </p:sp>
      <p:sp>
        <p:nvSpPr>
          <p:cNvPr id="20" name="Shape 18"/>
          <p:cNvSpPr/>
          <p:nvPr/>
        </p:nvSpPr>
        <p:spPr>
          <a:xfrm>
            <a:off x="8436769" y="7153275"/>
            <a:ext cx="522387" cy="209550"/>
          </a:xfrm>
          <a:prstGeom prst="roundRect">
            <a:avLst>
              <a:gd name="adj" fmla="val 50000"/>
            </a:avLst>
          </a:prstGeom>
          <a:solidFill>
            <a:srgbClr val="135BFD"/>
          </a:solidFill>
          <a:ln/>
        </p:spPr>
      </p:sp>
      <p:sp>
        <p:nvSpPr>
          <p:cNvPr id="21" name="Text 19"/>
          <p:cNvSpPr/>
          <p:nvPr/>
        </p:nvSpPr>
        <p:spPr>
          <a:xfrm>
            <a:off x="8436769" y="7610475"/>
            <a:ext cx="1670149"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000000"/>
                </a:solidFill>
                <a:latin typeface="Hanken Grotesk" pitchFamily="34" charset="0"/>
                <a:ea typeface="Hanken Grotesk" pitchFamily="34" charset="-122"/>
                <a:cs typeface="Hanken Grotesk" pitchFamily="34" charset="-120"/>
              </a:rPr>
              <a:t>Contingency</a:t>
            </a:r>
            <a:endParaRPr lang="en-US" sz="2250" dirty="0"/>
          </a:p>
        </p:txBody>
      </p:sp>
      <p:sp>
        <p:nvSpPr>
          <p:cNvPr id="22" name="Text 20"/>
          <p:cNvSpPr/>
          <p:nvPr/>
        </p:nvSpPr>
        <p:spPr>
          <a:xfrm>
            <a:off x="16870561" y="7610475"/>
            <a:ext cx="350639" cy="438150"/>
          </a:xfrm>
          <a:prstGeom prst="rect">
            <a:avLst/>
          </a:prstGeom>
          <a:noFill/>
          <a:ln/>
        </p:spPr>
        <p:txBody>
          <a:bodyPr wrap="square" lIns="25400" tIns="25400" rIns="25400" bIns="25400" rtlCol="0" anchor="t">
            <a:normAutofit/>
          </a:bodyPr>
          <a:lstStyle/>
          <a:p>
            <a:pPr algn="l" indent="0" marL="0">
              <a:buNone/>
            </a:pPr>
            <a:r>
              <a:rPr lang="en-US" sz="1800" dirty="0">
                <a:solidFill>
                  <a:srgbClr val="000000"/>
                </a:solidFill>
                <a:latin typeface="JetBrains Mono" pitchFamily="34" charset="0"/>
                <a:ea typeface="JetBrains Mono" pitchFamily="34" charset="-122"/>
                <a:cs typeface="JetBrains Mono" pitchFamily="34" charset="-120"/>
              </a:rPr>
              <a:t>6%</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3000" y="1047750"/>
            <a:ext cx="1386334" cy="381000"/>
          </a:xfrm>
          <a:prstGeom prst="rect">
            <a:avLst/>
          </a:prstGeom>
        </p:spPr>
      </p:pic>
      <p:sp>
        <p:nvSpPr>
          <p:cNvPr id="3" name="Text 0"/>
          <p:cNvSpPr/>
          <p:nvPr/>
        </p:nvSpPr>
        <p:spPr>
          <a:xfrm>
            <a:off x="14218890" y="1090613"/>
            <a:ext cx="3013893" cy="333375"/>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35BFD"/>
                </a:solidFill>
                <a:latin typeface="JetBrains Mono" pitchFamily="34" charset="0"/>
                <a:ea typeface="JetBrains Mono" pitchFamily="34" charset="-122"/>
                <a:cs typeface="JetBrains Mono" pitchFamily="34" charset="-120"/>
              </a:rPr>
              <a:t>16 — WHERE THIS GOES</a:t>
            </a:r>
            <a:endParaRPr lang="en-US" sz="1800" dirty="0"/>
          </a:p>
        </p:txBody>
      </p:sp>
      <p:sp>
        <p:nvSpPr>
          <p:cNvPr id="4" name="Text 1"/>
          <p:cNvSpPr/>
          <p:nvPr/>
        </p:nvSpPr>
        <p:spPr>
          <a:xfrm>
            <a:off x="1143000" y="3241030"/>
            <a:ext cx="11603358" cy="1714500"/>
          </a:xfrm>
          <a:prstGeom prst="rect">
            <a:avLst/>
          </a:prstGeom>
          <a:noFill/>
          <a:ln/>
        </p:spPr>
        <p:txBody>
          <a:bodyPr wrap="square" lIns="25400" tIns="25400" rIns="25400" bIns="25400" rtlCol="0" anchor="t">
            <a:normAutofit/>
          </a:bodyPr>
          <a:lstStyle/>
          <a:p>
            <a:pPr algn="l" indent="0" marL="0">
              <a:lnSpc>
                <a:spcPct val="100000"/>
              </a:lnSpc>
              <a:buNone/>
            </a:pPr>
            <a:r>
              <a:rPr lang="en-US" sz="6600" b="1" spc="-198" kern="0" dirty="0">
                <a:solidFill>
                  <a:srgbClr val="000000"/>
                </a:solidFill>
                <a:latin typeface="Hanken Grotesk" pitchFamily="34" charset="0"/>
                <a:ea typeface="Hanken Grotesk" pitchFamily="34" charset="-122"/>
                <a:cs typeface="Hanken Grotesk" pitchFamily="34" charset="-120"/>
              </a:rPr>
              <a:t>An inbox you actually control — and never have to hand out.</a:t>
            </a:r>
            <a:endParaRPr lang="en-US" sz="6600" dirty="0"/>
          </a:p>
        </p:txBody>
      </p:sp>
      <p:sp>
        <p:nvSpPr>
          <p:cNvPr id="5" name="Text 2"/>
          <p:cNvSpPr/>
          <p:nvPr/>
        </p:nvSpPr>
        <p:spPr>
          <a:xfrm>
            <a:off x="1143000" y="5260330"/>
            <a:ext cx="8350788" cy="1471315"/>
          </a:xfrm>
          <a:prstGeom prst="rect">
            <a:avLst/>
          </a:prstGeom>
          <a:noFill/>
          <a:ln/>
        </p:spPr>
        <p:txBody>
          <a:bodyPr wrap="square" lIns="25400" tIns="25400" rIns="25400" bIns="25400" rtlCol="0" anchor="t">
            <a:normAutofit/>
          </a:bodyPr>
          <a:lstStyle/>
          <a:p>
            <a:pPr algn="l" indent="0" marL="0">
              <a:lnSpc>
                <a:spcPct val="132000"/>
              </a:lnSpc>
              <a:buNone/>
            </a:pPr>
            <a:r>
              <a:rPr lang="en-US" sz="2850" dirty="0">
                <a:solidFill>
                  <a:srgbClr val="000000"/>
                </a:solidFill>
                <a:latin typeface="Hanken Grotesk" pitchFamily="34" charset="0"/>
                <a:ea typeface="Hanken Grotesk" pitchFamily="34" charset="-122"/>
                <a:cs typeface="Hanken Grotesk" pitchFamily="34" charset="-120"/>
              </a:rPr>
              <a:t>Spam stops being your problem. Trust becomes a decision you make once. And your real address stays yours.</a:t>
            </a:r>
            <a:endParaRPr lang="en-US" sz="2850" dirty="0"/>
          </a:p>
        </p:txBody>
      </p:sp>
      <p:sp>
        <p:nvSpPr>
          <p:cNvPr id="6" name="Text 3"/>
          <p:cNvSpPr/>
          <p:nvPr/>
        </p:nvSpPr>
        <p:spPr>
          <a:xfrm>
            <a:off x="1143000" y="9048750"/>
            <a:ext cx="4357966"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spc="-30" kern="0" dirty="0">
                <a:solidFill>
                  <a:srgbClr val="000000"/>
                </a:solidFill>
                <a:latin typeface="Hanken Grotesk" pitchFamily="34" charset="0"/>
                <a:ea typeface="Hanken Grotesk" pitchFamily="34" charset="-122"/>
                <a:cs typeface="Hanken Grotesk" pitchFamily="34" charset="-120"/>
              </a:rPr>
              <a:t>Live now at </a:t>
            </a:r>
            <a:pPr algn="l" indent="0" marL="0">
              <a:lnSpc>
                <a:spcPct val="105000"/>
              </a:lnSpc>
              <a:buNone/>
            </a:pPr>
            <a:r>
              <a:rPr lang="en-US" sz="3000" b="1" spc="-30" kern="0" dirty="0">
                <a:solidFill>
                  <a:srgbClr val="135BFD"/>
                </a:solidFill>
                <a:latin typeface="Hanken Grotesk" pitchFamily="34" charset="0"/>
                <a:ea typeface="Hanken Grotesk" pitchFamily="34" charset="-122"/>
                <a:cs typeface="Hanken Grotesk" pitchFamily="34" charset="-120"/>
              </a:rPr>
              <a:t>nullbox.email</a:t>
            </a:r>
            <a:endParaRPr lang="en-US" sz="3000" dirty="0"/>
          </a:p>
        </p:txBody>
      </p:sp>
      <p:sp>
        <p:nvSpPr>
          <p:cNvPr id="7" name="Text 4"/>
          <p:cNvSpPr/>
          <p:nvPr/>
        </p:nvSpPr>
        <p:spPr>
          <a:xfrm>
            <a:off x="9774882" y="9101138"/>
            <a:ext cx="7591221" cy="333375"/>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000000"/>
                </a:solidFill>
                <a:latin typeface="JetBrains Mono" pitchFamily="34" charset="0"/>
                <a:ea typeface="JetBrains Mono" pitchFamily="34" charset="-122"/>
                <a:cs typeface="JetBrains Mono" pitchFamily="34" charset="-120"/>
              </a:rPr>
              <a:t>info@xwz9fa.nullbox.email · github.com/nullbox-email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2026-06-05T02:46:42Z</dcterms:created>
  <dcterms:modified xsi:type="dcterms:W3CDTF">2026-06-05T02:46:42Z</dcterms:modified>
</cp:coreProperties>
</file>